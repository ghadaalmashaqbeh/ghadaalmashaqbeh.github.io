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sldIdLst>
    <p:sldId id="1009" r:id="rId2"/>
    <p:sldId id="591" r:id="rId3"/>
    <p:sldId id="1014" r:id="rId4"/>
    <p:sldId id="1018" r:id="rId5"/>
    <p:sldId id="1019" r:id="rId6"/>
    <p:sldId id="385" r:id="rId7"/>
    <p:sldId id="1020" r:id="rId8"/>
    <p:sldId id="1021" r:id="rId9"/>
    <p:sldId id="1022" r:id="rId10"/>
    <p:sldId id="417" r:id="rId11"/>
    <p:sldId id="393" r:id="rId12"/>
    <p:sldId id="1015" r:id="rId13"/>
    <p:sldId id="472" r:id="rId14"/>
    <p:sldId id="512" r:id="rId15"/>
    <p:sldId id="462" r:id="rId16"/>
    <p:sldId id="535" r:id="rId17"/>
    <p:sldId id="1023" r:id="rId18"/>
    <p:sldId id="401" r:id="rId19"/>
    <p:sldId id="1024" r:id="rId20"/>
    <p:sldId id="1016" r:id="rId21"/>
    <p:sldId id="513" r:id="rId22"/>
    <p:sldId id="1025" r:id="rId23"/>
    <p:sldId id="495" r:id="rId24"/>
    <p:sldId id="514" r:id="rId25"/>
    <p:sldId id="1026" r:id="rId26"/>
    <p:sldId id="601" r:id="rId27"/>
    <p:sldId id="592" r:id="rId28"/>
  </p:sldIdLst>
  <p:sldSz cx="9144000" cy="6858000" type="screen4x3"/>
  <p:notesSz cx="6778625" cy="9478963"/>
  <p:defaultTextStyle>
    <a:defPPr>
      <a:defRPr lang="en-GB"/>
    </a:defPPr>
    <a:lvl1pPr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defTabSz="457200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bg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43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FF"/>
    <a:srgbClr val="FFD1D5"/>
    <a:srgbClr val="FFB4A5"/>
    <a:srgbClr val="00A24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6D627-E8A7-4272-9E6D-34852A04B03A}" v="3450" dt="2020-10-27T21:20:06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4619"/>
  </p:normalViewPr>
  <p:slideViewPr>
    <p:cSldViewPr snapToGrid="0">
      <p:cViewPr varScale="1">
        <p:scale>
          <a:sx n="90" d="100"/>
          <a:sy n="90" d="100"/>
        </p:scale>
        <p:origin x="192" y="960"/>
      </p:cViewPr>
      <p:guideLst>
        <p:guide orient="horz" pos="34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AutoShape 1"/>
          <p:cNvSpPr>
            <a:spLocks noChangeArrowheads="1"/>
          </p:cNvSpPr>
          <p:nvPr/>
        </p:nvSpPr>
        <p:spPr bwMode="auto">
          <a:xfrm>
            <a:off x="0" y="0"/>
            <a:ext cx="6778625" cy="947896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3687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>
            <a:lvl1pP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0163" y="0"/>
            <a:ext cx="2935287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en-US"/>
              <a:t>11/13/11</a:t>
            </a:r>
          </a:p>
        </p:txBody>
      </p:sp>
      <p:sp>
        <p:nvSpPr>
          <p:cNvPr id="7373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20763" y="711200"/>
            <a:ext cx="4735512" cy="355123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7863" y="4500563"/>
            <a:ext cx="5421312" cy="426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004300"/>
            <a:ext cx="293687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b" anchorCtr="0" compatLnSpc="1">
            <a:prstTxWarp prst="textNoShape">
              <a:avLst/>
            </a:prstTxWarp>
          </a:bodyPr>
          <a:lstStyle>
            <a:lvl1pP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0163" y="9004300"/>
            <a:ext cx="2935287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40" tIns="47520" rIns="95040" bIns="47520" numCol="1" anchor="b" anchorCtr="0" compatLnSpc="1">
            <a:prstTxWarp prst="textNoShape">
              <a:avLst/>
            </a:prstTxWarp>
          </a:bodyPr>
          <a:lstStyle>
            <a:lvl1pPr algn="r"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fld id="{077B0F5D-97A0-433E-874F-EB5F4B0DB2F3}" type="slidenum">
              <a:rPr lang="he-IL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201165423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7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53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962468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624992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027568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213966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721173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745018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67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16739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1674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5C9EC86-C522-48B2-A628-85F07216AF62}" type="slidenum">
              <a:rPr lang="he-IL" altLang="en-US"/>
              <a:pPr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11674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0763" y="711200"/>
            <a:ext cx="4737100" cy="3552825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67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77863" y="4500563"/>
            <a:ext cx="542290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KDC </a:t>
            </a:r>
            <a:r>
              <a:rPr lang="en-US" altLang="en-US">
                <a:latin typeface="Symbol" panose="05050102010706020507" pitchFamily="18" charset="2"/>
              </a:rPr>
              <a:t>= </a:t>
            </a:r>
            <a:r>
              <a:rPr lang="en-US" altLang="en-US"/>
              <a:t>TGS (Ticket Granting Server) [Kerberos]</a:t>
            </a:r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032250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16739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1674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5C9EC86-C522-48B2-A628-85F07216AF62}" type="slidenum">
              <a:rPr lang="he-IL" altLang="en-US"/>
              <a:pPr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11674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0763" y="711200"/>
            <a:ext cx="4737100" cy="3552825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67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77863" y="4500563"/>
            <a:ext cx="542290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KDC </a:t>
            </a:r>
            <a:r>
              <a:rPr lang="en-US" altLang="en-US">
                <a:latin typeface="Symbol" panose="05050102010706020507" pitchFamily="18" charset="2"/>
              </a:rPr>
              <a:t>= </a:t>
            </a:r>
            <a:r>
              <a:rPr lang="en-US" altLang="en-US"/>
              <a:t>TGS (Ticket Granting Server) [Kerberos]</a:t>
            </a:r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162042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685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`Perfect’ is not really the right term… but that’s the</a:t>
            </a:r>
            <a:r>
              <a:rPr lang="en-US" altLang="en-US" baseline="0"/>
              <a:t> commonly used term. </a:t>
            </a:r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13905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62C28-E89A-CC09-F6AA-6DE0A8A5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>
            <a:extLst>
              <a:ext uri="{FF2B5EF4-FFF2-40B4-BE49-F238E27FC236}">
                <a16:creationId xmlns:a16="http://schemas.microsoft.com/office/drawing/2014/main" id="{4385E416-F442-DD5D-7B98-A4862B02E545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>
            <a:extLst>
              <a:ext uri="{FF2B5EF4-FFF2-40B4-BE49-F238E27FC236}">
                <a16:creationId xmlns:a16="http://schemas.microsoft.com/office/drawing/2014/main" id="{DB2570AF-71B5-4221-20AB-6A736C0BC7DA}"/>
              </a:ext>
            </a:extLst>
          </p:cNvPr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>
            <a:extLst>
              <a:ext uri="{FF2B5EF4-FFF2-40B4-BE49-F238E27FC236}">
                <a16:creationId xmlns:a16="http://schemas.microsoft.com/office/drawing/2014/main" id="{43B0D369-3803-0C08-11FE-4AA29D78564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108549" name="Text Box 1">
            <a:extLst>
              <a:ext uri="{FF2B5EF4-FFF2-40B4-BE49-F238E27FC236}">
                <a16:creationId xmlns:a16="http://schemas.microsoft.com/office/drawing/2014/main" id="{EEA638CC-CC38-CBB2-0C01-D75A00FD9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>
            <a:extLst>
              <a:ext uri="{FF2B5EF4-FFF2-40B4-BE49-F238E27FC236}">
                <a16:creationId xmlns:a16="http://schemas.microsoft.com/office/drawing/2014/main" id="{8ACF0F5B-A71A-D7C2-EB98-54C94DC75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>
            <a:extLst>
              <a:ext uri="{FF2B5EF4-FFF2-40B4-BE49-F238E27FC236}">
                <a16:creationId xmlns:a16="http://schemas.microsoft.com/office/drawing/2014/main" id="{7F164DA6-86E0-E79E-E658-A70F0C42C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>
            <a:extLst>
              <a:ext uri="{FF2B5EF4-FFF2-40B4-BE49-F238E27FC236}">
                <a16:creationId xmlns:a16="http://schemas.microsoft.com/office/drawing/2014/main" id="{51FE404C-7244-38F6-B81D-0BAC52362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>
            <a:extLst>
              <a:ext uri="{FF2B5EF4-FFF2-40B4-BE49-F238E27FC236}">
                <a16:creationId xmlns:a16="http://schemas.microsoft.com/office/drawing/2014/main" id="{59174FD8-9544-F771-5FD3-F19DC78C6A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>
            <a:extLst>
              <a:ext uri="{FF2B5EF4-FFF2-40B4-BE49-F238E27FC236}">
                <a16:creationId xmlns:a16="http://schemas.microsoft.com/office/drawing/2014/main" id="{93859A71-FB49-6044-DF55-05ADCE3870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`Perfect’ is not really the right term… but that’s the</a:t>
            </a:r>
            <a:r>
              <a:rPr lang="en-US" altLang="en-US" baseline="0"/>
              <a:t> commonly used term. </a:t>
            </a:r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831411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`Perfect’ is not really the right term… but that’s the</a:t>
            </a:r>
            <a:r>
              <a:rPr lang="en-US" altLang="en-US" baseline="0"/>
              <a:t> commonly used term. </a:t>
            </a:r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700299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/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108549" name="Text Box 1"/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/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/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/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`Perfect’ is not really the right term… but that’s the</a:t>
            </a:r>
            <a:r>
              <a:rPr lang="en-US" altLang="en-US" baseline="0"/>
              <a:t> commonly used term. </a:t>
            </a:r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295950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B57C0-88CA-A11C-35D0-6DFDADB6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>
            <a:extLst>
              <a:ext uri="{FF2B5EF4-FFF2-40B4-BE49-F238E27FC236}">
                <a16:creationId xmlns:a16="http://schemas.microsoft.com/office/drawing/2014/main" id="{ED658481-994E-6DC8-DAE1-6FC58AAF1DF1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/>
              <a:t>11/13/11</a:t>
            </a:r>
          </a:p>
        </p:txBody>
      </p:sp>
      <p:sp>
        <p:nvSpPr>
          <p:cNvPr id="108547" name="Rectangle 6">
            <a:extLst>
              <a:ext uri="{FF2B5EF4-FFF2-40B4-BE49-F238E27FC236}">
                <a16:creationId xmlns:a16="http://schemas.microsoft.com/office/drawing/2014/main" id="{27A722F5-D8E9-D6B1-9F6B-52AFE054F1A7}"/>
              </a:ext>
            </a:extLst>
          </p:cNvPr>
          <p:cNvSpPr>
            <a:spLocks noGrp="1" noChangeArrowheads="1"/>
          </p:cNvSpPr>
          <p:nvPr>
            <p:ph type="ftr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/>
              <a:t>(c) Amir Herzberg, http://AmirHerzberg.com, Bar Ilan University</a:t>
            </a:r>
            <a:endParaRPr lang="en-US" altLang="en-US"/>
          </a:p>
        </p:txBody>
      </p:sp>
      <p:sp>
        <p:nvSpPr>
          <p:cNvPr id="108548" name="Rectangle 7">
            <a:extLst>
              <a:ext uri="{FF2B5EF4-FFF2-40B4-BE49-F238E27FC236}">
                <a16:creationId xmlns:a16="http://schemas.microsoft.com/office/drawing/2014/main" id="{C56560B4-164E-B256-C98D-A4D2242C40F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BFAB7BD-6F9D-4D5C-B01A-1437CF71633E}" type="slidenum">
              <a:rPr lang="he-IL" altLang="en-US"/>
              <a:pPr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108549" name="Text Box 1">
            <a:extLst>
              <a:ext uri="{FF2B5EF4-FFF2-40B4-BE49-F238E27FC236}">
                <a16:creationId xmlns:a16="http://schemas.microsoft.com/office/drawing/2014/main" id="{EBD2AA7A-BD43-491C-0438-49FE5BED3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163" y="900430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DB32B19-45E2-4190-BAB0-82594B3BCA30}" type="slidenum">
              <a:rPr lang="he-IL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0" name="Text Box 2">
            <a:extLst>
              <a:ext uri="{FF2B5EF4-FFF2-40B4-BE49-F238E27FC236}">
                <a16:creationId xmlns:a16="http://schemas.microsoft.com/office/drawing/2014/main" id="{D5B56AED-3E2D-A766-0712-C551F784B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0430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 anchor="b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e-IL" altLang="en-US">
                <a:latin typeface="Arial" panose="020B0604020202020204" pitchFamily="34" charset="0"/>
              </a:rPr>
              <a:t>(c) Amir Herzberg, http://AmirHerzberg.com, Bar Ilan University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1" name="Text Box 3">
            <a:extLst>
              <a:ext uri="{FF2B5EF4-FFF2-40B4-BE49-F238E27FC236}">
                <a16:creationId xmlns:a16="http://schemas.microsoft.com/office/drawing/2014/main" id="{07032389-BF3C-B4B2-838C-CA26D2247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384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52" name="Text Box 4">
            <a:extLst>
              <a:ext uri="{FF2B5EF4-FFF2-40B4-BE49-F238E27FC236}">
                <a16:creationId xmlns:a16="http://schemas.microsoft.com/office/drawing/2014/main" id="{60DB8FC1-13D2-1882-196E-C8724E131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0163" y="0"/>
            <a:ext cx="2936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040" tIns="47520" rIns="95040" bIns="47520"/>
          <a:lstStyle>
            <a:lvl1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57200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11/13/11</a:t>
            </a:r>
          </a:p>
        </p:txBody>
      </p:sp>
      <p:sp>
        <p:nvSpPr>
          <p:cNvPr id="108553" name="Rectangle 5">
            <a:extLst>
              <a:ext uri="{FF2B5EF4-FFF2-40B4-BE49-F238E27FC236}">
                <a16:creationId xmlns:a16="http://schemas.microsoft.com/office/drawing/2014/main" id="{AD407E16-CD65-261A-722F-36FC4F8A11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2350" y="711200"/>
            <a:ext cx="4738688" cy="3554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8554" name="Rectangle 6">
            <a:extLst>
              <a:ext uri="{FF2B5EF4-FFF2-40B4-BE49-F238E27FC236}">
                <a16:creationId xmlns:a16="http://schemas.microsoft.com/office/drawing/2014/main" id="{4BDF4DC4-E55A-EB69-7F31-0F6DC12712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4500563"/>
            <a:ext cx="4972050" cy="4267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`Perfect’ is not really the right term… but that’s the</a:t>
            </a:r>
            <a:r>
              <a:rPr lang="en-US" altLang="en-US" baseline="0"/>
              <a:t> commonly used term. </a:t>
            </a:r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828815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26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06358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4BCF4-ACCB-42FE-9068-25DD7B32E94B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333670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993E36-D7DC-4EAE-97D5-8D0CD735E1A1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26518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F688C0-775F-4727-BDC6-365C76984699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19950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7013" cy="4979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9350"/>
            <a:ext cx="4038600" cy="49799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5E57B-8864-4F68-9F00-092100761D84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2500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B7F25-5BB5-4D84-A713-C6B8AF56BF50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53842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C0CD59-7922-40CE-A470-B7D573D589C7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03669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A363CA-987E-4BCA-88A5-ED014D857E99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92001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F9E2F-8C49-4D69-B565-53926EE196FB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8261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B4984E-2D6C-45C7-B7A6-054D37A7CACA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41905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3F64D2-7030-40C4-8513-3AC3DD7763BD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244492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938" y="277813"/>
            <a:ext cx="207327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938" y="277813"/>
            <a:ext cx="6070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idx="10"/>
          </p:nvPr>
        </p:nvSpPr>
        <p:spPr>
          <a:xfrm>
            <a:off x="457200" y="6243638"/>
            <a:ext cx="2132013" cy="4556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he-IL"/>
              <a:t>11/13/11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492BA-B527-4592-AF54-CA5EB233B8E7}" type="slidenum">
              <a:rPr lang="en-US" altLang="he-IL"/>
              <a:pPr/>
              <a:t>‹#›</a:t>
            </a:fld>
            <a:endParaRPr lang="en-US" altLang="he-IL"/>
          </a:p>
        </p:txBody>
      </p:sp>
    </p:spTree>
    <p:extLst>
      <p:ext uri="{BB962C8B-B14F-4D97-AF65-F5344CB8AC3E}">
        <p14:creationId xmlns:p14="http://schemas.microsoft.com/office/powerpoint/2010/main" val="146618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77813"/>
            <a:ext cx="8296275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9350"/>
            <a:ext cx="8228013" cy="497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Amir Herzberg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3638"/>
            <a:ext cx="2132013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38E50F55-35D0-4DBE-BE4F-AE49F1F9CF65}" type="slidenum">
              <a:rPr lang="en-US" altLang="he-IL"/>
              <a:pPr/>
              <a:t>‹#›</a:t>
            </a:fld>
            <a:endParaRPr lang="en-US" altLang="he-IL"/>
          </a:p>
        </p:txBody>
      </p:sp>
      <p:sp>
        <p:nvSpPr>
          <p:cNvPr id="1031" name="Freeform 6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5pPr>
      <a:lvl6pPr marL="25146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6pPr>
      <a:lvl7pPr marL="29718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7pPr>
      <a:lvl8pPr marL="34290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8pPr>
      <a:lvl9pPr marL="3886200" indent="-228600" algn="l" defTabSz="457200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200">
          <a:solidFill>
            <a:srgbClr val="006633"/>
          </a:solidFill>
          <a:latin typeface="Garamond" pitchFamily="18" charset="0"/>
          <a:cs typeface="Arial" pitchFamily="34" charset="0"/>
        </a:defRPr>
      </a:lvl9pPr>
    </p:titleStyle>
    <p:bodyStyle>
      <a:lvl1pPr marL="457200" indent="-457200" algn="l" defTabSz="457200" rtl="0" eaLnBrk="0" fontAlgn="base" hangingPunct="0">
        <a:spcBef>
          <a:spcPts val="7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457200" algn="l" defTabSz="457200" rtl="0" eaLnBrk="0" fontAlgn="base" hangingPunct="0">
        <a:spcBef>
          <a:spcPts val="6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600">
          <a:solidFill>
            <a:srgbClr val="000000"/>
          </a:solidFill>
          <a:latin typeface="+mn-lt"/>
          <a:cs typeface="+mn-cs"/>
        </a:defRPr>
      </a:lvl2pPr>
      <a:lvl3pPr marL="1257300" indent="-342900" algn="l" defTabSz="457200" rtl="0" eaLnBrk="0" fontAlgn="base" hangingPunct="0">
        <a:spcBef>
          <a:spcPts val="55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200">
          <a:solidFill>
            <a:srgbClr val="000000"/>
          </a:solidFill>
          <a:latin typeface="+mn-lt"/>
          <a:cs typeface="+mn-cs"/>
        </a:defRPr>
      </a:lvl3pPr>
      <a:lvl4pPr marL="1714500" indent="-3429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latin typeface="+mn-lt"/>
          <a:cs typeface="+mn-cs"/>
        </a:defRPr>
      </a:lvl4pPr>
      <a:lvl5pPr marL="2171700" indent="-3429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Wingdings" panose="05000000000000000000" pitchFamily="2" charset="2"/>
        <a:buChar char="q"/>
        <a:defRPr sz="2000">
          <a:solidFill>
            <a:srgbClr val="000000"/>
          </a:solidFill>
          <a:latin typeface="+mn-lt"/>
          <a:cs typeface="+mn-cs"/>
        </a:defRPr>
      </a:lvl5pPr>
      <a:lvl6pPr marL="25146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57200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3254375"/>
          </a:xfrm>
        </p:spPr>
        <p:txBody>
          <a:bodyPr/>
          <a:lstStyle/>
          <a:p>
            <a:pPr algn="ctr"/>
            <a:r>
              <a:rPr lang="en-US" altLang="en-US" sz="2800" dirty="0"/>
              <a:t>CSE 3400/CSE 5850 - Introduction to Cryptography and Cybersecurity </a:t>
            </a:r>
            <a:br>
              <a:rPr lang="en-US" altLang="en-US" sz="2800" dirty="0"/>
            </a:br>
            <a:r>
              <a:rPr lang="en-US" altLang="en-US" sz="2800" dirty="0"/>
              <a:t>/ Introduction to Cybersecurity</a:t>
            </a:r>
            <a:br>
              <a:rPr lang="en-US" altLang="en-US" sz="2800" dirty="0"/>
            </a:br>
            <a:br>
              <a:rPr lang="en-US" altLang="en-US" sz="4000" dirty="0"/>
            </a:br>
            <a:r>
              <a:rPr lang="en-US" altLang="en-US" sz="4000" dirty="0"/>
              <a:t>Lecture 9</a:t>
            </a:r>
            <a:br>
              <a:rPr lang="en-US" altLang="en-US" sz="4000" dirty="0"/>
            </a:br>
            <a: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Shared Key Protocols – Part II</a:t>
            </a: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endParaRPr lang="en-US" sz="3600" dirty="0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940175"/>
            <a:ext cx="9144000" cy="600075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 err="1"/>
              <a:t>Ghada</a:t>
            </a:r>
            <a:r>
              <a:rPr lang="en-US" sz="2800" dirty="0"/>
              <a:t> </a:t>
            </a:r>
            <a:r>
              <a:rPr lang="en-US" sz="2800" dirty="0" err="1"/>
              <a:t>Almashaqbeh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70C0"/>
                </a:solidFill>
              </a:rPr>
              <a:t>UConn</a:t>
            </a:r>
            <a:endParaRPr lang="en-US" sz="2000" dirty="0">
              <a:solidFill>
                <a:srgbClr val="0070C0"/>
              </a:solidFill>
            </a:endParaRPr>
          </a:p>
          <a:p>
            <a:pPr algn="ctr"/>
            <a:endParaRPr lang="en-US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870FB93-3BDE-3443-B461-0B38FC66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13" y="5382324"/>
            <a:ext cx="7012379" cy="8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>
              <a:spcBef>
                <a:spcPts val="750"/>
              </a:spcBef>
              <a:spcAft>
                <a:spcPct val="0"/>
              </a:spcAft>
              <a:buNone/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lang="en-US" sz="2400">
                <a:solidFill>
                  <a:srgbClr val="000000"/>
                </a:solidFill>
                <a:latin typeface="Arial" pitchFamily="34"/>
                <a:cs typeface="Arial" pitchFamily="34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hangingPunct="1"/>
            <a:r>
              <a:rPr lang="en-US" sz="1800" kern="0" dirty="0"/>
              <a:t>Adapted from the Textbook Slides</a:t>
            </a:r>
            <a:endParaRPr lang="en-US" sz="1800" kern="0" dirty="0">
              <a:solidFill>
                <a:srgbClr val="0070C0"/>
              </a:solidFill>
            </a:endParaRPr>
          </a:p>
          <a:p>
            <a:pPr defTabSz="914400" hangingPunct="1"/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391794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B9FA-F0CD-214F-8801-A83CE6E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C1A4-0F85-4E45-9F45-2D6AC6B2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Handshake protocol extensions.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Key distribution centers.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Improving resiliency to key exposure.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3142B-9D9F-4744-AC12-E2B1DDF953B2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81474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2888569"/>
          </a:xfrm>
        </p:spPr>
        <p:txBody>
          <a:bodyPr/>
          <a:lstStyle/>
          <a:p>
            <a:pPr algn="ctr"/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Handshake Protocol Extensions</a:t>
            </a: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endParaRPr lang="en-US" sz="3000" i="1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1DE1B47-CE65-DC44-99C8-A4BC601BA211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96530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B24D-40C0-BC40-B1E3-0EDF8B24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Authenticated Request-Response Protocols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6E6B-BC39-FB4B-B2D4-2B4B384AC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Beside authenticating entities, these protocols authenticate the exchange of a request and a response between the entities.</a:t>
            </a:r>
          </a:p>
          <a:p>
            <a:r>
              <a:rPr lang="en-US" sz="2400" dirty="0"/>
              <a:t>Required properties:</a:t>
            </a:r>
          </a:p>
          <a:p>
            <a:pPr lvl="1"/>
            <a:r>
              <a:rPr lang="en-US" sz="2200" b="1" dirty="0"/>
              <a:t>Request authentication.</a:t>
            </a:r>
          </a:p>
          <a:p>
            <a:pPr lvl="2"/>
            <a:r>
              <a:rPr lang="en-US" dirty="0"/>
              <a:t>The request was indeed sent by the sender.</a:t>
            </a:r>
          </a:p>
          <a:p>
            <a:pPr lvl="1"/>
            <a:r>
              <a:rPr lang="en-US" sz="2200" b="1" dirty="0"/>
              <a:t>Response authentication.</a:t>
            </a:r>
          </a:p>
          <a:p>
            <a:pPr lvl="2"/>
            <a:r>
              <a:rPr lang="en-US" dirty="0"/>
              <a:t>The response was indeed sent by the receiver (to which the request was intended).</a:t>
            </a:r>
          </a:p>
          <a:p>
            <a:pPr lvl="1"/>
            <a:r>
              <a:rPr lang="en-US" sz="2200" b="1" dirty="0"/>
              <a:t>No replay.</a:t>
            </a:r>
          </a:p>
          <a:p>
            <a:pPr lvl="2"/>
            <a:r>
              <a:rPr lang="en-US" dirty="0"/>
              <a:t>Every request/response was received at most the number of times it was sent by the sender.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A44B800-648E-6A40-9980-E708422FE5AC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8855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B24D-40C0-BC40-B1E3-0EDF8B24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Authenticated Request-Response Protocols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56E6B-BC39-FB4B-B2D4-2B4B384AC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Five variants:</a:t>
            </a:r>
          </a:p>
          <a:p>
            <a:pPr lvl="1"/>
            <a:r>
              <a:rPr lang="en-US" dirty="0"/>
              <a:t>2PP-RR</a:t>
            </a:r>
          </a:p>
          <a:p>
            <a:pPr lvl="2"/>
            <a:r>
              <a:rPr lang="en-US" dirty="0"/>
              <a:t>2PP stands for two party protocol, and RR stands for request-response.</a:t>
            </a:r>
          </a:p>
          <a:p>
            <a:pPr lvl="1"/>
            <a:r>
              <a:rPr lang="en-US" dirty="0"/>
              <a:t>2RT-2PP</a:t>
            </a:r>
          </a:p>
          <a:p>
            <a:pPr lvl="2"/>
            <a:r>
              <a:rPr lang="en-US" dirty="0"/>
              <a:t>2RT stands for 2 round trips.</a:t>
            </a:r>
          </a:p>
          <a:p>
            <a:pPr lvl="1"/>
            <a:r>
              <a:rPr lang="en-US" dirty="0"/>
              <a:t>Counter-based-RR</a:t>
            </a:r>
          </a:p>
          <a:p>
            <a:pPr lvl="1"/>
            <a:r>
              <a:rPr lang="en-US" dirty="0"/>
              <a:t>Time-based-RR</a:t>
            </a:r>
          </a:p>
          <a:p>
            <a:pPr lvl="1"/>
            <a:r>
              <a:rPr lang="en-US" dirty="0"/>
              <a:t>Key-exchange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3EA55FE-5BB4-7D4F-8B40-E1B0B98E22D2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52960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2PP-RR</a:t>
            </a:r>
          </a:p>
        </p:txBody>
      </p:sp>
      <p:sp>
        <p:nvSpPr>
          <p:cNvPr id="501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6225" y="1089933"/>
            <a:ext cx="8372475" cy="1757333"/>
          </a:xfrm>
        </p:spPr>
        <p:txBody>
          <a:bodyPr/>
          <a:lstStyle/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solidFill>
                  <a:schemeClr val="tx1"/>
                </a:solidFill>
              </a:rPr>
              <a:t>A three-flow nonce-based protocol.</a:t>
            </a:r>
          </a:p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solidFill>
                  <a:schemeClr val="tx1"/>
                </a:solidFill>
              </a:rPr>
              <a:t>Significant drawback:</a:t>
            </a: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The request is sent by the responder and the initiator sends the response.</a:t>
            </a: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So initiator must wait for a request rather than sending it!!</a:t>
            </a:r>
          </a:p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dirty="0"/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EBDA9-4B59-0D47-A1B5-5432A4197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58" y="3429000"/>
            <a:ext cx="7685514" cy="2192564"/>
          </a:xfrm>
          <a:prstGeom prst="rect">
            <a:avLst/>
          </a:prstGeom>
        </p:spPr>
      </p:pic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0F7FF6A8-7E4A-8540-B957-48A318D7E910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63139211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2RT-2PP</a:t>
            </a:r>
          </a:p>
        </p:txBody>
      </p:sp>
      <p:sp>
        <p:nvSpPr>
          <p:cNvPr id="501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6225" y="1089933"/>
            <a:ext cx="8372475" cy="1757333"/>
          </a:xfrm>
        </p:spPr>
        <p:txBody>
          <a:bodyPr/>
          <a:lstStyle/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solidFill>
                  <a:schemeClr val="tx1"/>
                </a:solidFill>
              </a:rPr>
              <a:t>A four-flow nonce-based protocol.</a:t>
            </a:r>
          </a:p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dirty="0">
                <a:solidFill>
                  <a:schemeClr val="tx1"/>
                </a:solidFill>
              </a:rPr>
              <a:t>Mainly fixes the drawback of 2PP-RR discussed in the previous slide.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dirty="0"/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dirty="0"/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0F7FF6A8-7E4A-8540-B957-48A318D7E910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he-IL" altLang="he-IL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D859A4-BD33-5B41-B6D4-CEAA3FD0A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75" y="3015343"/>
            <a:ext cx="7710011" cy="216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0385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13657" y="290513"/>
            <a:ext cx="8730343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600" dirty="0"/>
              <a:t>Counter-based Authenticated RR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76225" y="1089933"/>
                <a:ext cx="8372475" cy="1757333"/>
              </a:xfrm>
            </p:spPr>
            <p:txBody>
              <a:bodyPr/>
              <a:lstStyle/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b="1" dirty="0">
                    <a:solidFill>
                      <a:schemeClr val="tx1"/>
                    </a:solidFill>
                  </a:rPr>
                  <a:t>Simple stateful (counter) solution, requiring only one round: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Unidirectional (if bidirectional is needed, a separate instance of the protocol for each direction needs to be executed).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Parties maintain synchronized counter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of requests (and responses) to avoid replay attacks. 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Recipient (e.g., Bob) validates counter received is </a:t>
                </a:r>
                <a14:m>
                  <m:oMath xmlns:m="http://schemas.openxmlformats.org/officeDocument/2006/math">
                    <m:r>
                      <a:rPr lang="en-US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Both parties must remember counter</a:t>
                </a:r>
                <a:endParaRPr lang="en-US" alt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endParaRPr lang="en-US" altLang="en-US" dirty="0"/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501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76225" y="1089933"/>
                <a:ext cx="8372475" cy="1757333"/>
              </a:xfrm>
              <a:blipFill>
                <a:blip r:embed="rId3"/>
                <a:stretch>
                  <a:fillRect t="-357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0F7FF6A8-7E4A-8540-B957-48A318D7E910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he-IL" altLang="he-IL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C6D21-62FB-9977-F096-548ADEF0D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77" y="3548838"/>
            <a:ext cx="7451369" cy="2918637"/>
          </a:xfrm>
          <a:prstGeom prst="rect">
            <a:avLst/>
          </a:prstGeom>
          <a:solidFill>
            <a:schemeClr val="bg1"/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3A3108-30DC-D6C4-F556-EEEA5F1F23EA}"/>
                  </a:ext>
                </a:extLst>
              </p:cNvPr>
              <p:cNvSpPr txBox="1"/>
              <p:nvPr/>
            </p:nvSpPr>
            <p:spPr>
              <a:xfrm>
                <a:off x="5856515" y="3059552"/>
                <a:ext cx="302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/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3A3108-30DC-D6C4-F556-EEEA5F1F2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515" y="3059552"/>
                <a:ext cx="302903" cy="276999"/>
              </a:xfrm>
              <a:prstGeom prst="rect">
                <a:avLst/>
              </a:prstGeom>
              <a:blipFill>
                <a:blip r:embed="rId5"/>
                <a:stretch>
                  <a:fillRect l="-16667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ED2365-58F3-AD9A-B8E7-F14CD4712FD3}"/>
                  </a:ext>
                </a:extLst>
              </p:cNvPr>
              <p:cNvSpPr txBox="1"/>
              <p:nvPr/>
            </p:nvSpPr>
            <p:spPr>
              <a:xfrm>
                <a:off x="5326335" y="3720920"/>
                <a:ext cx="718457" cy="317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𝑠𝑒𝑛𝑡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ED2365-58F3-AD9A-B8E7-F14CD4712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335" y="3720920"/>
                <a:ext cx="718457" cy="317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BB8EC22-C67E-B990-5D1B-D5A5829D052C}"/>
              </a:ext>
            </a:extLst>
          </p:cNvPr>
          <p:cNvSpPr/>
          <p:nvPr/>
        </p:nvSpPr>
        <p:spPr bwMode="auto">
          <a:xfrm>
            <a:off x="3222171" y="4319451"/>
            <a:ext cx="740229" cy="1741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4A000A-3EF8-A8DC-F1D9-449BF8D9BD84}"/>
                  </a:ext>
                </a:extLst>
              </p:cNvPr>
              <p:cNvSpPr txBox="1"/>
              <p:nvPr/>
            </p:nvSpPr>
            <p:spPr>
              <a:xfrm>
                <a:off x="3169831" y="4259452"/>
                <a:ext cx="718457" cy="285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𝑟𝑒𝑞</m:t>
                      </m:r>
                      <m:r>
                        <a:rPr lang="en-US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𝑠𝑒𝑛𝑡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4A000A-3EF8-A8DC-F1D9-449BF8D9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31" y="4259452"/>
                <a:ext cx="718457" cy="285206"/>
              </a:xfrm>
              <a:prstGeom prst="rect">
                <a:avLst/>
              </a:prstGeom>
              <a:blipFill>
                <a:blip r:embed="rId7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7572192E-CE77-62BB-A935-4EBBA61F9AE6}"/>
              </a:ext>
            </a:extLst>
          </p:cNvPr>
          <p:cNvSpPr/>
          <p:nvPr/>
        </p:nvSpPr>
        <p:spPr bwMode="auto">
          <a:xfrm>
            <a:off x="5856515" y="4289969"/>
            <a:ext cx="718456" cy="174172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9046B1-11EB-ACC6-56B5-20AE99EFC996}"/>
                  </a:ext>
                </a:extLst>
              </p:cNvPr>
              <p:cNvSpPr txBox="1"/>
              <p:nvPr/>
            </p:nvSpPr>
            <p:spPr>
              <a:xfrm>
                <a:off x="5782403" y="4234452"/>
                <a:ext cx="718457" cy="285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𝑠𝑒𝑛𝑡</m:t>
                          </m:r>
                        </m:sub>
                      </m:sSub>
                      <m:r>
                        <a:rPr lang="en-US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||</m:t>
                      </m:r>
                      <m:r>
                        <a:rPr lang="en-US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𝑟𝑒𝑞</m:t>
                      </m:r>
                      <m:r>
                        <a:rPr lang="en-US" alt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9046B1-11EB-ACC6-56B5-20AE99EFC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403" y="4234452"/>
                <a:ext cx="718457" cy="285206"/>
              </a:xfrm>
              <a:prstGeom prst="rect">
                <a:avLst/>
              </a:prstGeom>
              <a:blipFill>
                <a:blip r:embed="rId8"/>
                <a:stretch>
                  <a:fillRect r="-3684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745069-85EE-6630-AEF8-C1E3CB382B9D}"/>
              </a:ext>
            </a:extLst>
          </p:cNvPr>
          <p:cNvCxnSpPr/>
          <p:nvPr/>
        </p:nvCxnSpPr>
        <p:spPr bwMode="auto">
          <a:xfrm>
            <a:off x="6278880" y="4377055"/>
            <a:ext cx="95794" cy="0"/>
          </a:xfrm>
          <a:prstGeom prst="line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5034988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13657" y="290513"/>
            <a:ext cx="8730343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600" dirty="0"/>
              <a:t>Time-Based Authenticated RR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76225" y="1089933"/>
                <a:ext cx="8372475" cy="1757333"/>
              </a:xfrm>
            </p:spPr>
            <p:txBody>
              <a:bodyPr/>
              <a:lstStyle/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b="1" dirty="0">
                    <a:solidFill>
                      <a:schemeClr val="tx1"/>
                    </a:solidFill>
                  </a:rPr>
                  <a:t>Simple stateful (time) solution, requiring only one round: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/>
                  <a:t>Use local clocks </a:t>
                </a:r>
                <a:r>
                  <a:rPr lang="en-US" altLang="en-US" sz="18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en-US" sz="1800" i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en-US" sz="18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</a:t>
                </a:r>
                <a:r>
                  <a:rPr lang="en-US" altLang="en-US" sz="1800" i="1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 </a:t>
                </a:r>
                <a:r>
                  <a:rPr lang="en-US" altLang="en-US" sz="1800" dirty="0"/>
                  <a:t>instead of counters with two assumptions: bounded delays and bounded clock skews.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/>
                  <a:t>Responder (Bob): </a:t>
                </a:r>
              </a:p>
              <a:p>
                <a:pPr marL="1141413" lvl="2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/>
                  <a:t>Rejects request if: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en-US" sz="18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alt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en-US" sz="1800" dirty="0"/>
                  <a:t> OR if he received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en-US" sz="1800" dirty="0"/>
                  <a:t> already</a:t>
                </a:r>
              </a:p>
              <a:p>
                <a:pPr marL="1598613" lvl="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/>
                  <a:t>Where</a:t>
                </a:r>
                <a:r>
                  <a:rPr lang="en-US" altLang="en-US" sz="1600" dirty="0"/>
                  <a:t> </a:t>
                </a:r>
              </a:p>
              <a:p>
                <a:pPr marL="1141413" lvl="2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/>
                  <a:t>Maintains last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en-US" sz="1800" dirty="0"/>
                  <a:t> received, 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en-US" sz="1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alt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en-US" altLang="en-US" sz="1800" dirty="0"/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/>
                  <a:t>Initiator (Alice) does not need </a:t>
                </a:r>
                <a:r>
                  <a:rPr lang="en-US" altLang="en-US" sz="1800" b="1" dirty="0"/>
                  <a:t>any</a:t>
                </a:r>
                <a:r>
                  <a:rPr lang="en-US" altLang="en-US" sz="1800" dirty="0"/>
                  <a:t> state, when can Bob discard his?</a:t>
                </a:r>
                <a:endParaRPr lang="en-US" altLang="en-US" sz="1800" b="1" dirty="0">
                  <a:solidFill>
                    <a:schemeClr val="tx1"/>
                  </a:solidFill>
                </a:endParaRP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endParaRPr lang="en-US" altLang="en-US" dirty="0"/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501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76225" y="1089933"/>
                <a:ext cx="8372475" cy="1757333"/>
              </a:xfrm>
              <a:blipFill>
                <a:blip r:embed="rId3"/>
                <a:stretch>
                  <a:fillRect t="-3571" b="-4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0F7FF6A8-7E4A-8540-B957-48A318D7E910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he-IL" altLang="he-IL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3C954C-9544-6942-93F6-DCA84C42A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787" y="3792893"/>
            <a:ext cx="6366469" cy="23729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DE8225-4255-4B49-B374-92A13B5BA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9869" y="2677024"/>
            <a:ext cx="1967824" cy="3130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7CDC58-2062-BB48-B2F2-4905DBA0F624}"/>
              </a:ext>
            </a:extLst>
          </p:cNvPr>
          <p:cNvSpPr txBox="1"/>
          <p:nvPr/>
        </p:nvSpPr>
        <p:spPr>
          <a:xfrm>
            <a:off x="7500256" y="4956238"/>
            <a:ext cx="163368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Remember </a:t>
            </a:r>
            <a:r>
              <a:rPr lang="en-US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he-I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31363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2RT-2PP with Confidentiality</a:t>
            </a:r>
          </a:p>
        </p:txBody>
      </p:sp>
      <p:sp>
        <p:nvSpPr>
          <p:cNvPr id="501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1068099"/>
            <a:ext cx="8372475" cy="2654300"/>
          </a:xfrm>
        </p:spPr>
        <p:txBody>
          <a:bodyPr/>
          <a:lstStyle/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b="1" dirty="0">
                <a:solidFill>
                  <a:schemeClr val="tx1"/>
                </a:solidFill>
              </a:rPr>
              <a:t>Secure connection: authentication, freshness, </a:t>
            </a:r>
            <a:r>
              <a:rPr lang="en-US" altLang="en-US" sz="2000" b="1" dirty="0">
                <a:solidFill>
                  <a:schemeClr val="accent6"/>
                </a:solidFill>
              </a:rPr>
              <a:t>secrecy</a:t>
            </a: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Independent keys: for encryption </a:t>
            </a:r>
            <a:r>
              <a:rPr lang="en-US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k.e</a:t>
            </a:r>
            <a:r>
              <a:rPr lang="en-US" altLang="en-US" sz="2000" dirty="0">
                <a:solidFill>
                  <a:schemeClr val="tx1"/>
                </a:solidFill>
              </a:rPr>
              <a:t>, for authentication: </a:t>
            </a:r>
            <a:r>
              <a:rPr lang="en-US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k.a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How can we derive them both from a single key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chemeClr val="tx1"/>
                </a:solidFill>
              </a:rPr>
              <a:t> ? The PRF idea from before:</a:t>
            </a:r>
          </a:p>
          <a:p>
            <a:pPr marL="1141413" lvl="2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6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k.e</a:t>
            </a:r>
            <a:r>
              <a:rPr lang="en-US" sz="1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PRF</a:t>
            </a:r>
            <a:r>
              <a:rPr lang="en-US" sz="16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(“Encrypt”), </a:t>
            </a:r>
            <a:r>
              <a:rPr lang="en-US" sz="16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k.a</a:t>
            </a:r>
            <a:r>
              <a:rPr lang="en-US" sz="1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PRF</a:t>
            </a:r>
            <a:r>
              <a:rPr lang="en-US" sz="16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(“MAC”)</a:t>
            </a:r>
            <a:endParaRPr lang="he-IL" sz="16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Hmm… same key encrypts all messages, in all sessions </a:t>
            </a:r>
            <a:r>
              <a:rPr lang="en-US" alt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341313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dirty="0">
                <a:solidFill>
                  <a:srgbClr val="FF0000"/>
                </a:solidFill>
              </a:rPr>
              <a:t>Can we improve security, by changing keys between sessions (i.e., the notion of short-term session keys)? </a:t>
            </a:r>
          </a:p>
          <a:p>
            <a:pPr marL="0" indent="0" eaLnBrk="1" hangingPunct="1">
              <a:lnSpc>
                <a:spcPct val="90000"/>
              </a:lnSpc>
              <a:buClr>
                <a:srgbClr val="CC9900"/>
              </a:buClr>
              <a:buSzPct val="65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ct val="90000"/>
              </a:lnSpc>
              <a:buClr>
                <a:srgbClr val="CC9900"/>
              </a:buClr>
              <a:buSzPct val="6500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Straight Connector 3"/>
          <p:cNvSpPr>
            <a:spLocks/>
          </p:cNvSpPr>
          <p:nvPr/>
        </p:nvSpPr>
        <p:spPr bwMode="auto">
          <a:xfrm>
            <a:off x="1630660" y="4356918"/>
            <a:ext cx="5760566" cy="45719"/>
          </a:xfrm>
          <a:custGeom>
            <a:avLst/>
            <a:gdLst>
              <a:gd name="T0" fmla="*/ 3946600 w 7893000"/>
              <a:gd name="T1" fmla="*/ 7893200 w 7893000"/>
              <a:gd name="T2" fmla="*/ 3946600 w 7893000"/>
              <a:gd name="T3" fmla="*/ 0 w 7893000"/>
              <a:gd name="T4" fmla="*/ 0 w 7893000"/>
              <a:gd name="T5" fmla="*/ 7893200 w 7893000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7893000"/>
              <a:gd name="T13" fmla="*/ 7893000 w 7893000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7893000">
                <a:moveTo>
                  <a:pt x="0" y="0"/>
                </a:moveTo>
                <a:lnTo>
                  <a:pt x="7893000" y="1"/>
                </a:lnTo>
              </a:path>
            </a:pathLst>
          </a:custGeom>
          <a:noFill/>
          <a:ln w="9363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2" name="Straight Connector 6"/>
          <p:cNvSpPr>
            <a:spLocks/>
          </p:cNvSpPr>
          <p:nvPr/>
        </p:nvSpPr>
        <p:spPr bwMode="auto">
          <a:xfrm flipV="1">
            <a:off x="1846559" y="4356918"/>
            <a:ext cx="45719" cy="1640642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3" name="Straight Connector 11"/>
          <p:cNvSpPr>
            <a:spLocks/>
          </p:cNvSpPr>
          <p:nvPr/>
        </p:nvSpPr>
        <p:spPr bwMode="auto">
          <a:xfrm flipV="1">
            <a:off x="7274222" y="4356918"/>
            <a:ext cx="45719" cy="1640642"/>
          </a:xfrm>
          <a:custGeom>
            <a:avLst/>
            <a:gdLst>
              <a:gd name="T0" fmla="*/ 0 h 2493724"/>
              <a:gd name="T1" fmla="*/ 1247338 h 2493724"/>
              <a:gd name="T2" fmla="*/ 2494676 h 2493724"/>
              <a:gd name="T3" fmla="*/ 1247338 h 2493724"/>
              <a:gd name="T4" fmla="*/ 0 h 2493724"/>
              <a:gd name="T5" fmla="*/ 2494676 h 2493724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h 2493724"/>
              <a:gd name="T13" fmla="*/ 2493724 h 2493724"/>
            </a:gdLst>
            <a:ahLst/>
            <a:cxnLst>
              <a:cxn ang="T6">
                <a:pos x="0" y="T0"/>
              </a:cxn>
              <a:cxn ang="T7">
                <a:pos x="0" y="T1"/>
              </a:cxn>
              <a:cxn ang="T8">
                <a:pos x="0" y="T2"/>
              </a:cxn>
              <a:cxn ang="T9">
                <a:pos x="0" y="T3"/>
              </a:cxn>
              <a:cxn ang="T10">
                <a:pos x="0" y="T4"/>
              </a:cxn>
              <a:cxn ang="T11">
                <a:pos x="0" y="T5"/>
              </a:cxn>
            </a:cxnLst>
            <a:rect l="0" t="T12" r="0" b="T13"/>
            <a:pathLst>
              <a:path h="2493724">
                <a:moveTo>
                  <a:pt x="0" y="0"/>
                </a:moveTo>
                <a:lnTo>
                  <a:pt x="1" y="2493724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4" name="Straight Connector 14"/>
          <p:cNvSpPr>
            <a:spLocks/>
          </p:cNvSpPr>
          <p:nvPr/>
        </p:nvSpPr>
        <p:spPr bwMode="auto">
          <a:xfrm>
            <a:off x="1846560" y="4680769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5" name="Freeform 15"/>
          <p:cNvSpPr>
            <a:spLocks/>
          </p:cNvSpPr>
          <p:nvPr/>
        </p:nvSpPr>
        <p:spPr bwMode="auto">
          <a:xfrm>
            <a:off x="1892278" y="4335831"/>
            <a:ext cx="686712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sz="1800" i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traight Connector 16"/>
          <p:cNvSpPr>
            <a:spLocks/>
          </p:cNvSpPr>
          <p:nvPr/>
        </p:nvSpPr>
        <p:spPr bwMode="auto">
          <a:xfrm flipH="1">
            <a:off x="1835696" y="5085184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7" name="Freeform 17"/>
          <p:cNvSpPr>
            <a:spLocks/>
          </p:cNvSpPr>
          <p:nvPr/>
        </p:nvSpPr>
        <p:spPr bwMode="auto">
          <a:xfrm>
            <a:off x="6710236" y="4720937"/>
            <a:ext cx="430232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en-US" sz="1800" i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traight Connector 26"/>
          <p:cNvSpPr>
            <a:spLocks/>
          </p:cNvSpPr>
          <p:nvPr/>
        </p:nvSpPr>
        <p:spPr bwMode="auto">
          <a:xfrm>
            <a:off x="1835696" y="5589240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29" name="Freeform 27"/>
          <p:cNvSpPr>
            <a:spLocks/>
          </p:cNvSpPr>
          <p:nvPr/>
        </p:nvSpPr>
        <p:spPr bwMode="auto">
          <a:xfrm>
            <a:off x="1824833" y="5207187"/>
            <a:ext cx="4809571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k.e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1800" i="1" baseline="-2500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k.a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 || A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B || 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 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k.e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)</a:t>
            </a:r>
          </a:p>
        </p:txBody>
      </p:sp>
      <p:sp>
        <p:nvSpPr>
          <p:cNvPr id="30" name="Freeform 5"/>
          <p:cNvSpPr>
            <a:spLocks/>
          </p:cNvSpPr>
          <p:nvPr/>
        </p:nvSpPr>
        <p:spPr bwMode="auto">
          <a:xfrm>
            <a:off x="6913859" y="3861048"/>
            <a:ext cx="720725" cy="46037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2400"/>
              <a:t>Bob</a:t>
            </a:r>
          </a:p>
        </p:txBody>
      </p:sp>
      <p:sp>
        <p:nvSpPr>
          <p:cNvPr id="31" name="Freeform 7"/>
          <p:cNvSpPr>
            <a:spLocks/>
          </p:cNvSpPr>
          <p:nvPr/>
        </p:nvSpPr>
        <p:spPr bwMode="auto">
          <a:xfrm>
            <a:off x="1403648" y="3861048"/>
            <a:ext cx="850219" cy="46384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2400"/>
              <a:t>Alice</a:t>
            </a:r>
          </a:p>
        </p:txBody>
      </p:sp>
      <p:sp>
        <p:nvSpPr>
          <p:cNvPr id="32" name="Straight Connector 16"/>
          <p:cNvSpPr>
            <a:spLocks/>
          </p:cNvSpPr>
          <p:nvPr/>
        </p:nvSpPr>
        <p:spPr bwMode="auto">
          <a:xfrm flipH="1">
            <a:off x="1835696" y="6012908"/>
            <a:ext cx="5427663" cy="0"/>
          </a:xfrm>
          <a:custGeom>
            <a:avLst/>
            <a:gdLst>
              <a:gd name="T0" fmla="*/ 2713745 w 5427722"/>
              <a:gd name="T1" fmla="*/ 5427486 w 5427722"/>
              <a:gd name="T2" fmla="*/ 2713745 w 5427722"/>
              <a:gd name="T3" fmla="*/ 0 w 5427722"/>
              <a:gd name="T4" fmla="*/ 0 w 5427722"/>
              <a:gd name="T5" fmla="*/ 5427486 w 5427722"/>
              <a:gd name="T6" fmla="*/ 17694720 60000 65536"/>
              <a:gd name="T7" fmla="*/ 0 60000 65536"/>
              <a:gd name="T8" fmla="*/ 5898240 60000 65536"/>
              <a:gd name="T9" fmla="*/ 11796480 60000 65536"/>
              <a:gd name="T10" fmla="*/ 5898240 60000 65536"/>
              <a:gd name="T11" fmla="*/ 17694720 60000 65536"/>
              <a:gd name="T12" fmla="*/ 0 w 5427722"/>
              <a:gd name="T13" fmla="*/ 5427722 w 5427722"/>
            </a:gdLst>
            <a:ahLst/>
            <a:cxnLst>
              <a:cxn ang="T6">
                <a:pos x="T0" y="0"/>
              </a:cxn>
              <a:cxn ang="T7">
                <a:pos x="T1" y="0"/>
              </a:cxn>
              <a:cxn ang="T8">
                <a:pos x="T2" y="0"/>
              </a:cxn>
              <a:cxn ang="T9">
                <a:pos x="T3" y="0"/>
              </a:cxn>
              <a:cxn ang="T10">
                <a:pos x="T4" y="0"/>
              </a:cxn>
              <a:cxn ang="T11">
                <a:pos x="T5" y="0"/>
              </a:cxn>
            </a:cxnLst>
            <a:rect l="T12" t="0" r="T13" b="0"/>
            <a:pathLst>
              <a:path w="5427722">
                <a:moveTo>
                  <a:pt x="0" y="0"/>
                </a:moveTo>
                <a:lnTo>
                  <a:pt x="5427722" y="1"/>
                </a:lnTo>
              </a:path>
            </a:pathLst>
          </a:custGeom>
          <a:noFill/>
          <a:ln w="9363">
            <a:solidFill>
              <a:srgbClr val="0000FF"/>
            </a:solidFill>
            <a:prstDash val="solid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4" tIns="46798" rIns="90004" bIns="46798"/>
          <a:lstStyle/>
          <a:p>
            <a:endParaRPr lang="he-IL"/>
          </a:p>
        </p:txBody>
      </p:sp>
      <p:sp>
        <p:nvSpPr>
          <p:cNvPr id="44" name="Freeform 17"/>
          <p:cNvSpPr>
            <a:spLocks/>
          </p:cNvSpPr>
          <p:nvPr/>
        </p:nvSpPr>
        <p:spPr bwMode="auto">
          <a:xfrm>
            <a:off x="2021702" y="5652130"/>
            <a:ext cx="4854455" cy="37150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17694720 60000 65536"/>
              <a:gd name="T9" fmla="*/ 0 60000 65536"/>
              <a:gd name="T10" fmla="*/ 5898240 60000 65536"/>
              <a:gd name="T11" fmla="*/ 11796480 60000 65536"/>
              <a:gd name="T12" fmla="*/ 0 w 21600"/>
              <a:gd name="T13" fmla="*/ 0 h 21600"/>
              <a:gd name="T14" fmla="*/ 2160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4" tIns="46798" rIns="90004" bIns="46798">
            <a:spAutoFit/>
          </a:bodyPr>
          <a:lstStyle>
            <a:lvl1pPr eaLnBrk="0" hangingPunct="0">
              <a:spcBef>
                <a:spcPts val="7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spcBef>
                <a:spcPts val="6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eaLnBrk="0" hangingPunct="0">
              <a:spcBef>
                <a:spcPts val="5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eaLnBrk="0" hangingPunct="0">
              <a:spcBef>
                <a:spcPts val="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</a:pP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k.e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en-US" sz="1800" i="1" baseline="-2500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k.a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 || A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B 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N</a:t>
            </a:r>
            <a:r>
              <a:rPr lang="en-US" altLang="en-US" sz="1800" i="1" baseline="-25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</a:t>
            </a: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1800" i="1" baseline="-2500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k.e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i="1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A4AAA27-30CA-614F-BCE4-DAA0D9C3ACF6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9314711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0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0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0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0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2PP Key Exchange Protocol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183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76225" y="994915"/>
                <a:ext cx="8372475" cy="2654300"/>
              </a:xfrm>
            </p:spPr>
            <p:txBody>
              <a:bodyPr/>
              <a:lstStyle/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Allows generating independent session keys, i.e., each session will have its own key denoted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These keys are derived from the shared key that we now call a long-term ‘master key’ denoted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alt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800" dirty="0">
                    <a:solidFill>
                      <a:schemeClr val="tx1"/>
                    </a:solidFill>
                  </a:rPr>
                  <a:t>Improves security: 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600" dirty="0">
                    <a:solidFill>
                      <a:schemeClr val="tx1"/>
                    </a:solidFill>
                  </a:rPr>
                  <a:t>Exposure of a session key does not expose the master key nor the keys of other sessions. 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1600" dirty="0">
                    <a:solidFill>
                      <a:schemeClr val="tx1"/>
                    </a:solidFill>
                  </a:rPr>
                  <a:t>Thus, limited amount of ciphertext exposed if a session key is exposed (only that session rather than all ciphertexts of all sessions).</a:t>
                </a:r>
                <a:endParaRPr lang="en-US" altLang="en-US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01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76225" y="994915"/>
                <a:ext cx="8372475" cy="2654300"/>
              </a:xfrm>
              <a:blipFill>
                <a:blip r:embed="rId3"/>
                <a:stretch>
                  <a:fillRect t="-2381" b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E4F84B2-0685-C44C-8F81-C6DFD40A3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0" y="3898898"/>
            <a:ext cx="7136926" cy="2251530"/>
          </a:xfrm>
          <a:prstGeom prst="rect">
            <a:avLst/>
          </a:prstGeom>
        </p:spPr>
      </p:pic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D23D7617-2016-6A4B-9A95-08D86BA75C68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he-IL" altLang="he-IL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11D98-6029-DB4A-8048-FCE2644FCE24}"/>
              </a:ext>
            </a:extLst>
          </p:cNvPr>
          <p:cNvSpPr txBox="1"/>
          <p:nvPr/>
        </p:nvSpPr>
        <p:spPr>
          <a:xfrm>
            <a:off x="1956391" y="6242050"/>
            <a:ext cx="5220585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srgbClr val="FF00FF"/>
                </a:solidFill>
              </a:rPr>
              <a:t>A PRF is used instead of a MAC, is that ok?</a:t>
            </a:r>
          </a:p>
        </p:txBody>
      </p:sp>
    </p:spTree>
    <p:extLst>
      <p:ext uri="{BB962C8B-B14F-4D97-AF65-F5344CB8AC3E}">
        <p14:creationId xmlns:p14="http://schemas.microsoft.com/office/powerpoint/2010/main" val="221028833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2888569"/>
          </a:xfrm>
        </p:spPr>
        <p:txBody>
          <a:bodyPr/>
          <a:lstStyle/>
          <a:p>
            <a:pPr algn="ctr"/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Key Distribution Centers (KDCs)</a:t>
            </a: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sz="3200" i="1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Establish a shared key between two or more entities, usually with the help of a trusted third party referred to as KDC</a:t>
            </a:r>
            <a:endParaRPr lang="en-US" sz="3200" i="1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85879B3-6A94-5F4B-9E63-0750D8B32F9A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78961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/>
              <a:t>Key Distribution Center (KDC)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74" name="Rectangle 2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457200" y="1149350"/>
                <a:ext cx="8229600" cy="4981575"/>
              </a:xfrm>
            </p:spPr>
            <p:txBody>
              <a:bodyPr/>
              <a:lstStyle/>
              <a:p>
                <a:pPr marL="341313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200" dirty="0"/>
                  <a:t>Will focus on three party protocols; Alice, Bob, and KDC.</a:t>
                </a:r>
              </a:p>
              <a:p>
                <a:pPr marL="341313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200" dirty="0"/>
                  <a:t>KDC: shares long-term master keys with all parties (each party will have a key for encryption and another for MAC). </a:t>
                </a:r>
              </a:p>
              <a:p>
                <a:pPr marL="798513" lvl="1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dirty="0"/>
                  <a:t>denoted as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altLang="en-US" sz="2000" i="1" dirty="0"/>
                  <a:t> </a:t>
                </a:r>
                <a:r>
                  <a:rPr lang="en-US" altLang="en-US" sz="2000" dirty="0"/>
                  <a:t>for MAC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  <m:r>
                      <a:rPr lang="en-US" altLang="en-US" sz="2000" i="1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  <m:r>
                      <a:rPr lang="en-US" altLang="en-US" sz="2000" i="1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altLang="en-US" sz="2000" i="1" dirty="0"/>
                  <a:t> </a:t>
                </a:r>
                <a:r>
                  <a:rPr lang="en-US" altLang="en-US" sz="2000" dirty="0"/>
                  <a:t>for encryption</a:t>
                </a:r>
                <a:r>
                  <a:rPr lang="en-US" altLang="en-US" sz="2000" i="1" dirty="0"/>
                  <a:t>.</a:t>
                </a:r>
              </a:p>
              <a:p>
                <a:pPr marL="341313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200" dirty="0"/>
                  <a:t>Goal: help parties (A, B) to </a:t>
                </a:r>
                <a:r>
                  <a:rPr lang="en-US" altLang="en-US" sz="2200" u="sng" dirty="0"/>
                  <a:t>establish</a:t>
                </a:r>
                <a:r>
                  <a:rPr lang="en-US" altLang="en-US" sz="2200" dirty="0"/>
                  <a:t> a shared master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2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</m:sSub>
                  </m:oMath>
                </a14:m>
                <a:endParaRPr lang="en-US" altLang="en-US" sz="2200" i="1" baseline="-25000" dirty="0"/>
              </a:p>
              <a:p>
                <a:pPr marL="798513" lvl="1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dirty="0"/>
                  <a:t>Based on which the parties generate two keys for MAC and encryption, namely,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endParaRPr lang="en-US" altLang="en-US" sz="2000" dirty="0"/>
              </a:p>
              <a:p>
                <a:pPr marL="341313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200" dirty="0"/>
                  <a:t>We will study two protocols; simplified versions of:</a:t>
                </a:r>
              </a:p>
              <a:p>
                <a:pPr marL="798513" lvl="1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200" dirty="0"/>
                  <a:t>The Kerberos protocol (secure) widely used in computer networks.</a:t>
                </a:r>
              </a:p>
              <a:p>
                <a:pPr marL="798513" lvl="1" indent="-341313" eaLnBrk="1" hangingPunct="1"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200" dirty="0"/>
                  <a:t>The GSM protocol (insecure) used by cellular networks.</a:t>
                </a:r>
              </a:p>
            </p:txBody>
          </p:sp>
        </mc:Choice>
        <mc:Fallback xmlns="">
          <p:sp>
            <p:nvSpPr>
              <p:cNvPr id="5837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7200" y="1149350"/>
                <a:ext cx="8229600" cy="4981575"/>
              </a:xfrm>
              <a:blipFill>
                <a:blip r:embed="rId3"/>
                <a:stretch>
                  <a:fillRect l="-154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1ED62B2-A08E-8D49-8B56-C24E91379D93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6157664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434" y="277813"/>
            <a:ext cx="8243779" cy="777875"/>
          </a:xfrm>
        </p:spPr>
        <p:txBody>
          <a:bodyPr/>
          <a:lstStyle/>
          <a:p>
            <a:r>
              <a:rPr lang="en-US" dirty="0"/>
              <a:t>The Kerberos KDC Protocol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1514" y="954902"/>
                <a:ext cx="8896569" cy="972815"/>
              </a:xfrm>
            </p:spPr>
            <p:txBody>
              <a:bodyPr/>
              <a:lstStyle/>
              <a:p>
                <a:r>
                  <a:rPr lang="en-US" sz="2000" dirty="0"/>
                  <a:t>KDC shares keys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en-US" sz="2000" dirty="0"/>
                  <a:t> (for encryption),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sz="2000" dirty="0"/>
                  <a:t> (for MAC) with Alice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sz="2000" dirty="0"/>
                  <a:t> with Bob.</a:t>
                </a:r>
              </a:p>
              <a:p>
                <a:r>
                  <a:rPr lang="en-US" sz="2000" dirty="0"/>
                  <a:t>Goal: Alice and Bob share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𝐴𝐵</m:t>
                        </m:r>
                      </m:sub>
                      <m:sup/>
                    </m:sSubSup>
                  </m:oMath>
                </a14:m>
                <a:r>
                  <a:rPr lang="en-US" sz="2000" dirty="0"/>
                  <a:t>, then derive: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KDC performs access control as well; controlling whom Alice can contact.</a:t>
                </a: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br>
                  <a:rPr lang="en-US" sz="2000" dirty="0"/>
                </a:br>
                <a:endParaRPr lang="en-US" sz="2000" dirty="0"/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514" y="954902"/>
                <a:ext cx="8896569" cy="972815"/>
              </a:xfrm>
              <a:blipFill>
                <a:blip r:embed="rId2"/>
                <a:stretch>
                  <a:fillRect l="-571" t="-2597" r="-713" b="-7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B6A17BE-4ED5-AB49-844E-3DFA9A8BE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0" y="2552494"/>
            <a:ext cx="7929680" cy="4080771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A0FF2C7-6AB5-9648-B33A-78245343A721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113902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GSM Handshake Protocol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8938" y="962753"/>
                <a:ext cx="8228013" cy="975719"/>
              </a:xfrm>
            </p:spPr>
            <p:txBody>
              <a:bodyPr/>
              <a:lstStyle/>
              <a:p>
                <a:r>
                  <a:rPr lang="en-US" sz="2000" dirty="0"/>
                  <a:t>Mobile client</a:t>
                </a:r>
              </a:p>
              <a:p>
                <a:pPr lvl="1"/>
                <a:r>
                  <a:rPr lang="en-US" sz="2000" dirty="0"/>
                  <a:t>Identified by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(IMSI: International Mobile Subscriber Identifier)</a:t>
                </a:r>
              </a:p>
              <a:p>
                <a:r>
                  <a:rPr lang="en-US" sz="2000" dirty="0"/>
                  <a:t>Visited network (aka Base station); not fully trusted</a:t>
                </a:r>
              </a:p>
              <a:p>
                <a:r>
                  <a:rPr lang="en-US" sz="2000" dirty="0"/>
                  <a:t>Home network; trusted, shares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with client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938" y="962753"/>
                <a:ext cx="8228013" cy="975719"/>
              </a:xfrm>
              <a:blipFill>
                <a:blip r:embed="rId2"/>
                <a:stretch>
                  <a:fillRect l="-616" t="-2564" b="-74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7ECDC1F-205E-B242-B0E5-2F89699F0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37" y="2623411"/>
            <a:ext cx="6087237" cy="3527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E29A09-ACF8-A740-A5DD-412AEC5FCC32}"/>
                  </a:ext>
                </a:extLst>
              </p:cNvPr>
              <p:cNvSpPr txBox="1"/>
              <p:nvPr/>
            </p:nvSpPr>
            <p:spPr>
              <a:xfrm>
                <a:off x="4727349" y="4919529"/>
                <a:ext cx="402771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A38: derive secret,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,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E29A09-ACF8-A740-A5DD-412AEC5FC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349" y="4919529"/>
                <a:ext cx="4027714" cy="646331"/>
              </a:xfrm>
              <a:prstGeom prst="rect">
                <a:avLst/>
              </a:prstGeom>
              <a:blipFill>
                <a:blip r:embed="rId4"/>
                <a:stretch>
                  <a:fillRect l="-1258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6E43FFE-DD67-4242-928B-CCFE11A7B8DF}"/>
              </a:ext>
            </a:extLst>
          </p:cNvPr>
          <p:cNvSpPr txBox="1"/>
          <p:nvPr/>
        </p:nvSpPr>
        <p:spPr>
          <a:xfrm>
            <a:off x="4727349" y="5565860"/>
            <a:ext cx="391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GSM spec: OWF, but really should be a PRF!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25309440-91FD-354C-8FD0-FE2277CE06E7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00435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B5FA7EA7-7EF3-4ED6-BE19-D5EFEAB50116}"/>
              </a:ext>
            </a:extLst>
          </p:cNvPr>
          <p:cNvSpPr txBox="1"/>
          <p:nvPr/>
        </p:nvSpPr>
        <p:spPr>
          <a:xfrm>
            <a:off x="4962261" y="3235467"/>
            <a:ext cx="346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A5: provide ‘pad’ for encryption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4E5970-2F47-436A-A5F3-5AE435C33B74}"/>
              </a:ext>
            </a:extLst>
          </p:cNvPr>
          <p:cNvSpPr txBox="1"/>
          <p:nvPr/>
        </p:nvSpPr>
        <p:spPr>
          <a:xfrm>
            <a:off x="5008386" y="3630818"/>
            <a:ext cx="2308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Several variants: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A5/1 - `regular’ </a:t>
            </a:r>
          </a:p>
          <a:p>
            <a:r>
              <a:rPr lang="en-US" dirty="0">
                <a:solidFill>
                  <a:schemeClr val="tx1"/>
                </a:solidFill>
              </a:rPr>
              <a:t>A5/2 - `weak’ </a:t>
            </a:r>
          </a:p>
          <a:p>
            <a:r>
              <a:rPr lang="en-US" dirty="0">
                <a:solidFill>
                  <a:schemeClr val="tx1"/>
                </a:solidFill>
              </a:rPr>
              <a:t>A5/3 – more secure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0B9658-B8D4-4A60-90C0-371013F5216E}"/>
              </a:ext>
            </a:extLst>
          </p:cNvPr>
          <p:cNvSpPr txBox="1"/>
          <p:nvPr/>
        </p:nvSpPr>
        <p:spPr>
          <a:xfrm>
            <a:off x="5008386" y="4831147"/>
            <a:ext cx="2755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Really should be a PRF!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9ABF24-7E42-C948-8B19-58419444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2" y="984349"/>
            <a:ext cx="5802086" cy="5247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B17361-4253-9B4C-A5BF-DF97F2EE3C47}"/>
              </a:ext>
            </a:extLst>
          </p:cNvPr>
          <p:cNvSpPr txBox="1"/>
          <p:nvPr/>
        </p:nvSpPr>
        <p:spPr>
          <a:xfrm>
            <a:off x="5011286" y="5224024"/>
            <a:ext cx="32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ECC: error correcting code. Used to allow recovery from errors.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EB01A7F-5D23-EC45-BA7B-367EB7183C69}"/>
              </a:ext>
            </a:extLst>
          </p:cNvPr>
          <p:cNvSpPr txBox="1">
            <a:spLocks/>
          </p:cNvSpPr>
          <p:nvPr/>
        </p:nvSpPr>
        <p:spPr>
          <a:xfrm>
            <a:off x="388938" y="277813"/>
            <a:ext cx="8296275" cy="777875"/>
          </a:xfrm>
          <a:prstGeom prst="rect">
            <a:avLst/>
          </a:prstGeom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5pPr>
            <a:lvl6pPr marL="2514600" indent="-228600" algn="l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6pPr>
            <a:lvl7pPr marL="2971800" indent="-228600" algn="l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7pPr>
            <a:lvl8pPr marL="3429000" indent="-228600" algn="l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8pPr>
            <a:lvl9pPr marL="3886200" indent="-228600" algn="l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4200">
                <a:solidFill>
                  <a:srgbClr val="006633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r>
              <a:rPr lang="en-US" sz="3600" kern="0" dirty="0"/>
              <a:t>Example – Sending two messages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917EBFC-A01F-0D40-891D-CCCAC326FB38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he-IL" altLang="he-IL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D8E48B-38AC-CC41-81FD-60BBF3973405}"/>
              </a:ext>
            </a:extLst>
          </p:cNvPr>
          <p:cNvSpPr txBox="1"/>
          <p:nvPr/>
        </p:nvSpPr>
        <p:spPr>
          <a:xfrm>
            <a:off x="6732114" y="1742075"/>
            <a:ext cx="2760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</a:rPr>
              <a:t>K</a:t>
            </a:r>
            <a:r>
              <a:rPr lang="en-US" i="1" baseline="-25000" dirty="0">
                <a:solidFill>
                  <a:schemeClr val="tx1"/>
                </a:solidFill>
              </a:rPr>
              <a:t>c</a:t>
            </a:r>
            <a:r>
              <a:rPr lang="en-US" dirty="0">
                <a:solidFill>
                  <a:schemeClr val="tx1"/>
                </a:solidFill>
              </a:rPr>
              <a:t> is the session key</a:t>
            </a:r>
          </a:p>
          <a:p>
            <a:r>
              <a:rPr lang="en-US" i="1" dirty="0">
                <a:solidFill>
                  <a:schemeClr val="tx1"/>
                </a:solidFill>
              </a:rPr>
              <a:t>s</a:t>
            </a:r>
            <a:r>
              <a:rPr lang="en-US" dirty="0">
                <a:solidFill>
                  <a:schemeClr val="tx1"/>
                </a:solidFill>
              </a:rPr>
              <a:t> is a secret authenticator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85B04D-271A-C62F-7B85-6A3C8BE43060}"/>
              </a:ext>
            </a:extLst>
          </p:cNvPr>
          <p:cNvSpPr txBox="1"/>
          <p:nvPr/>
        </p:nvSpPr>
        <p:spPr>
          <a:xfrm>
            <a:off x="1066308" y="6190476"/>
            <a:ext cx="2760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(… and so on for more messages)</a:t>
            </a:r>
          </a:p>
        </p:txBody>
      </p:sp>
    </p:spTree>
    <p:extLst>
      <p:ext uri="{BB962C8B-B14F-4D97-AF65-F5344CB8AC3E}">
        <p14:creationId xmlns:p14="http://schemas.microsoft.com/office/powerpoint/2010/main" val="343430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2" grpId="0"/>
      <p:bldP spid="10" grpId="0"/>
      <p:bldP spid="9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dirty="0"/>
              <a:t>Attacks on GSM Handshake Protocol </a:t>
            </a:r>
          </a:p>
        </p:txBody>
      </p:sp>
      <p:sp>
        <p:nvSpPr>
          <p:cNvPr id="583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9350"/>
            <a:ext cx="8229600" cy="4981575"/>
          </a:xfrm>
        </p:spPr>
        <p:txBody>
          <a:bodyPr/>
          <a:lstStyle/>
          <a:p>
            <a:pPr marL="341313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/>
              <a:t>We will explore two attacks:</a:t>
            </a:r>
          </a:p>
          <a:p>
            <a:pPr marL="798513" lvl="1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/>
              <a:t>Visited network impersonation replay attack.</a:t>
            </a:r>
          </a:p>
          <a:p>
            <a:pPr marL="1141413" lvl="2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/>
              <a:t>We will study this one in detail.</a:t>
            </a:r>
          </a:p>
          <a:p>
            <a:pPr marL="798513" lvl="1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 err="1"/>
              <a:t>Ciphersuite</a:t>
            </a:r>
            <a:r>
              <a:rPr lang="en-US" altLang="en-US" dirty="0"/>
              <a:t> downgrade attack.</a:t>
            </a:r>
          </a:p>
          <a:p>
            <a:pPr marL="1141413" lvl="2" indent="-341313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/>
              <a:t>Only high-level description.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1ED62B2-A08E-8D49-8B56-C24E91379D93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42393300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itle 1"/>
          <p:cNvSpPr>
            <a:spLocks noGrp="1"/>
          </p:cNvSpPr>
          <p:nvPr>
            <p:ph type="title" idx="4294967295"/>
          </p:nvPr>
        </p:nvSpPr>
        <p:spPr>
          <a:xfrm>
            <a:off x="178650" y="670910"/>
            <a:ext cx="2760491" cy="506026"/>
          </a:xfrm>
        </p:spPr>
        <p:txBody>
          <a:bodyPr/>
          <a:lstStyle/>
          <a:p>
            <a:pPr eaLnBrk="1" hangingPunct="1"/>
            <a:r>
              <a:rPr lang="en-US" altLang="he-IL" sz="3200" dirty="0"/>
              <a:t>Visited-network Impersonation Attack</a:t>
            </a:r>
            <a:endParaRPr lang="he-IL" altLang="he-IL" sz="3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F7899E-4121-4FF6-930D-4530CF528F29}"/>
              </a:ext>
            </a:extLst>
          </p:cNvPr>
          <p:cNvSpPr txBox="1"/>
          <p:nvPr/>
        </p:nvSpPr>
        <p:spPr>
          <a:xfrm>
            <a:off x="178649" y="2216315"/>
            <a:ext cx="2760491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Note: does NOT </a:t>
            </a:r>
          </a:p>
          <a:p>
            <a:r>
              <a:rPr lang="en-US" sz="1600" dirty="0">
                <a:solidFill>
                  <a:schemeClr val="tx1"/>
                </a:solidFill>
              </a:rPr>
              <a:t>Impersonate </a:t>
            </a:r>
            <a:r>
              <a:rPr lang="en-US" sz="1600" b="1" dirty="0">
                <a:solidFill>
                  <a:schemeClr val="tx1"/>
                </a:solidFill>
              </a:rPr>
              <a:t>mobile,</a:t>
            </a:r>
            <a:r>
              <a:rPr lang="en-US" sz="1600" dirty="0">
                <a:solidFill>
                  <a:schemeClr val="tx1"/>
                </a:solidFill>
              </a:rPr>
              <a:t> only Visited network.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C6C89A-13C2-E14E-B32C-AF20542E3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049" y="235322"/>
            <a:ext cx="6085703" cy="6622677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268B521-F541-AE47-8AA4-E6C30D0B679C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he-IL" altLang="he-IL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1DABC-962E-E24F-B6F9-9E1A7C363E77}"/>
              </a:ext>
            </a:extLst>
          </p:cNvPr>
          <p:cNvSpPr txBox="1"/>
          <p:nvPr/>
        </p:nvSpPr>
        <p:spPr>
          <a:xfrm>
            <a:off x="178648" y="3334376"/>
            <a:ext cx="2760491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In the cryptanalysis phase, the attacker exposes Kc based on the cyphertexts it collected in the eavesdropping phase (recall A5/1 and A5/2 are not secure).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AF214-7411-0565-F9FD-FB6EAF209567}"/>
              </a:ext>
            </a:extLst>
          </p:cNvPr>
          <p:cNvSpPr txBox="1"/>
          <p:nvPr/>
        </p:nvSpPr>
        <p:spPr>
          <a:xfrm>
            <a:off x="178648" y="4721216"/>
            <a:ext cx="2760491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In the impersonate phase, the attacker will send the same r and s from before (replay attack), which will lead to the same Kc he obtained in the cryptanalysis phase. </a:t>
            </a:r>
          </a:p>
        </p:txBody>
      </p:sp>
    </p:spTree>
    <p:extLst>
      <p:ext uri="{BB962C8B-B14F-4D97-AF65-F5344CB8AC3E}">
        <p14:creationId xmlns:p14="http://schemas.microsoft.com/office/powerpoint/2010/main" val="56677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8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503542" cy="777875"/>
          </a:xfrm>
        </p:spPr>
        <p:txBody>
          <a:bodyPr/>
          <a:lstStyle/>
          <a:p>
            <a:pPr eaLnBrk="1" hangingPunct="1"/>
            <a:r>
              <a:rPr lang="en-US" altLang="he-IL" dirty="0"/>
              <a:t>GSM </a:t>
            </a:r>
            <a:r>
              <a:rPr lang="en-US" altLang="he-IL" dirty="0" err="1"/>
              <a:t>Ciphersuite</a:t>
            </a:r>
            <a:r>
              <a:rPr lang="en-US" altLang="he-IL" dirty="0"/>
              <a:t> Downgrade Attack</a:t>
            </a:r>
            <a:endParaRPr lang="he-IL" alt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939006"/>
                <a:ext cx="8640960" cy="4979988"/>
              </a:xfrm>
            </p:spPr>
            <p:txBody>
              <a:bodyPr/>
              <a:lstStyle/>
              <a:p>
                <a:pPr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/>
                  <a:t>A </a:t>
                </a:r>
                <a:r>
                  <a:rPr lang="en-US" sz="1800" dirty="0" err="1"/>
                  <a:t>ciphersuite</a:t>
                </a:r>
                <a:r>
                  <a:rPr lang="en-US" sz="1800" dirty="0"/>
                  <a:t> is the set of cryptographic schemes used in a protocol execution.</a:t>
                </a:r>
              </a:p>
              <a:p>
                <a:pPr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 err="1">
                    <a:sym typeface="Wingdings" panose="05000000000000000000" pitchFamily="2" charset="2"/>
                  </a:rPr>
                  <a:t>Ciphersuite</a:t>
                </a:r>
                <a:r>
                  <a:rPr lang="en-US" sz="1800" dirty="0">
                    <a:sym typeface="Wingdings" panose="05000000000000000000" pitchFamily="2" charset="2"/>
                  </a:rPr>
                  <a:t> negotiation:</a:t>
                </a:r>
              </a:p>
              <a:p>
                <a:pPr lvl="1"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>
                    <a:sym typeface="Wingdings" panose="05000000000000000000" pitchFamily="2" charset="2"/>
                  </a:rPr>
                  <a:t>Mobile sends a list of cipher-suites it supports</a:t>
                </a:r>
              </a:p>
              <a:p>
                <a:pPr lvl="1"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>
                    <a:sym typeface="Wingdings" panose="05000000000000000000" pitchFamily="2" charset="2"/>
                  </a:rPr>
                  <a:t>Visited-network selects best one (the strongest/most secure) that it also supports</a:t>
                </a:r>
              </a:p>
              <a:p>
                <a:pPr lvl="1"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>
                    <a:sym typeface="Wingdings" panose="05000000000000000000" pitchFamily="2" charset="2"/>
                  </a:rPr>
                  <a:t>Goal of negotiation is to support interoperability between devices of different capabilities.</a:t>
                </a:r>
                <a:endParaRPr lang="en-US" sz="1800" dirty="0"/>
              </a:p>
              <a:p>
                <a:pPr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/>
                  <a:t>GSM encryption algorithms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</a:p>
              <a:p>
                <a:pPr marL="857250" lvl="1" indent="-457200"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/>
                  <a:t>A5/0: none, A5/1: broken, </a:t>
                </a:r>
                <a:r>
                  <a:rPr lang="en-US" sz="1800" dirty="0">
                    <a:solidFill>
                      <a:srgbClr val="FF0000"/>
                    </a:solidFill>
                  </a:rPr>
                  <a:t>A5/2: useless (break with only 1sec), </a:t>
                </a:r>
                <a:r>
                  <a:rPr lang="en-US" sz="1800" dirty="0"/>
                  <a:t>A5/3: ‘other’</a:t>
                </a:r>
              </a:p>
              <a:p>
                <a:pPr marL="400050"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/>
                  <a:t>A MitM attacker may trick these parties to use a weak suite although the parties can support a stronger one.</a:t>
                </a:r>
              </a:p>
              <a:p>
                <a:pPr marL="857250" lvl="1"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/>
                  <a:t>It works due to key reuse in GSM (same key is used across various encryption schemes).</a:t>
                </a:r>
              </a:p>
              <a:p>
                <a:pPr marL="400050" eaLnBrk="1" hangingPunct="1">
                  <a:buFont typeface="Arial" pitchFamily="34" charset="0"/>
                  <a:buChar char="•"/>
                  <a:defRPr/>
                </a:pPr>
                <a:r>
                  <a:rPr lang="en-US" sz="1800" dirty="0"/>
                  <a:t>For full details, see the textbook.</a:t>
                </a:r>
              </a:p>
              <a:p>
                <a:pPr eaLnBrk="1" hangingPunct="1">
                  <a:buFont typeface="Arial" pitchFamily="34" charset="0"/>
                  <a:buChar char="•"/>
                  <a:defRPr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939006"/>
                <a:ext cx="8640960" cy="4979988"/>
              </a:xfrm>
              <a:blipFill>
                <a:blip r:embed="rId2"/>
                <a:stretch>
                  <a:fillRect l="-440" t="-254" b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6D383-EEE6-8C43-B912-66496C3D3C06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3114077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2888569"/>
          </a:xfrm>
        </p:spPr>
        <p:txBody>
          <a:bodyPr/>
          <a:lstStyle/>
          <a:p>
            <a:pPr algn="ctr"/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Improving Resiliency to Key Exposure</a:t>
            </a: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br>
              <a:rPr lang="en-US" alt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endParaRPr lang="en-US" sz="3000" i="1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DE76CF0-FF21-194E-BB71-43D5B788A458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948231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400" dirty="0"/>
              <a:t>Forward Secrecy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85789" y="1073089"/>
                <a:ext cx="8568952" cy="2116159"/>
              </a:xfrm>
            </p:spPr>
            <p:txBody>
              <a:bodyPr/>
              <a:lstStyle/>
              <a:p>
                <a:pPr marL="341313" indent="-341313" eaLnBrk="1" hangingPunct="1">
                  <a:lnSpc>
                    <a:spcPct val="90000"/>
                  </a:lnSpc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b="1" dirty="0">
                    <a:solidFill>
                      <a:schemeClr val="tx1"/>
                    </a:solidFill>
                  </a:rPr>
                  <a:t>So far: </a:t>
                </a:r>
                <a:r>
                  <a:rPr lang="en-US" altLang="en-US" sz="2400" dirty="0">
                    <a:solidFill>
                      <a:schemeClr val="tx1"/>
                    </a:solidFill>
                  </a:rPr>
                  <a:t>session key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⇏</m:t>
                    </m:r>
                    <m:sSubSup>
                      <m:sSubSup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</a:rPr>
                  <a:t> (expose no other keys) 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And master key was fixed for all sessions</a:t>
                </a:r>
              </a:p>
              <a:p>
                <a:pPr marL="341313" indent="-341313" eaLnBrk="1" hangingPunct="1">
                  <a:lnSpc>
                    <a:spcPct val="90000"/>
                  </a:lnSpc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rgbClr val="FF0000"/>
                    </a:solidFill>
                  </a:rPr>
                  <a:t>Idea: we can do better!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rgbClr val="FF0000"/>
                    </a:solidFill>
                  </a:rPr>
                  <a:t>Change the master key each session: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alt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alt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altLang="en-US" sz="2400" dirty="0">
                  <a:solidFill>
                    <a:srgbClr val="FF0000"/>
                  </a:solidFill>
                </a:endParaRPr>
              </a:p>
              <a:p>
                <a:pPr marL="341313" indent="-341313" eaLnBrk="1" hangingPunct="1">
                  <a:lnSpc>
                    <a:spcPct val="90000"/>
                  </a:lnSpc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b="1" dirty="0">
                    <a:solidFill>
                      <a:schemeClr val="tx1"/>
                    </a:solidFill>
                  </a:rPr>
                  <a:t>Forward Secrecy (FS): </a:t>
                </a:r>
                <a:r>
                  <a:rPr lang="en-US" altLang="en-US" sz="2400" u="sng" dirty="0"/>
                  <a:t>master</a:t>
                </a:r>
                <a:r>
                  <a:rPr lang="en-US" altLang="en-US" sz="2400" dirty="0"/>
                  <a:t> key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altLang="en-US" sz="2400" i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⇏</m:t>
                    </m:r>
                    <m:sSub>
                      <m:sSub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I.e.,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</a:rPr>
                  <a:t>(and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</a:rPr>
                  <a:t>) don’t expose </a:t>
                </a:r>
                <a:r>
                  <a:rPr lang="en-US" altLang="en-US" sz="2400" dirty="0"/>
                  <a:t>keys, communication of </a:t>
                </a:r>
                <a:r>
                  <a:rPr lang="en-US" altLang="en-US" sz="2400" u="sng" dirty="0"/>
                  <a:t>previous</a:t>
                </a:r>
                <a:r>
                  <a:rPr lang="en-US" altLang="en-US" sz="2400" dirty="0"/>
                  <a:t> sessions </a:t>
                </a:r>
                <a14:m>
                  <m:oMath xmlns:m="http://schemas.openxmlformats.org/officeDocument/2006/math">
                    <m:r>
                      <a:rPr lang="en-U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</a:rPr>
                  <a:t> </a:t>
                </a:r>
                <a:endParaRPr lang="en-US" altLang="en-US" sz="2400" dirty="0"/>
              </a:p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endParaRPr lang="en-US" altLang="en-US" sz="2800" dirty="0"/>
              </a:p>
            </p:txBody>
          </p:sp>
        </mc:Choice>
        <mc:Fallback xmlns="">
          <p:sp>
            <p:nvSpPr>
              <p:cNvPr id="501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85789" y="1073089"/>
                <a:ext cx="8568952" cy="2116159"/>
              </a:xfrm>
              <a:blipFill>
                <a:blip r:embed="rId3"/>
                <a:stretch>
                  <a:fillRect l="-296" t="-2976" b="-4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5F9A185E-9CC8-F345-9267-997A09AB75E7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18598200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4ADE-5E61-1B66-C652-EB3ACB21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>
            <a:extLst>
              <a:ext uri="{FF2B5EF4-FFF2-40B4-BE49-F238E27FC236}">
                <a16:creationId xmlns:a16="http://schemas.microsoft.com/office/drawing/2014/main" id="{898F826B-896B-00C3-86E3-5ACD2E7BA8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400" dirty="0"/>
              <a:t>Forward Secrecy 2PP Key Exchange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Rectangle 3">
                <a:extLst>
                  <a:ext uri="{FF2B5EF4-FFF2-40B4-BE49-F238E27FC236}">
                    <a16:creationId xmlns:a16="http://schemas.microsoft.com/office/drawing/2014/main" id="{BA52E1EC-06E9-63C6-ABA2-A75623E53066}"/>
                  </a:ext>
                </a:extLst>
              </p:cNvPr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87524" y="1200680"/>
                <a:ext cx="8568952" cy="1404297"/>
              </a:xfrm>
            </p:spPr>
            <p:txBody>
              <a:bodyPr/>
              <a:lstStyle/>
              <a:p>
                <a:pPr marL="341313" indent="-341313" eaLnBrk="1" hangingPunct="1">
                  <a:lnSpc>
                    <a:spcPct val="90000"/>
                  </a:lnSpc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This protocol generates a different master key for each session (or period ) </a:t>
                </a: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denoted</m:t>
                    </m:r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as</m:t>
                    </m:r>
                    <m:r>
                      <a:rPr lang="en-US" alt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en-US" altLang="en-US" sz="2400" dirty="0"/>
              </a:p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The initial master key shared between the parties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50183" name="Rectangle 3">
                <a:extLst>
                  <a:ext uri="{FF2B5EF4-FFF2-40B4-BE49-F238E27FC236}">
                    <a16:creationId xmlns:a16="http://schemas.microsoft.com/office/drawing/2014/main" id="{BA52E1EC-06E9-63C6-ABA2-A75623E53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87524" y="1200680"/>
                <a:ext cx="8568952" cy="1404297"/>
              </a:xfrm>
              <a:blipFill>
                <a:blip r:embed="rId3"/>
                <a:stretch>
                  <a:fillRect l="-148" t="-6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F5DA7A3-F8ED-74DA-BC76-9E83556949B0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he-IL" altLang="he-IL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2D613E-48ED-CA10-1B80-699391BDC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05" y="2781719"/>
            <a:ext cx="7169415" cy="260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2422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6031" y="305707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400" dirty="0"/>
              <a:t>Forward Secrecy 2PP Key Exchange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350874" y="1068099"/>
                <a:ext cx="8397590" cy="1568813"/>
              </a:xfrm>
            </p:spPr>
            <p:txBody>
              <a:bodyPr/>
              <a:lstStyle/>
              <a:p>
                <a:pPr marL="341313" indent="-341313" eaLnBrk="1" hangingPunct="1">
                  <a:lnSpc>
                    <a:spcPct val="90000"/>
                  </a:lnSpc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This protocol produces </a:t>
                </a:r>
                <a:r>
                  <a:rPr lang="en-US" altLang="en-US" sz="2400" dirty="0">
                    <a:solidFill>
                      <a:srgbClr val="FF0000"/>
                    </a:solidFill>
                  </a:rPr>
                  <a:t>unidirectional</a:t>
                </a:r>
                <a:r>
                  <a:rPr lang="en-US" altLang="en-US" sz="2400" dirty="0">
                    <a:solidFill>
                      <a:schemeClr val="tx1"/>
                    </a:solidFill>
                  </a:rPr>
                  <a:t> master keys:</a:t>
                </a:r>
              </a:p>
              <a:p>
                <a:pPr marL="0" indent="0" algn="ctr" eaLnBrk="1" hangingPunct="1">
                  <a:lnSpc>
                    <a:spcPct val="90000"/>
                  </a:lnSpc>
                  <a:spcBef>
                    <a:spcPts val="650"/>
                  </a:spcBef>
                  <a:buClr>
                    <a:srgbClr val="CC9900"/>
                  </a:buClr>
                  <a:buSzPct val="65000"/>
                  <a:buNone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bSup>
                      <m:sSubSup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</a:rPr>
                  <a:t> but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⇏</m:t>
                    </m:r>
                    <m:sSubSup>
                      <m:sSubSupPr>
                        <m:ctrlP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endParaRPr lang="en-US" altLang="en-US" sz="2400" dirty="0"/>
              </a:p>
              <a:p>
                <a:pPr marL="341313" indent="-341313" eaLnBrk="1" hangingPunct="1">
                  <a:lnSpc>
                    <a:spcPct val="90000"/>
                  </a:lnSpc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Exposing a session master key does not impact prior sessions.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But future sessions will be exposed!	</a:t>
                </a:r>
              </a:p>
            </p:txBody>
          </p:sp>
        </mc:Choice>
        <mc:Fallback xmlns="">
          <p:sp>
            <p:nvSpPr>
              <p:cNvPr id="501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50874" y="1068099"/>
                <a:ext cx="8397590" cy="1568813"/>
              </a:xfrm>
              <a:blipFill>
                <a:blip r:embed="rId3"/>
                <a:stretch>
                  <a:fillRect l="-302" t="-5645" b="-37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D66D64CE-B793-C14F-96E8-0DC39DDDDA27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he-IL" altLang="he-IL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AA210-84AC-B78D-1C0D-21EEFFB33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39" y="3429000"/>
            <a:ext cx="7167195" cy="203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4522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4400" dirty="0"/>
              <a:t>Recover Security (RS)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183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85789" y="1073089"/>
                <a:ext cx="8684796" cy="3945477"/>
              </a:xfrm>
            </p:spPr>
            <p:txBody>
              <a:bodyPr/>
              <a:lstStyle/>
              <a:p>
                <a:pPr marL="341313" indent="-341313" eaLnBrk="1" hangingPunct="1">
                  <a:lnSpc>
                    <a:spcPct val="90000"/>
                  </a:lnSpc>
                  <a:spcBef>
                    <a:spcPts val="650"/>
                  </a:spcBef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>
                    <a:solidFill>
                      <a:schemeClr val="tx1"/>
                    </a:solidFill>
                  </a:rPr>
                  <a:t> Can we </a:t>
                </a:r>
                <a:r>
                  <a:rPr lang="en-US" altLang="en-US" sz="2400" b="1" dirty="0">
                    <a:solidFill>
                      <a:schemeClr val="tx1"/>
                    </a:solidFill>
                  </a:rPr>
                  <a:t>recover </a:t>
                </a:r>
                <a:r>
                  <a:rPr lang="en-US" altLang="en-US" sz="2400" dirty="0">
                    <a:solidFill>
                      <a:schemeClr val="tx1"/>
                    </a:solidFill>
                  </a:rPr>
                  <a:t>security? So,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altLang="en-US" sz="2400" dirty="0">
                    <a:solidFill>
                      <a:srgbClr val="FF0000"/>
                    </a:solidFill>
                  </a:rPr>
                  <a:t>is exposed, yet future sessions can remain secure? 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Idea: assume </a:t>
                </a:r>
                <a:r>
                  <a:rPr lang="en-US" altLang="en-US" sz="2400" b="1" dirty="0"/>
                  <a:t>no attack</a:t>
                </a:r>
                <a:r>
                  <a:rPr lang="en-US" altLang="en-US" sz="2400" dirty="0"/>
                  <a:t> during a ‘recovery session’.</a:t>
                </a:r>
              </a:p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Thus, recover security means that </a:t>
                </a:r>
                <a:r>
                  <a:rPr lang="en-US" altLang="en-US" sz="2400" b="1" i="1" dirty="0"/>
                  <a:t>a single session </a:t>
                </a:r>
                <a:r>
                  <a:rPr lang="en-US" altLang="en-US" sz="2400" dirty="0"/>
                  <a:t>without eavesdropping or other attacks suffices to recover security from previous key exposures.</a:t>
                </a:r>
              </a:p>
              <a:p>
                <a:pPr marL="341313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We can achieve that using a modified version of the 2PP protocol key exchange protocol (se next slide).</a:t>
                </a:r>
              </a:p>
              <a:p>
                <a:pPr marL="798513" lvl="1" indent="-341313" eaLnBrk="1" hangingPunct="1">
                  <a:lnSpc>
                    <a:spcPct val="90000"/>
                  </a:lnSpc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Char char=""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400" dirty="0"/>
                  <a:t>Thus, we get </a:t>
                </a:r>
                <a:r>
                  <a:rPr lang="en-US" altLang="en-US" sz="2400" b="1" dirty="0"/>
                  <a:t>BOTH</a:t>
                </a:r>
                <a:r>
                  <a:rPr lang="en-US" altLang="en-US" sz="2400" dirty="0"/>
                  <a:t> forward secrecy and recover security with this protocol.</a:t>
                </a:r>
              </a:p>
            </p:txBody>
          </p:sp>
        </mc:Choice>
        <mc:Fallback>
          <p:sp>
            <p:nvSpPr>
              <p:cNvPr id="5018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85789" y="1073089"/>
                <a:ext cx="8684796" cy="3945477"/>
              </a:xfrm>
              <a:blipFill>
                <a:blip r:embed="rId3"/>
                <a:stretch>
                  <a:fillRect l="-292" t="-1923" r="-1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FDF9F40C-5555-7A4E-836D-FD59CD4279F4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229714039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4BCDE-30DC-8C9A-9562-5E04BD6E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2">
            <a:extLst>
              <a:ext uri="{FF2B5EF4-FFF2-40B4-BE49-F238E27FC236}">
                <a16:creationId xmlns:a16="http://schemas.microsoft.com/office/drawing/2014/main" id="{D9870CC2-2C96-D614-B3AF-4424E3D8FA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290513"/>
            <a:ext cx="8153400" cy="7334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800" dirty="0"/>
              <a:t>2PP Key Exchange with RS and FS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031321D-DE1A-F3B5-954F-B90F0A013ECB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he-IL" altLang="he-IL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7CD846-AB39-B589-B9F1-5EBD822E7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42869"/>
            <a:ext cx="9048307" cy="23559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EC8026-9678-580B-E55C-3D84C1A5C8F8}"/>
              </a:ext>
            </a:extLst>
          </p:cNvPr>
          <p:cNvSpPr/>
          <p:nvPr/>
        </p:nvSpPr>
        <p:spPr bwMode="auto">
          <a:xfrm>
            <a:off x="1924493" y="3114381"/>
            <a:ext cx="478465" cy="202018"/>
          </a:xfrm>
          <a:prstGeom prst="rect">
            <a:avLst/>
          </a:prstGeom>
          <a:solidFill>
            <a:srgbClr val="FFD1D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2B5A2-F60D-5620-9CA7-FC58E7102F97}"/>
              </a:ext>
            </a:extLst>
          </p:cNvPr>
          <p:cNvSpPr txBox="1"/>
          <p:nvPr/>
        </p:nvSpPr>
        <p:spPr>
          <a:xfrm>
            <a:off x="313015" y="5115543"/>
            <a:ext cx="8517969" cy="1015663"/>
          </a:xfrm>
          <a:prstGeom prst="rect">
            <a:avLst/>
          </a:prstGeom>
          <a:noFill/>
          <a:ln w="19050">
            <a:solidFill>
              <a:srgbClr val="FF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So now generating a session master key not only requires prior session master key but also the random nonces that the parties exchanged in the session (as part of the 2PP protocol).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5F5D35E-733C-79F1-4FE4-1BFBD028F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01" y="1152503"/>
            <a:ext cx="8684796" cy="73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457200" indent="-457200" algn="l" defTabSz="457200" rtl="0" eaLnBrk="0" fontAlgn="base" hangingPunct="0">
              <a:spcBef>
                <a:spcPts val="7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  <a:defRPr sz="3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457200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  <a:defRPr sz="2600">
                <a:solidFill>
                  <a:srgbClr val="000000"/>
                </a:solidFill>
                <a:latin typeface="+mn-lt"/>
                <a:cs typeface="+mn-cs"/>
              </a:defRPr>
            </a:lvl2pPr>
            <a:lvl3pPr marL="1257300" indent="-342900" algn="l" defTabSz="457200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  <a:defRPr sz="2200">
                <a:solidFill>
                  <a:srgbClr val="000000"/>
                </a:solidFill>
                <a:latin typeface="+mn-lt"/>
                <a:cs typeface="+mn-cs"/>
              </a:defRPr>
            </a:lvl3pPr>
            <a:lvl4pPr marL="1714500" indent="-3429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+mn-lt"/>
                <a:cs typeface="+mn-cs"/>
              </a:defRPr>
            </a:lvl4pPr>
            <a:lvl5pPr marL="2171700" indent="-342900" algn="l" defTabSz="457200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  <a:defRPr sz="2000">
                <a:solidFill>
                  <a:srgbClr val="000000"/>
                </a:solidFill>
                <a:latin typeface="+mn-lt"/>
                <a:cs typeface="+mn-cs"/>
              </a:defRPr>
            </a:lvl5pPr>
            <a:lvl6pPr marL="2514600" indent="-228600" algn="l" defTabSz="457200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6pPr>
            <a:lvl7pPr marL="2971800" indent="-228600" algn="l" defTabSz="457200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7pPr>
            <a:lvl8pPr marL="3429000" indent="-228600" algn="l" defTabSz="457200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8pPr>
            <a:lvl9pPr marL="3886200" indent="-228600" algn="l" defTabSz="457200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000">
                <a:solidFill>
                  <a:srgbClr val="000000"/>
                </a:solidFill>
                <a:latin typeface="+mn-lt"/>
                <a:cs typeface="+mn-cs"/>
              </a:defRPr>
            </a:lvl9pPr>
          </a:lstStyle>
          <a:p>
            <a:pPr marL="341313" indent="-341313" eaLnBrk="1" hangingPunct="1">
              <a:lnSpc>
                <a:spcPct val="90000"/>
              </a:lnSpc>
              <a:spcBef>
                <a:spcPts val="65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400" kern="0" dirty="0">
                <a:solidFill>
                  <a:schemeClr val="tx1"/>
                </a:solidFill>
              </a:rPr>
              <a:t> Run the 2PP key exchange protocol from before but generate the master session keys in a slightly different way.</a:t>
            </a:r>
          </a:p>
          <a:p>
            <a:pPr marL="798513" lvl="1" indent="-341313" eaLnBrk="1" hangingPunct="1">
              <a:lnSpc>
                <a:spcPct val="90000"/>
              </a:lnSpc>
              <a:buClr>
                <a:srgbClr val="CC9900"/>
              </a:buClr>
              <a:buSzPct val="65000"/>
              <a:buFont typeface="Wingdings" panose="05000000000000000000" pitchFamily="2" charset="2"/>
              <a:buChar char="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kern="0" dirty="0">
                <a:solidFill>
                  <a:schemeClr val="tx1"/>
                </a:solidFill>
              </a:rPr>
              <a:t>And of course, you get recover security if there is a single session that is attack free.</a:t>
            </a:r>
            <a:endParaRPr lang="en-US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116594180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Covered Material From the Textbook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he-IL" sz="2400" dirty="0">
                <a:sym typeface="Wingdings" panose="05000000000000000000" pitchFamily="2" charset="2"/>
              </a:rPr>
              <a:t>Chapter 5</a:t>
            </a:r>
          </a:p>
          <a:p>
            <a:pPr lvl="1"/>
            <a:r>
              <a:rPr lang="en-US" altLang="he-IL" sz="2400" dirty="0">
                <a:sym typeface="Wingdings" panose="05000000000000000000" pitchFamily="2" charset="2"/>
              </a:rPr>
              <a:t>Section 5.3</a:t>
            </a:r>
          </a:p>
          <a:p>
            <a:pPr lvl="1"/>
            <a:r>
              <a:rPr lang="en-US" altLang="he-IL" sz="2400" dirty="0">
                <a:sym typeface="Wingdings" panose="05000000000000000000" pitchFamily="2" charset="2"/>
              </a:rPr>
              <a:t>Section 5.4 </a:t>
            </a:r>
          </a:p>
          <a:p>
            <a:pPr lvl="1"/>
            <a:r>
              <a:rPr lang="en-US" altLang="he-IL" sz="2400" dirty="0">
                <a:sym typeface="Wingdings" panose="05000000000000000000" pitchFamily="2" charset="2"/>
              </a:rPr>
              <a:t>Section 5.5</a:t>
            </a:r>
          </a:p>
          <a:p>
            <a:pPr lvl="2"/>
            <a:r>
              <a:rPr lang="en-US" altLang="he-IL" sz="2400" dirty="0">
                <a:sym typeface="Wingdings" panose="05000000000000000000" pitchFamily="2" charset="2"/>
              </a:rPr>
              <a:t>Except Sections 5.5.4 and 5.5.5 (only what we covered in class about these subsections)</a:t>
            </a:r>
          </a:p>
          <a:p>
            <a:pPr lvl="1"/>
            <a:r>
              <a:rPr lang="en-US" altLang="he-IL" sz="2400" dirty="0">
                <a:sym typeface="Wingdings" panose="05000000000000000000" pitchFamily="2" charset="2"/>
              </a:rPr>
              <a:t>Section 5.6</a:t>
            </a:r>
          </a:p>
          <a:p>
            <a:pPr lvl="2"/>
            <a:r>
              <a:rPr lang="en-US" altLang="he-IL" sz="2400" dirty="0">
                <a:sym typeface="Wingdings" panose="05000000000000000000" pitchFamily="2" charset="2"/>
              </a:rPr>
              <a:t>Except Section 5.6.3</a:t>
            </a:r>
            <a:endParaRPr lang="en-US" altLang="he-I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048-DF9C-5B47-A4EF-7C5EDDA5A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044300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3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8C4CAAF-33E3-504B-B941-4FF43CEC4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35" y="2071095"/>
            <a:ext cx="7620000" cy="394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0D077-621F-A84F-9559-72206C7D7669}"/>
              </a:ext>
            </a:extLst>
          </p:cNvPr>
          <p:cNvSpPr/>
          <p:nvPr/>
        </p:nvSpPr>
        <p:spPr>
          <a:xfrm>
            <a:off x="2626500" y="7575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923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14303</TotalTime>
  <Words>2165</Words>
  <Application>Microsoft Macintosh PowerPoint</Application>
  <PresentationFormat>On-screen Show (4:3)</PresentationFormat>
  <Paragraphs>275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Cambria Math</vt:lpstr>
      <vt:lpstr>Garamond</vt:lpstr>
      <vt:lpstr>Symbol</vt:lpstr>
      <vt:lpstr>Times New Roman</vt:lpstr>
      <vt:lpstr>Wingdings</vt:lpstr>
      <vt:lpstr>Office Theme</vt:lpstr>
      <vt:lpstr>CSE 3400/CSE 5850 - Introduction to Cryptography and Cybersecurity  / Introduction to Cybersecurity  Lecture 9 Shared Key Protocols – Part II </vt:lpstr>
      <vt:lpstr>Outline</vt:lpstr>
      <vt:lpstr>   Handshake Protocol Extensions  </vt:lpstr>
      <vt:lpstr>Authenticated Request-Response Protocols</vt:lpstr>
      <vt:lpstr>Authenticated Request-Response Protocols</vt:lpstr>
      <vt:lpstr>2PP-RR</vt:lpstr>
      <vt:lpstr>2RT-2PP</vt:lpstr>
      <vt:lpstr>Counter-based Authenticated RR</vt:lpstr>
      <vt:lpstr>Time-Based Authenticated RR</vt:lpstr>
      <vt:lpstr>2RT-2PP with Confidentiality</vt:lpstr>
      <vt:lpstr>2PP Key Exchange Protocol</vt:lpstr>
      <vt:lpstr>   Key Distribution Centers (KDCs)  Establish a shared key between two or more entities, usually with the help of a trusted third party referred to as KDC</vt:lpstr>
      <vt:lpstr>Key Distribution Center (KDC)</vt:lpstr>
      <vt:lpstr>The Kerberos KDC Protocol</vt:lpstr>
      <vt:lpstr>The GSM Handshake Protocol</vt:lpstr>
      <vt:lpstr>PowerPoint Presentation</vt:lpstr>
      <vt:lpstr>Attacks on GSM Handshake Protocol </vt:lpstr>
      <vt:lpstr>Visited-network Impersonation Attack</vt:lpstr>
      <vt:lpstr>GSM Ciphersuite Downgrade Attack</vt:lpstr>
      <vt:lpstr>   Improving Resiliency to Key Exposure  </vt:lpstr>
      <vt:lpstr>Forward Secrecy</vt:lpstr>
      <vt:lpstr>Forward Secrecy 2PP Key Exchange</vt:lpstr>
      <vt:lpstr>Forward Secrecy 2PP Key Exchange</vt:lpstr>
      <vt:lpstr>Recover Security (RS)</vt:lpstr>
      <vt:lpstr>2PP Key Exchange with RS and FS</vt:lpstr>
      <vt:lpstr>Covered Material From the 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Cryptanalysis-tolerant Hashing and Commitment</dc:title>
  <dc:creator>Amir Herzberg</dc:creator>
  <cp:lastModifiedBy>Almashaqbeh, Ghada</cp:lastModifiedBy>
  <cp:revision>76</cp:revision>
  <cp:lastPrinted>2026-10-09T13:24:09Z</cp:lastPrinted>
  <dcterms:created xsi:type="dcterms:W3CDTF">2003-03-23T06:19:47Z</dcterms:created>
  <dcterms:modified xsi:type="dcterms:W3CDTF">2026-10-11T13:01:50Z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