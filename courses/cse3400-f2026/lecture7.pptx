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</p:sldMasterIdLst>
  <p:notesMasterIdLst>
    <p:notesMasterId r:id="rId21"/>
  </p:notesMasterIdLst>
  <p:handoutMasterIdLst>
    <p:handoutMasterId r:id="rId22"/>
  </p:handoutMasterIdLst>
  <p:sldIdLst>
    <p:sldId id="1009" r:id="rId2"/>
    <p:sldId id="591" r:id="rId3"/>
    <p:sldId id="821" r:id="rId4"/>
    <p:sldId id="823" r:id="rId5"/>
    <p:sldId id="934" r:id="rId6"/>
    <p:sldId id="1008" r:id="rId7"/>
    <p:sldId id="1003" r:id="rId8"/>
    <p:sldId id="1011" r:id="rId9"/>
    <p:sldId id="958" r:id="rId10"/>
    <p:sldId id="960" r:id="rId11"/>
    <p:sldId id="998" r:id="rId12"/>
    <p:sldId id="999" r:id="rId13"/>
    <p:sldId id="1012" r:id="rId14"/>
    <p:sldId id="954" r:id="rId15"/>
    <p:sldId id="1005" r:id="rId16"/>
    <p:sldId id="1013" r:id="rId17"/>
    <p:sldId id="1010" r:id="rId18"/>
    <p:sldId id="601" r:id="rId19"/>
    <p:sldId id="592" r:id="rId20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3144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FF00FF"/>
    <a:srgbClr val="0000FF"/>
    <a:srgbClr val="CCFFFF"/>
    <a:srgbClr val="EE1222"/>
    <a:srgbClr val="FF0000"/>
    <a:srgbClr val="FFCCFF"/>
    <a:srgbClr val="02F6D9"/>
    <a:srgbClr val="EC9C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B38B82-5BE3-4A67-8CF0-88361BB4048E}" v="3" dt="2020-12-14T10:31:04.5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15"/>
    <p:restoredTop sz="94658"/>
  </p:normalViewPr>
  <p:slideViewPr>
    <p:cSldViewPr snapToGrid="0">
      <p:cViewPr varScale="1">
        <p:scale>
          <a:sx n="120" d="100"/>
          <a:sy n="120" d="100"/>
        </p:scale>
        <p:origin x="2112" y="184"/>
      </p:cViewPr>
      <p:guideLst>
        <p:guide orient="horz" pos="3144"/>
        <p:guide pos="381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7" d="100"/>
        <a:sy n="57" d="100"/>
      </p:scale>
      <p:origin x="0" y="-740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78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888928CA-6634-4F28-8EFB-F889CCCB4F4C}" type="datetime1">
              <a:rPr lang="en-US"/>
              <a:pPr>
                <a:defRPr/>
              </a:pPr>
              <a:t>10/13/26</a:t>
            </a:fld>
            <a:endParaRPr lang="en-US"/>
          </a:p>
        </p:txBody>
      </p:sp>
      <p:sp>
        <p:nvSpPr>
          <p:cNvPr id="2478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he-IL"/>
              <a:t>(c) Amir Herzberg, http://AmirHerzberg.com, Bar Ilan University</a:t>
            </a:r>
            <a:endParaRPr lang="en-US"/>
          </a:p>
        </p:txBody>
      </p:sp>
      <p:sp>
        <p:nvSpPr>
          <p:cNvPr id="2478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4FFF652-52D6-4256-AB60-3207A6F9EF9C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7472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67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D6325071-32EE-4A93-980C-5A1A144375BC}" type="datetime1">
              <a:rPr lang="en-US"/>
              <a:pPr>
                <a:defRPr/>
              </a:pPr>
              <a:t>10/13/26</a:t>
            </a:fld>
            <a:endParaRPr lang="en-US"/>
          </a:p>
        </p:txBody>
      </p:sp>
      <p:sp>
        <p:nvSpPr>
          <p:cNvPr id="911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598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467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59300"/>
            <a:ext cx="5851525" cy="432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67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he-IL"/>
              <a:t>(c) Amir Herzberg, http://AmirHerzberg.com, Bar Ilan University</a:t>
            </a:r>
            <a:endParaRPr lang="en-US"/>
          </a:p>
        </p:txBody>
      </p:sp>
      <p:sp>
        <p:nvSpPr>
          <p:cNvPr id="2467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0E687F4F-F059-432C-A1F8-B98095E8E93B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855116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AF01017-ADF1-4404-92FB-B874094C14FE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797425" cy="3598863"/>
          </a:xfrm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220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75DFCDD-57D9-4D80-9D1C-148B7CE5AE5B}" type="datetime1">
              <a:rPr lang="en-US" altLang="en-US" sz="1300" smtClean="0"/>
              <a:pPr eaLnBrk="1" hangingPunct="1">
                <a:spcBef>
                  <a:spcPct val="0"/>
                </a:spcBef>
              </a:pPr>
              <a:t>10/13/26</a:t>
            </a:fld>
            <a:endParaRPr lang="en-US" altLang="en-US" sz="1300"/>
          </a:p>
        </p:txBody>
      </p:sp>
      <p:sp>
        <p:nvSpPr>
          <p:cNvPr id="1638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he-IL" altLang="en-US" sz="1300"/>
              <a:t>(c) Amir Herzberg, http://AmirHerzberg.com, Bar Ilan University</a:t>
            </a:r>
            <a:endParaRPr lang="en-US" altLang="en-US" sz="1300"/>
          </a:p>
        </p:txBody>
      </p:sp>
      <p:sp>
        <p:nvSpPr>
          <p:cNvPr id="1638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C1C508DE-D597-4F17-970C-E7212B58D587}" type="slidenum">
              <a:rPr lang="he-IL" altLang="en-US" sz="1300" smtClean="0"/>
              <a:pPr eaLnBrk="1" hangingPunct="1">
                <a:spcBef>
                  <a:spcPct val="0"/>
                </a:spcBef>
              </a:pPr>
              <a:t>3</a:t>
            </a:fld>
            <a:endParaRPr lang="en-US" altLang="en-US" sz="1300"/>
          </a:p>
        </p:txBody>
      </p:sp>
      <p:sp>
        <p:nvSpPr>
          <p:cNvPr id="163845" name="Text Box 2"/>
          <p:cNvSpPr txBox="1">
            <a:spLocks noChangeArrowheads="1"/>
          </p:cNvSpPr>
          <p:nvPr/>
        </p:nvSpPr>
        <p:spPr bwMode="auto">
          <a:xfrm>
            <a:off x="4143375" y="9120188"/>
            <a:ext cx="3170238" cy="481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 anchor="b">
            <a:spAutoFit/>
          </a:bodyPr>
          <a:lstStyle>
            <a:lvl1pPr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Clr>
                <a:srgbClr val="000000"/>
              </a:buClr>
            </a:pPr>
            <a:fld id="{DFF20395-451C-4374-B6ED-9C89A9375785}" type="slidenum">
              <a:rPr lang="he-IL" altLang="en-US" sz="1300">
                <a:solidFill>
                  <a:srgbClr val="000000"/>
                </a:solidFill>
              </a:rPr>
              <a:pPr algn="r" eaLnBrk="1" hangingPunct="1">
                <a:spcBef>
                  <a:spcPct val="0"/>
                </a:spcBef>
                <a:buClr>
                  <a:srgbClr val="000000"/>
                </a:buClr>
              </a:pPr>
              <a:t>3</a:t>
            </a:fld>
            <a:endParaRPr lang="en-GB" altLang="en-US" sz="1300">
              <a:solidFill>
                <a:srgbClr val="000000"/>
              </a:solidFill>
            </a:endParaRPr>
          </a:p>
        </p:txBody>
      </p:sp>
      <p:sp>
        <p:nvSpPr>
          <p:cNvPr id="163846" name="Text Box 3"/>
          <p:cNvSpPr txBox="1">
            <a:spLocks noChangeArrowheads="1"/>
          </p:cNvSpPr>
          <p:nvPr/>
        </p:nvSpPr>
        <p:spPr bwMode="auto">
          <a:xfrm>
            <a:off x="0" y="9120188"/>
            <a:ext cx="3170238" cy="481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 anchor="b">
            <a:spAutoFit/>
          </a:bodyPr>
          <a:lstStyle>
            <a:lvl1pPr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</a:pPr>
            <a:r>
              <a:rPr lang="en-US" altLang="en-US" sz="1300">
                <a:solidFill>
                  <a:srgbClr val="000000"/>
                </a:solidFill>
              </a:rPr>
              <a:t>(c) Amir Herzberg, http://AmirHerzberg.com, Bar Ilan University</a:t>
            </a:r>
            <a:endParaRPr lang="en-GB" altLang="en-US" sz="1300">
              <a:solidFill>
                <a:srgbClr val="000000"/>
              </a:solidFill>
            </a:endParaRPr>
          </a:p>
        </p:txBody>
      </p:sp>
      <p:sp>
        <p:nvSpPr>
          <p:cNvPr id="163847" name="Text Box 4"/>
          <p:cNvSpPr txBox="1">
            <a:spLocks noChangeArrowheads="1"/>
          </p:cNvSpPr>
          <p:nvPr/>
        </p:nvSpPr>
        <p:spPr bwMode="auto">
          <a:xfrm>
            <a:off x="0" y="0"/>
            <a:ext cx="3170238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>
            <a:spAutoFit/>
          </a:bodyPr>
          <a:lstStyle>
            <a:lvl1pPr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</a:pPr>
            <a:endParaRPr lang="en-GB" altLang="en-US" sz="1300">
              <a:solidFill>
                <a:srgbClr val="000000"/>
              </a:solidFill>
            </a:endParaRPr>
          </a:p>
        </p:txBody>
      </p:sp>
      <p:sp>
        <p:nvSpPr>
          <p:cNvPr id="163848" name="Text Box 5"/>
          <p:cNvSpPr txBox="1">
            <a:spLocks noChangeArrowheads="1"/>
          </p:cNvSpPr>
          <p:nvPr/>
        </p:nvSpPr>
        <p:spPr bwMode="auto">
          <a:xfrm>
            <a:off x="4143375" y="0"/>
            <a:ext cx="3170238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>
            <a:spAutoFit/>
          </a:bodyPr>
          <a:lstStyle>
            <a:lvl1pPr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Clr>
                <a:srgbClr val="000000"/>
              </a:buClr>
            </a:pPr>
            <a:r>
              <a:rPr lang="en-GB" altLang="en-US" sz="1300">
                <a:solidFill>
                  <a:srgbClr val="000000"/>
                </a:solidFill>
              </a:rPr>
              <a:t>04/07/06</a:t>
            </a:r>
          </a:p>
        </p:txBody>
      </p:sp>
      <p:sp>
        <p:nvSpPr>
          <p:cNvPr id="163849" name="Text Box 6"/>
          <p:cNvSpPr txBox="1">
            <a:spLocks noChangeArrowheads="1"/>
          </p:cNvSpPr>
          <p:nvPr/>
        </p:nvSpPr>
        <p:spPr bwMode="auto">
          <a:xfrm>
            <a:off x="1258888" y="720725"/>
            <a:ext cx="4800600" cy="36004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he-IL" altLang="en-US" sz="1800"/>
          </a:p>
        </p:txBody>
      </p:sp>
      <p:sp>
        <p:nvSpPr>
          <p:cNvPr id="163850" name="Rectangle 7"/>
          <p:cNvSpPr>
            <a:spLocks noGrp="1" noChangeArrowheads="1"/>
          </p:cNvSpPr>
          <p:nvPr>
            <p:ph type="body"/>
          </p:nvPr>
        </p:nvSpPr>
        <p:spPr>
          <a:xfrm>
            <a:off x="731838" y="4559300"/>
            <a:ext cx="5851525" cy="4322763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49263" eaLnBrk="1" hangingPunct="1"/>
            <a:endParaRPr lang="he-IL" alt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08004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5812CA12-B66F-42AB-80CB-BEF8EC8C0814}" type="datetime1">
              <a:rPr lang="en-US" altLang="en-US" sz="1300" smtClean="0"/>
              <a:pPr eaLnBrk="1" hangingPunct="1">
                <a:spcBef>
                  <a:spcPct val="0"/>
                </a:spcBef>
              </a:pPr>
              <a:t>10/13/26</a:t>
            </a:fld>
            <a:endParaRPr lang="en-US" altLang="en-US" sz="1300"/>
          </a:p>
        </p:txBody>
      </p:sp>
      <p:sp>
        <p:nvSpPr>
          <p:cNvPr id="1648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he-IL" altLang="en-US" sz="1300"/>
              <a:t>(c) Amir Herzberg, http://AmirHerzberg.com, Bar Ilan University</a:t>
            </a:r>
            <a:endParaRPr lang="en-US" altLang="en-US" sz="1300"/>
          </a:p>
        </p:txBody>
      </p:sp>
      <p:sp>
        <p:nvSpPr>
          <p:cNvPr id="1648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5B107F5C-D148-47FA-A509-A54116C5D5BC}" type="slidenum">
              <a:rPr lang="he-IL" altLang="en-US" sz="1300" smtClean="0"/>
              <a:pPr eaLnBrk="1" hangingPunct="1">
                <a:spcBef>
                  <a:spcPct val="0"/>
                </a:spcBef>
              </a:pPr>
              <a:t>4</a:t>
            </a:fld>
            <a:endParaRPr lang="en-US" altLang="en-US" sz="1300"/>
          </a:p>
        </p:txBody>
      </p:sp>
      <p:sp>
        <p:nvSpPr>
          <p:cNvPr id="164869" name="Text Box 2"/>
          <p:cNvSpPr txBox="1">
            <a:spLocks noChangeArrowheads="1"/>
          </p:cNvSpPr>
          <p:nvPr/>
        </p:nvSpPr>
        <p:spPr bwMode="auto">
          <a:xfrm>
            <a:off x="4143375" y="9120188"/>
            <a:ext cx="3170238" cy="481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 anchor="b">
            <a:spAutoFit/>
          </a:bodyPr>
          <a:lstStyle>
            <a:lvl1pPr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Clr>
                <a:srgbClr val="000000"/>
              </a:buClr>
            </a:pPr>
            <a:fld id="{4BC9C25C-2768-4010-A794-600BB0D8A4B3}" type="slidenum">
              <a:rPr lang="he-IL" altLang="en-US" sz="1300">
                <a:solidFill>
                  <a:srgbClr val="000000"/>
                </a:solidFill>
              </a:rPr>
              <a:pPr algn="r" eaLnBrk="1" hangingPunct="1">
                <a:spcBef>
                  <a:spcPct val="0"/>
                </a:spcBef>
                <a:buClr>
                  <a:srgbClr val="000000"/>
                </a:buClr>
              </a:pPr>
              <a:t>4</a:t>
            </a:fld>
            <a:endParaRPr lang="en-GB" altLang="en-US" sz="1300">
              <a:solidFill>
                <a:srgbClr val="000000"/>
              </a:solidFill>
            </a:endParaRPr>
          </a:p>
        </p:txBody>
      </p:sp>
      <p:sp>
        <p:nvSpPr>
          <p:cNvPr id="164870" name="Text Box 3"/>
          <p:cNvSpPr txBox="1">
            <a:spLocks noChangeArrowheads="1"/>
          </p:cNvSpPr>
          <p:nvPr/>
        </p:nvSpPr>
        <p:spPr bwMode="auto">
          <a:xfrm>
            <a:off x="0" y="9120188"/>
            <a:ext cx="3170238" cy="481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 anchor="b">
            <a:spAutoFit/>
          </a:bodyPr>
          <a:lstStyle>
            <a:lvl1pPr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</a:pPr>
            <a:r>
              <a:rPr lang="en-US" altLang="en-US" sz="1300">
                <a:solidFill>
                  <a:srgbClr val="000000"/>
                </a:solidFill>
              </a:rPr>
              <a:t>(c) Amir Herzberg, http://AmirHerzberg.com, Bar Ilan University</a:t>
            </a:r>
            <a:endParaRPr lang="en-GB" altLang="en-US" sz="1300">
              <a:solidFill>
                <a:srgbClr val="000000"/>
              </a:solidFill>
            </a:endParaRPr>
          </a:p>
        </p:txBody>
      </p:sp>
      <p:sp>
        <p:nvSpPr>
          <p:cNvPr id="164871" name="Text Box 4"/>
          <p:cNvSpPr txBox="1">
            <a:spLocks noChangeArrowheads="1"/>
          </p:cNvSpPr>
          <p:nvPr/>
        </p:nvSpPr>
        <p:spPr bwMode="auto">
          <a:xfrm>
            <a:off x="0" y="0"/>
            <a:ext cx="3170238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>
            <a:spAutoFit/>
          </a:bodyPr>
          <a:lstStyle>
            <a:lvl1pPr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</a:pPr>
            <a:endParaRPr lang="en-GB" altLang="en-US" sz="1300">
              <a:solidFill>
                <a:srgbClr val="000000"/>
              </a:solidFill>
            </a:endParaRPr>
          </a:p>
        </p:txBody>
      </p:sp>
      <p:sp>
        <p:nvSpPr>
          <p:cNvPr id="164872" name="Text Box 5"/>
          <p:cNvSpPr txBox="1">
            <a:spLocks noChangeArrowheads="1"/>
          </p:cNvSpPr>
          <p:nvPr/>
        </p:nvSpPr>
        <p:spPr bwMode="auto">
          <a:xfrm>
            <a:off x="4143375" y="0"/>
            <a:ext cx="3170238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>
            <a:spAutoFit/>
          </a:bodyPr>
          <a:lstStyle>
            <a:lvl1pPr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Clr>
                <a:srgbClr val="000000"/>
              </a:buClr>
            </a:pPr>
            <a:r>
              <a:rPr lang="en-GB" altLang="en-US" sz="1300">
                <a:solidFill>
                  <a:srgbClr val="000000"/>
                </a:solidFill>
              </a:rPr>
              <a:t>04/07/06</a:t>
            </a:r>
          </a:p>
        </p:txBody>
      </p:sp>
      <p:sp>
        <p:nvSpPr>
          <p:cNvPr id="164873" name="Text Box 6"/>
          <p:cNvSpPr txBox="1">
            <a:spLocks noChangeArrowheads="1"/>
          </p:cNvSpPr>
          <p:nvPr/>
        </p:nvSpPr>
        <p:spPr bwMode="auto">
          <a:xfrm>
            <a:off x="1258888" y="720725"/>
            <a:ext cx="4800600" cy="36004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he-IL" altLang="en-US" sz="1800"/>
          </a:p>
        </p:txBody>
      </p:sp>
      <p:sp>
        <p:nvSpPr>
          <p:cNvPr id="164874" name="Rectangle 7"/>
          <p:cNvSpPr>
            <a:spLocks noGrp="1" noChangeArrowheads="1"/>
          </p:cNvSpPr>
          <p:nvPr>
            <p:ph type="body"/>
          </p:nvPr>
        </p:nvSpPr>
        <p:spPr>
          <a:xfrm>
            <a:off x="731838" y="4559300"/>
            <a:ext cx="5851525" cy="4322763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49263" eaLnBrk="1" hangingPunct="1"/>
            <a:endParaRPr lang="he-IL" altLang="en-US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77029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AF7B7C7E-BB07-40AF-823E-FE8349A978A2}" type="datetime1">
              <a:rPr lang="en-US" altLang="en-US" sz="1300" smtClean="0"/>
              <a:pPr eaLnBrk="1" hangingPunct="1">
                <a:spcBef>
                  <a:spcPct val="0"/>
                </a:spcBef>
              </a:pPr>
              <a:t>10/13/26</a:t>
            </a:fld>
            <a:endParaRPr lang="en-US" altLang="en-US" sz="1300"/>
          </a:p>
        </p:txBody>
      </p:sp>
      <p:sp>
        <p:nvSpPr>
          <p:cNvPr id="15667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he-IL" altLang="en-US" sz="1300"/>
              <a:t>(c) Amir Herzberg, http://AmirHerzberg.com, Bar Ilan University</a:t>
            </a:r>
            <a:endParaRPr lang="en-US" altLang="en-US" sz="1300"/>
          </a:p>
        </p:txBody>
      </p:sp>
      <p:sp>
        <p:nvSpPr>
          <p:cNvPr id="15667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C746B80A-6B25-4F7A-8AD1-EA4E6408D6AA}" type="slidenum">
              <a:rPr lang="he-IL" altLang="en-US" sz="1300" smtClean="0"/>
              <a:pPr eaLnBrk="1" hangingPunct="1">
                <a:spcBef>
                  <a:spcPct val="0"/>
                </a:spcBef>
              </a:pPr>
              <a:t>9</a:t>
            </a:fld>
            <a:endParaRPr lang="en-US" altLang="en-US" sz="1300"/>
          </a:p>
        </p:txBody>
      </p:sp>
      <p:sp>
        <p:nvSpPr>
          <p:cNvPr id="156677" name="Text Box 2"/>
          <p:cNvSpPr txBox="1">
            <a:spLocks noChangeArrowheads="1"/>
          </p:cNvSpPr>
          <p:nvPr/>
        </p:nvSpPr>
        <p:spPr bwMode="auto">
          <a:xfrm>
            <a:off x="4143375" y="9120188"/>
            <a:ext cx="3170238" cy="481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 anchor="b">
            <a:spAutoFit/>
          </a:bodyPr>
          <a:lstStyle>
            <a:lvl1pPr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Clr>
                <a:srgbClr val="000000"/>
              </a:buClr>
            </a:pPr>
            <a:fld id="{000467A7-2B0F-4852-A0A1-B4ED886638C0}" type="slidenum">
              <a:rPr lang="he-IL" altLang="en-US" sz="1300">
                <a:solidFill>
                  <a:srgbClr val="000000"/>
                </a:solidFill>
              </a:rPr>
              <a:pPr algn="r" eaLnBrk="1" hangingPunct="1">
                <a:spcBef>
                  <a:spcPct val="0"/>
                </a:spcBef>
                <a:buClr>
                  <a:srgbClr val="000000"/>
                </a:buClr>
              </a:pPr>
              <a:t>9</a:t>
            </a:fld>
            <a:endParaRPr lang="en-GB" altLang="en-US" sz="1300">
              <a:solidFill>
                <a:srgbClr val="000000"/>
              </a:solidFill>
            </a:endParaRPr>
          </a:p>
        </p:txBody>
      </p:sp>
      <p:sp>
        <p:nvSpPr>
          <p:cNvPr id="156678" name="Text Box 3"/>
          <p:cNvSpPr txBox="1">
            <a:spLocks noChangeArrowheads="1"/>
          </p:cNvSpPr>
          <p:nvPr/>
        </p:nvSpPr>
        <p:spPr bwMode="auto">
          <a:xfrm>
            <a:off x="0" y="9120188"/>
            <a:ext cx="3170238" cy="481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 anchor="b">
            <a:spAutoFit/>
          </a:bodyPr>
          <a:lstStyle>
            <a:lvl1pPr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</a:pPr>
            <a:r>
              <a:rPr lang="en-US" altLang="en-US" sz="1300">
                <a:solidFill>
                  <a:srgbClr val="000000"/>
                </a:solidFill>
              </a:rPr>
              <a:t>(c) Amir Herzberg, http://AmirHerzberg.com, Bar Ilan University</a:t>
            </a:r>
            <a:endParaRPr lang="en-GB" altLang="en-US" sz="1300">
              <a:solidFill>
                <a:srgbClr val="000000"/>
              </a:solidFill>
            </a:endParaRPr>
          </a:p>
        </p:txBody>
      </p:sp>
      <p:sp>
        <p:nvSpPr>
          <p:cNvPr id="156679" name="Text Box 4"/>
          <p:cNvSpPr txBox="1">
            <a:spLocks noChangeArrowheads="1"/>
          </p:cNvSpPr>
          <p:nvPr/>
        </p:nvSpPr>
        <p:spPr bwMode="auto">
          <a:xfrm>
            <a:off x="0" y="0"/>
            <a:ext cx="3170238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>
            <a:spAutoFit/>
          </a:bodyPr>
          <a:lstStyle>
            <a:lvl1pPr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</a:pPr>
            <a:endParaRPr lang="en-GB" altLang="en-US" sz="1300">
              <a:solidFill>
                <a:srgbClr val="000000"/>
              </a:solidFill>
            </a:endParaRPr>
          </a:p>
        </p:txBody>
      </p:sp>
      <p:sp>
        <p:nvSpPr>
          <p:cNvPr id="156680" name="Text Box 5"/>
          <p:cNvSpPr txBox="1">
            <a:spLocks noChangeArrowheads="1"/>
          </p:cNvSpPr>
          <p:nvPr/>
        </p:nvSpPr>
        <p:spPr bwMode="auto">
          <a:xfrm>
            <a:off x="4143375" y="0"/>
            <a:ext cx="3170238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>
            <a:spAutoFit/>
          </a:bodyPr>
          <a:lstStyle>
            <a:lvl1pPr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Clr>
                <a:srgbClr val="000000"/>
              </a:buClr>
            </a:pPr>
            <a:r>
              <a:rPr lang="en-GB" altLang="en-US" sz="1300">
                <a:solidFill>
                  <a:srgbClr val="000000"/>
                </a:solidFill>
              </a:rPr>
              <a:t>04/07/06</a:t>
            </a:r>
          </a:p>
        </p:txBody>
      </p:sp>
      <p:sp>
        <p:nvSpPr>
          <p:cNvPr id="156681" name="Text Box 6"/>
          <p:cNvSpPr txBox="1">
            <a:spLocks noChangeArrowheads="1"/>
          </p:cNvSpPr>
          <p:nvPr/>
        </p:nvSpPr>
        <p:spPr bwMode="auto">
          <a:xfrm>
            <a:off x="1258888" y="720725"/>
            <a:ext cx="4800600" cy="36004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he-IL" altLang="en-US" sz="1800"/>
          </a:p>
        </p:txBody>
      </p:sp>
      <p:sp>
        <p:nvSpPr>
          <p:cNvPr id="156682" name="Rectangle 7"/>
          <p:cNvSpPr>
            <a:spLocks noGrp="1" noChangeArrowheads="1"/>
          </p:cNvSpPr>
          <p:nvPr>
            <p:ph type="body"/>
          </p:nvPr>
        </p:nvSpPr>
        <p:spPr>
          <a:xfrm>
            <a:off x="731838" y="4559300"/>
            <a:ext cx="5851525" cy="4322763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49263" eaLnBrk="1" hangingPunct="1"/>
            <a:endParaRPr lang="he-IL" alt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33829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5DA3CE42-9751-4667-B3B9-EF6B37ACC6CA}" type="datetime1">
              <a:rPr lang="en-US" altLang="en-US" sz="1300" smtClean="0"/>
              <a:pPr eaLnBrk="1" hangingPunct="1">
                <a:spcBef>
                  <a:spcPct val="0"/>
                </a:spcBef>
              </a:pPr>
              <a:t>10/13/26</a:t>
            </a:fld>
            <a:endParaRPr lang="en-US" altLang="en-US" sz="1300"/>
          </a:p>
        </p:txBody>
      </p:sp>
      <p:sp>
        <p:nvSpPr>
          <p:cNvPr id="15974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he-IL" altLang="en-US" sz="1300"/>
              <a:t>(c) Amir Herzberg, http://AmirHerzberg.com, Bar Ilan University</a:t>
            </a:r>
            <a:endParaRPr lang="en-US" altLang="en-US" sz="1300"/>
          </a:p>
        </p:txBody>
      </p:sp>
      <p:sp>
        <p:nvSpPr>
          <p:cNvPr id="15974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2EEFF929-6AFC-4B07-ADCA-57FF8625615A}" type="slidenum">
              <a:rPr lang="he-IL" altLang="en-US" sz="1300" smtClean="0"/>
              <a:pPr eaLnBrk="1" hangingPunct="1">
                <a:spcBef>
                  <a:spcPct val="0"/>
                </a:spcBef>
              </a:pPr>
              <a:t>10</a:t>
            </a:fld>
            <a:endParaRPr lang="en-US" altLang="en-US" sz="1300"/>
          </a:p>
        </p:txBody>
      </p:sp>
      <p:sp>
        <p:nvSpPr>
          <p:cNvPr id="159749" name="Text Box 2"/>
          <p:cNvSpPr txBox="1">
            <a:spLocks noChangeArrowheads="1"/>
          </p:cNvSpPr>
          <p:nvPr/>
        </p:nvSpPr>
        <p:spPr bwMode="auto">
          <a:xfrm>
            <a:off x="4143375" y="9120188"/>
            <a:ext cx="3170238" cy="481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 anchor="b">
            <a:spAutoFit/>
          </a:bodyPr>
          <a:lstStyle>
            <a:lvl1pPr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Clr>
                <a:srgbClr val="000000"/>
              </a:buClr>
            </a:pPr>
            <a:fld id="{1BA75A56-1842-4105-A7CC-8595103F0768}" type="slidenum">
              <a:rPr lang="he-IL" altLang="en-US" sz="1300">
                <a:solidFill>
                  <a:srgbClr val="000000"/>
                </a:solidFill>
              </a:rPr>
              <a:pPr algn="r" eaLnBrk="1" hangingPunct="1">
                <a:spcBef>
                  <a:spcPct val="0"/>
                </a:spcBef>
                <a:buClr>
                  <a:srgbClr val="000000"/>
                </a:buClr>
              </a:pPr>
              <a:t>10</a:t>
            </a:fld>
            <a:endParaRPr lang="en-GB" altLang="en-US" sz="1300">
              <a:solidFill>
                <a:srgbClr val="000000"/>
              </a:solidFill>
            </a:endParaRPr>
          </a:p>
        </p:txBody>
      </p:sp>
      <p:sp>
        <p:nvSpPr>
          <p:cNvPr id="159750" name="Text Box 3"/>
          <p:cNvSpPr txBox="1">
            <a:spLocks noChangeArrowheads="1"/>
          </p:cNvSpPr>
          <p:nvPr/>
        </p:nvSpPr>
        <p:spPr bwMode="auto">
          <a:xfrm>
            <a:off x="0" y="9120188"/>
            <a:ext cx="3170238" cy="481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 anchor="b">
            <a:spAutoFit/>
          </a:bodyPr>
          <a:lstStyle>
            <a:lvl1pPr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</a:pPr>
            <a:r>
              <a:rPr lang="en-US" altLang="en-US" sz="1300">
                <a:solidFill>
                  <a:srgbClr val="000000"/>
                </a:solidFill>
              </a:rPr>
              <a:t>(c) Amir Herzberg, http://AmirHerzberg.com, Bar Ilan University</a:t>
            </a:r>
            <a:endParaRPr lang="en-GB" altLang="en-US" sz="1300">
              <a:solidFill>
                <a:srgbClr val="000000"/>
              </a:solidFill>
            </a:endParaRPr>
          </a:p>
        </p:txBody>
      </p:sp>
      <p:sp>
        <p:nvSpPr>
          <p:cNvPr id="159751" name="Text Box 4"/>
          <p:cNvSpPr txBox="1">
            <a:spLocks noChangeArrowheads="1"/>
          </p:cNvSpPr>
          <p:nvPr/>
        </p:nvSpPr>
        <p:spPr bwMode="auto">
          <a:xfrm>
            <a:off x="0" y="0"/>
            <a:ext cx="3170238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>
            <a:spAutoFit/>
          </a:bodyPr>
          <a:lstStyle>
            <a:lvl1pPr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</a:pPr>
            <a:endParaRPr lang="en-GB" altLang="en-US" sz="1300">
              <a:solidFill>
                <a:srgbClr val="000000"/>
              </a:solidFill>
            </a:endParaRPr>
          </a:p>
        </p:txBody>
      </p:sp>
      <p:sp>
        <p:nvSpPr>
          <p:cNvPr id="159752" name="Text Box 5"/>
          <p:cNvSpPr txBox="1">
            <a:spLocks noChangeArrowheads="1"/>
          </p:cNvSpPr>
          <p:nvPr/>
        </p:nvSpPr>
        <p:spPr bwMode="auto">
          <a:xfrm>
            <a:off x="4143375" y="0"/>
            <a:ext cx="3170238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>
            <a:spAutoFit/>
          </a:bodyPr>
          <a:lstStyle>
            <a:lvl1pPr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Clr>
                <a:srgbClr val="000000"/>
              </a:buClr>
            </a:pPr>
            <a:r>
              <a:rPr lang="en-GB" altLang="en-US" sz="1300">
                <a:solidFill>
                  <a:srgbClr val="000000"/>
                </a:solidFill>
              </a:rPr>
              <a:t>04/07/06</a:t>
            </a:r>
          </a:p>
        </p:txBody>
      </p:sp>
      <p:sp>
        <p:nvSpPr>
          <p:cNvPr id="159753" name="Text Box 6"/>
          <p:cNvSpPr txBox="1">
            <a:spLocks noChangeArrowheads="1"/>
          </p:cNvSpPr>
          <p:nvPr/>
        </p:nvSpPr>
        <p:spPr bwMode="auto">
          <a:xfrm>
            <a:off x="1258888" y="720725"/>
            <a:ext cx="4800600" cy="36004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he-IL" altLang="en-US" sz="1800"/>
          </a:p>
        </p:txBody>
      </p:sp>
      <p:sp>
        <p:nvSpPr>
          <p:cNvPr id="159754" name="Rectangle 7"/>
          <p:cNvSpPr>
            <a:spLocks noGrp="1" noChangeArrowheads="1"/>
          </p:cNvSpPr>
          <p:nvPr>
            <p:ph type="body"/>
          </p:nvPr>
        </p:nvSpPr>
        <p:spPr>
          <a:xfrm>
            <a:off x="731838" y="4559300"/>
            <a:ext cx="5851525" cy="4322763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49263" eaLnBrk="1" hangingPunct="1"/>
            <a:endParaRPr lang="he-IL" alt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11008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AF7B7C7E-BB07-40AF-823E-FE8349A978A2}" type="datetime1">
              <a:rPr lang="en-US" altLang="en-US" sz="1300" smtClean="0"/>
              <a:pPr eaLnBrk="1" hangingPunct="1">
                <a:spcBef>
                  <a:spcPct val="0"/>
                </a:spcBef>
              </a:pPr>
              <a:t>10/13/26</a:t>
            </a:fld>
            <a:endParaRPr lang="en-US" altLang="en-US" sz="1300"/>
          </a:p>
        </p:txBody>
      </p:sp>
      <p:sp>
        <p:nvSpPr>
          <p:cNvPr id="15667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he-IL" altLang="en-US" sz="1300"/>
              <a:t>(c) Amir Herzberg, http://AmirHerzberg.com, Bar Ilan University</a:t>
            </a:r>
            <a:endParaRPr lang="en-US" altLang="en-US" sz="1300"/>
          </a:p>
        </p:txBody>
      </p:sp>
      <p:sp>
        <p:nvSpPr>
          <p:cNvPr id="15667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C746B80A-6B25-4F7A-8AD1-EA4E6408D6AA}" type="slidenum">
              <a:rPr lang="he-IL" altLang="en-US" sz="1300" smtClean="0"/>
              <a:pPr eaLnBrk="1" hangingPunct="1">
                <a:spcBef>
                  <a:spcPct val="0"/>
                </a:spcBef>
              </a:pPr>
              <a:t>12</a:t>
            </a:fld>
            <a:endParaRPr lang="en-US" altLang="en-US" sz="1300"/>
          </a:p>
        </p:txBody>
      </p:sp>
      <p:sp>
        <p:nvSpPr>
          <p:cNvPr id="156677" name="Text Box 2"/>
          <p:cNvSpPr txBox="1">
            <a:spLocks noChangeArrowheads="1"/>
          </p:cNvSpPr>
          <p:nvPr/>
        </p:nvSpPr>
        <p:spPr bwMode="auto">
          <a:xfrm>
            <a:off x="4143375" y="9120188"/>
            <a:ext cx="3170238" cy="481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 anchor="b">
            <a:spAutoFit/>
          </a:bodyPr>
          <a:lstStyle>
            <a:lvl1pPr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Clr>
                <a:srgbClr val="000000"/>
              </a:buClr>
            </a:pPr>
            <a:fld id="{000467A7-2B0F-4852-A0A1-B4ED886638C0}" type="slidenum">
              <a:rPr lang="he-IL" altLang="en-US" sz="1300">
                <a:solidFill>
                  <a:srgbClr val="000000"/>
                </a:solidFill>
              </a:rPr>
              <a:pPr algn="r" eaLnBrk="1" hangingPunct="1">
                <a:spcBef>
                  <a:spcPct val="0"/>
                </a:spcBef>
                <a:buClr>
                  <a:srgbClr val="000000"/>
                </a:buClr>
              </a:pPr>
              <a:t>12</a:t>
            </a:fld>
            <a:endParaRPr lang="en-GB" altLang="en-US" sz="1300">
              <a:solidFill>
                <a:srgbClr val="000000"/>
              </a:solidFill>
            </a:endParaRPr>
          </a:p>
        </p:txBody>
      </p:sp>
      <p:sp>
        <p:nvSpPr>
          <p:cNvPr id="156678" name="Text Box 3"/>
          <p:cNvSpPr txBox="1">
            <a:spLocks noChangeArrowheads="1"/>
          </p:cNvSpPr>
          <p:nvPr/>
        </p:nvSpPr>
        <p:spPr bwMode="auto">
          <a:xfrm>
            <a:off x="0" y="9120188"/>
            <a:ext cx="3170238" cy="481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 anchor="b">
            <a:spAutoFit/>
          </a:bodyPr>
          <a:lstStyle>
            <a:lvl1pPr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</a:pPr>
            <a:r>
              <a:rPr lang="en-US" altLang="en-US" sz="1300">
                <a:solidFill>
                  <a:srgbClr val="000000"/>
                </a:solidFill>
              </a:rPr>
              <a:t>(c) Amir Herzberg, http://AmirHerzberg.com, Bar Ilan University</a:t>
            </a:r>
            <a:endParaRPr lang="en-GB" altLang="en-US" sz="1300">
              <a:solidFill>
                <a:srgbClr val="000000"/>
              </a:solidFill>
            </a:endParaRPr>
          </a:p>
        </p:txBody>
      </p:sp>
      <p:sp>
        <p:nvSpPr>
          <p:cNvPr id="156679" name="Text Box 4"/>
          <p:cNvSpPr txBox="1">
            <a:spLocks noChangeArrowheads="1"/>
          </p:cNvSpPr>
          <p:nvPr/>
        </p:nvSpPr>
        <p:spPr bwMode="auto">
          <a:xfrm>
            <a:off x="0" y="0"/>
            <a:ext cx="3170238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>
            <a:spAutoFit/>
          </a:bodyPr>
          <a:lstStyle>
            <a:lvl1pPr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</a:pPr>
            <a:endParaRPr lang="en-GB" altLang="en-US" sz="1300">
              <a:solidFill>
                <a:srgbClr val="000000"/>
              </a:solidFill>
            </a:endParaRPr>
          </a:p>
        </p:txBody>
      </p:sp>
      <p:sp>
        <p:nvSpPr>
          <p:cNvPr id="156680" name="Text Box 5"/>
          <p:cNvSpPr txBox="1">
            <a:spLocks noChangeArrowheads="1"/>
          </p:cNvSpPr>
          <p:nvPr/>
        </p:nvSpPr>
        <p:spPr bwMode="auto">
          <a:xfrm>
            <a:off x="4143375" y="0"/>
            <a:ext cx="3170238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>
            <a:spAutoFit/>
          </a:bodyPr>
          <a:lstStyle>
            <a:lvl1pPr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Clr>
                <a:srgbClr val="000000"/>
              </a:buClr>
            </a:pPr>
            <a:r>
              <a:rPr lang="en-GB" altLang="en-US" sz="1300">
                <a:solidFill>
                  <a:srgbClr val="000000"/>
                </a:solidFill>
              </a:rPr>
              <a:t>04/07/06</a:t>
            </a:r>
          </a:p>
        </p:txBody>
      </p:sp>
      <p:sp>
        <p:nvSpPr>
          <p:cNvPr id="156681" name="Text Box 6"/>
          <p:cNvSpPr txBox="1">
            <a:spLocks noChangeArrowheads="1"/>
          </p:cNvSpPr>
          <p:nvPr/>
        </p:nvSpPr>
        <p:spPr bwMode="auto">
          <a:xfrm>
            <a:off x="1258888" y="720725"/>
            <a:ext cx="4800600" cy="36004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he-IL" altLang="en-US" sz="1800"/>
          </a:p>
        </p:txBody>
      </p:sp>
      <p:sp>
        <p:nvSpPr>
          <p:cNvPr id="156682" name="Rectangle 7"/>
          <p:cNvSpPr>
            <a:spLocks noGrp="1" noChangeArrowheads="1"/>
          </p:cNvSpPr>
          <p:nvPr>
            <p:ph type="body"/>
          </p:nvPr>
        </p:nvSpPr>
        <p:spPr>
          <a:xfrm>
            <a:off x="731838" y="4559300"/>
            <a:ext cx="5851525" cy="4322763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49263" eaLnBrk="1" hangingPunct="1"/>
            <a:endParaRPr lang="he-IL" alt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48485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11F7813-D684-4300-B5B8-A5BD54A73510}" type="datetime1">
              <a:rPr lang="en-US" altLang="en-US" sz="1300" smtClean="0"/>
              <a:pPr eaLnBrk="1" hangingPunct="1">
                <a:spcBef>
                  <a:spcPct val="0"/>
                </a:spcBef>
              </a:pPr>
              <a:t>10/13/26</a:t>
            </a:fld>
            <a:endParaRPr lang="en-US" altLang="en-US" sz="1300"/>
          </a:p>
        </p:txBody>
      </p:sp>
      <p:sp>
        <p:nvSpPr>
          <p:cNvPr id="16281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he-IL" altLang="en-US" sz="1300"/>
              <a:t>(c) Amir Herzberg, http://AmirHerzberg.com, Bar Ilan University</a:t>
            </a:r>
            <a:endParaRPr lang="en-US" altLang="en-US" sz="1300"/>
          </a:p>
        </p:txBody>
      </p:sp>
      <p:sp>
        <p:nvSpPr>
          <p:cNvPr id="16282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EC2A21B7-D798-44A5-87E2-1CA8A4644B9D}" type="slidenum">
              <a:rPr lang="he-IL" altLang="en-US" sz="1300" smtClean="0"/>
              <a:pPr eaLnBrk="1" hangingPunct="1">
                <a:spcBef>
                  <a:spcPct val="0"/>
                </a:spcBef>
              </a:pPr>
              <a:t>14</a:t>
            </a:fld>
            <a:endParaRPr lang="en-US" altLang="en-US" sz="1300"/>
          </a:p>
        </p:txBody>
      </p:sp>
      <p:sp>
        <p:nvSpPr>
          <p:cNvPr id="162821" name="Text Box 2"/>
          <p:cNvSpPr txBox="1">
            <a:spLocks noChangeArrowheads="1"/>
          </p:cNvSpPr>
          <p:nvPr/>
        </p:nvSpPr>
        <p:spPr bwMode="auto">
          <a:xfrm>
            <a:off x="4143375" y="9120188"/>
            <a:ext cx="3170238" cy="481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 anchor="b">
            <a:spAutoFit/>
          </a:bodyPr>
          <a:lstStyle>
            <a:lvl1pPr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Clr>
                <a:srgbClr val="000000"/>
              </a:buClr>
            </a:pPr>
            <a:fld id="{C2DBF905-B206-412C-9AF3-F0BE5562EA1A}" type="slidenum">
              <a:rPr lang="he-IL" altLang="en-US" sz="1300">
                <a:solidFill>
                  <a:srgbClr val="000000"/>
                </a:solidFill>
              </a:rPr>
              <a:pPr algn="r" eaLnBrk="1" hangingPunct="1">
                <a:spcBef>
                  <a:spcPct val="0"/>
                </a:spcBef>
                <a:buClr>
                  <a:srgbClr val="000000"/>
                </a:buClr>
              </a:pPr>
              <a:t>14</a:t>
            </a:fld>
            <a:endParaRPr lang="en-GB" altLang="en-US" sz="1300">
              <a:solidFill>
                <a:srgbClr val="000000"/>
              </a:solidFill>
            </a:endParaRPr>
          </a:p>
        </p:txBody>
      </p:sp>
      <p:sp>
        <p:nvSpPr>
          <p:cNvPr id="162822" name="Text Box 3"/>
          <p:cNvSpPr txBox="1">
            <a:spLocks noChangeArrowheads="1"/>
          </p:cNvSpPr>
          <p:nvPr/>
        </p:nvSpPr>
        <p:spPr bwMode="auto">
          <a:xfrm>
            <a:off x="0" y="9120188"/>
            <a:ext cx="3170238" cy="481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 anchor="b">
            <a:spAutoFit/>
          </a:bodyPr>
          <a:lstStyle>
            <a:lvl1pPr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</a:pPr>
            <a:r>
              <a:rPr lang="en-US" altLang="en-US" sz="1300">
                <a:solidFill>
                  <a:srgbClr val="000000"/>
                </a:solidFill>
              </a:rPr>
              <a:t>(c) Amir Herzberg, http://AmirHerzberg.com, Bar Ilan University</a:t>
            </a:r>
            <a:endParaRPr lang="en-GB" altLang="en-US" sz="1300">
              <a:solidFill>
                <a:srgbClr val="000000"/>
              </a:solidFill>
            </a:endParaRPr>
          </a:p>
        </p:txBody>
      </p:sp>
      <p:sp>
        <p:nvSpPr>
          <p:cNvPr id="162823" name="Text Box 4"/>
          <p:cNvSpPr txBox="1">
            <a:spLocks noChangeArrowheads="1"/>
          </p:cNvSpPr>
          <p:nvPr/>
        </p:nvSpPr>
        <p:spPr bwMode="auto">
          <a:xfrm>
            <a:off x="0" y="0"/>
            <a:ext cx="3170238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>
            <a:spAutoFit/>
          </a:bodyPr>
          <a:lstStyle>
            <a:lvl1pPr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</a:pPr>
            <a:endParaRPr lang="en-GB" altLang="en-US" sz="1300">
              <a:solidFill>
                <a:srgbClr val="000000"/>
              </a:solidFill>
            </a:endParaRPr>
          </a:p>
        </p:txBody>
      </p:sp>
      <p:sp>
        <p:nvSpPr>
          <p:cNvPr id="162824" name="Text Box 5"/>
          <p:cNvSpPr txBox="1">
            <a:spLocks noChangeArrowheads="1"/>
          </p:cNvSpPr>
          <p:nvPr/>
        </p:nvSpPr>
        <p:spPr bwMode="auto">
          <a:xfrm>
            <a:off x="4143375" y="0"/>
            <a:ext cx="3170238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>
            <a:spAutoFit/>
          </a:bodyPr>
          <a:lstStyle>
            <a:lvl1pPr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Clr>
                <a:srgbClr val="000000"/>
              </a:buClr>
            </a:pPr>
            <a:r>
              <a:rPr lang="en-GB" altLang="en-US" sz="1300">
                <a:solidFill>
                  <a:srgbClr val="000000"/>
                </a:solidFill>
              </a:rPr>
              <a:t>04/07/06</a:t>
            </a:r>
          </a:p>
        </p:txBody>
      </p:sp>
      <p:sp>
        <p:nvSpPr>
          <p:cNvPr id="162825" name="Text Box 6"/>
          <p:cNvSpPr txBox="1">
            <a:spLocks noChangeArrowheads="1"/>
          </p:cNvSpPr>
          <p:nvPr/>
        </p:nvSpPr>
        <p:spPr bwMode="auto">
          <a:xfrm>
            <a:off x="1258888" y="720725"/>
            <a:ext cx="4800600" cy="36004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he-IL" altLang="en-US" sz="1800"/>
          </a:p>
        </p:txBody>
      </p:sp>
      <p:sp>
        <p:nvSpPr>
          <p:cNvPr id="162826" name="Rectangle 7"/>
          <p:cNvSpPr>
            <a:spLocks noGrp="1" noChangeArrowheads="1"/>
          </p:cNvSpPr>
          <p:nvPr>
            <p:ph type="body"/>
          </p:nvPr>
        </p:nvSpPr>
        <p:spPr>
          <a:xfrm>
            <a:off x="731838" y="4559300"/>
            <a:ext cx="5851525" cy="4322763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49263" eaLnBrk="1" hangingPunct="1"/>
            <a:endParaRPr lang="he-IL" alt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04794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11F7813-D684-4300-B5B8-A5BD54A73510}" type="datetime1">
              <a:rPr lang="en-US" altLang="en-US" sz="1300" smtClean="0"/>
              <a:pPr eaLnBrk="1" hangingPunct="1">
                <a:spcBef>
                  <a:spcPct val="0"/>
                </a:spcBef>
              </a:pPr>
              <a:t>10/13/26</a:t>
            </a:fld>
            <a:endParaRPr lang="en-US" altLang="en-US" sz="1300"/>
          </a:p>
        </p:txBody>
      </p:sp>
      <p:sp>
        <p:nvSpPr>
          <p:cNvPr id="16281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he-IL" altLang="en-US" sz="1300"/>
              <a:t>(c) Amir Herzberg, http://AmirHerzberg.com, Bar Ilan University</a:t>
            </a:r>
            <a:endParaRPr lang="en-US" altLang="en-US" sz="1300"/>
          </a:p>
        </p:txBody>
      </p:sp>
      <p:sp>
        <p:nvSpPr>
          <p:cNvPr id="16282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90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EC2A21B7-D798-44A5-87E2-1CA8A4644B9D}" type="slidenum">
              <a:rPr lang="he-IL" altLang="en-US" sz="1300" smtClean="0"/>
              <a:pPr eaLnBrk="1" hangingPunct="1">
                <a:spcBef>
                  <a:spcPct val="0"/>
                </a:spcBef>
              </a:pPr>
              <a:t>15</a:t>
            </a:fld>
            <a:endParaRPr lang="en-US" altLang="en-US" sz="1300"/>
          </a:p>
        </p:txBody>
      </p:sp>
      <p:sp>
        <p:nvSpPr>
          <p:cNvPr id="162821" name="Text Box 2"/>
          <p:cNvSpPr txBox="1">
            <a:spLocks noChangeArrowheads="1"/>
          </p:cNvSpPr>
          <p:nvPr/>
        </p:nvSpPr>
        <p:spPr bwMode="auto">
          <a:xfrm>
            <a:off x="4143375" y="9120188"/>
            <a:ext cx="3170238" cy="481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 anchor="b">
            <a:spAutoFit/>
          </a:bodyPr>
          <a:lstStyle>
            <a:lvl1pPr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Clr>
                <a:srgbClr val="000000"/>
              </a:buClr>
            </a:pPr>
            <a:fld id="{C2DBF905-B206-412C-9AF3-F0BE5562EA1A}" type="slidenum">
              <a:rPr lang="he-IL" altLang="en-US" sz="1300">
                <a:solidFill>
                  <a:srgbClr val="000000"/>
                </a:solidFill>
              </a:rPr>
              <a:pPr algn="r" eaLnBrk="1" hangingPunct="1">
                <a:spcBef>
                  <a:spcPct val="0"/>
                </a:spcBef>
                <a:buClr>
                  <a:srgbClr val="000000"/>
                </a:buClr>
              </a:pPr>
              <a:t>15</a:t>
            </a:fld>
            <a:endParaRPr lang="en-GB" altLang="en-US" sz="1300">
              <a:solidFill>
                <a:srgbClr val="000000"/>
              </a:solidFill>
            </a:endParaRPr>
          </a:p>
        </p:txBody>
      </p:sp>
      <p:sp>
        <p:nvSpPr>
          <p:cNvPr id="162822" name="Text Box 3"/>
          <p:cNvSpPr txBox="1">
            <a:spLocks noChangeArrowheads="1"/>
          </p:cNvSpPr>
          <p:nvPr/>
        </p:nvSpPr>
        <p:spPr bwMode="auto">
          <a:xfrm>
            <a:off x="0" y="9120188"/>
            <a:ext cx="3170238" cy="481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 anchor="b">
            <a:spAutoFit/>
          </a:bodyPr>
          <a:lstStyle>
            <a:lvl1pPr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</a:pPr>
            <a:r>
              <a:rPr lang="en-US" altLang="en-US" sz="1300">
                <a:solidFill>
                  <a:srgbClr val="000000"/>
                </a:solidFill>
              </a:rPr>
              <a:t>(c) Amir Herzberg, http://AmirHerzberg.com, Bar Ilan University</a:t>
            </a:r>
            <a:endParaRPr lang="en-GB" altLang="en-US" sz="1300">
              <a:solidFill>
                <a:srgbClr val="000000"/>
              </a:solidFill>
            </a:endParaRPr>
          </a:p>
        </p:txBody>
      </p:sp>
      <p:sp>
        <p:nvSpPr>
          <p:cNvPr id="162823" name="Text Box 4"/>
          <p:cNvSpPr txBox="1">
            <a:spLocks noChangeArrowheads="1"/>
          </p:cNvSpPr>
          <p:nvPr/>
        </p:nvSpPr>
        <p:spPr bwMode="auto">
          <a:xfrm>
            <a:off x="0" y="0"/>
            <a:ext cx="3170238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>
            <a:spAutoFit/>
          </a:bodyPr>
          <a:lstStyle>
            <a:lvl1pPr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</a:pPr>
            <a:endParaRPr lang="en-GB" altLang="en-US" sz="1300">
              <a:solidFill>
                <a:srgbClr val="000000"/>
              </a:solidFill>
            </a:endParaRPr>
          </a:p>
        </p:txBody>
      </p:sp>
      <p:sp>
        <p:nvSpPr>
          <p:cNvPr id="162824" name="Text Box 5"/>
          <p:cNvSpPr txBox="1">
            <a:spLocks noChangeArrowheads="1"/>
          </p:cNvSpPr>
          <p:nvPr/>
        </p:nvSpPr>
        <p:spPr bwMode="auto">
          <a:xfrm>
            <a:off x="4143375" y="0"/>
            <a:ext cx="3170238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9000" tIns="49680" rIns="99000" bIns="49680">
            <a:spAutoFit/>
          </a:bodyPr>
          <a:lstStyle>
            <a:lvl1pPr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300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Clr>
                <a:srgbClr val="000000"/>
              </a:buClr>
            </a:pPr>
            <a:r>
              <a:rPr lang="en-GB" altLang="en-US" sz="1300">
                <a:solidFill>
                  <a:srgbClr val="000000"/>
                </a:solidFill>
              </a:rPr>
              <a:t>04/07/06</a:t>
            </a:r>
          </a:p>
        </p:txBody>
      </p:sp>
      <p:sp>
        <p:nvSpPr>
          <p:cNvPr id="162825" name="Text Box 6"/>
          <p:cNvSpPr txBox="1">
            <a:spLocks noChangeArrowheads="1"/>
          </p:cNvSpPr>
          <p:nvPr/>
        </p:nvSpPr>
        <p:spPr bwMode="auto">
          <a:xfrm>
            <a:off x="1258888" y="720725"/>
            <a:ext cx="4800600" cy="36004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he-IL" altLang="en-US" sz="1800"/>
          </a:p>
        </p:txBody>
      </p:sp>
      <p:sp>
        <p:nvSpPr>
          <p:cNvPr id="162826" name="Rectangle 7"/>
          <p:cNvSpPr>
            <a:spLocks noGrp="1" noChangeArrowheads="1"/>
          </p:cNvSpPr>
          <p:nvPr>
            <p:ph type="body"/>
          </p:nvPr>
        </p:nvSpPr>
        <p:spPr>
          <a:xfrm>
            <a:off x="731838" y="4559300"/>
            <a:ext cx="5851525" cy="4322763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49263" eaLnBrk="1" hangingPunct="1"/>
            <a:endParaRPr lang="he-IL" alt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2780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94211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2117A42F-097C-4D32-9D97-9508A460FD9E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17</a:t>
            </a:fld>
            <a:endParaRPr lang="en-US" altLang="he-IL" sz="1300"/>
          </a:p>
        </p:txBody>
      </p:sp>
      <p:sp>
        <p:nvSpPr>
          <p:cNvPr id="9421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1750" cy="38354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421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0557" y="4859334"/>
            <a:ext cx="5681363" cy="46055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40131991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6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r>
              <a:rPr lang="en-US" altLang="he-IL" sz="1300"/>
              <a:t>10/30/11</a:t>
            </a:r>
          </a:p>
        </p:txBody>
      </p:sp>
      <p:sp>
        <p:nvSpPr>
          <p:cNvPr id="94211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algn="l" defTabSz="449263" rtl="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Pct val="45000"/>
              <a:buFontTx/>
              <a:buNone/>
            </a:pPr>
            <a:fld id="{2117A42F-097C-4D32-9D97-9508A460FD9E}" type="slidenum">
              <a:rPr lang="he-IL" altLang="he-IL" sz="1300"/>
              <a:pPr>
                <a:spcBef>
                  <a:spcPct val="0"/>
                </a:spcBef>
                <a:buClrTx/>
                <a:buSzPct val="45000"/>
                <a:buFontTx/>
                <a:buNone/>
              </a:pPr>
              <a:t>18</a:t>
            </a:fld>
            <a:endParaRPr lang="en-US" altLang="he-IL" sz="1300"/>
          </a:p>
        </p:txBody>
      </p:sp>
      <p:sp>
        <p:nvSpPr>
          <p:cNvPr id="9421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1750" cy="3835400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421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0557" y="4859334"/>
            <a:ext cx="5681363" cy="4605538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2263902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8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he-IL" altLang="en-US" noProof="0"/>
              <a:t>לחץ כדי לערוך סגנון כותרת של תבנית בסיס</a:t>
            </a:r>
            <a:endParaRPr lang="en-US" altLang="en-US" noProof="0"/>
          </a:p>
        </p:txBody>
      </p:sp>
      <p:sp>
        <p:nvSpPr>
          <p:cNvPr id="2058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he-IL" altLang="en-US" noProof="0"/>
              <a:t>לחץ כדי לערוך סגנון כותרת משנה של תבנית בסיס</a:t>
            </a:r>
            <a:endParaRPr lang="en-US" altLang="en-US" noProof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A6273C-1F2F-431C-BD1C-8546A1EE5701}" type="datetime1">
              <a:rPr lang="en-US"/>
              <a:pPr>
                <a:defRPr/>
              </a:pPr>
              <a:t>10/13/26</a:t>
            </a:fld>
            <a:endParaRPr lang="en-US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© Amir Herzberg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4D2AF0-3F4E-4C7F-A3D1-E59385A618C6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2954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89AF81-86C8-42BE-9FE7-8344B2A8D9CC}" type="datetime1">
              <a:rPr lang="en-US"/>
              <a:pPr>
                <a:defRPr/>
              </a:pPr>
              <a:t>10/13/26</a:t>
            </a:fld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C8934D-7EC5-4767-94BA-6AA41C7401E4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5710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380A02-5BF8-49EE-ACB8-4FCBBE7AAC2D}" type="datetime1">
              <a:rPr lang="en-US"/>
              <a:pPr>
                <a:defRPr/>
              </a:pPr>
              <a:t>10/13/26</a:t>
            </a:fld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AA7237-B055-4510-921E-0537365C473F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597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49350"/>
            <a:ext cx="4038600" cy="4981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9350"/>
            <a:ext cx="4038600" cy="4981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26DCD2-7BB4-46F5-8D0E-79586276701E}" type="datetime1">
              <a:rPr lang="en-US"/>
              <a:pPr>
                <a:defRPr/>
              </a:pPr>
              <a:t>10/13/26</a:t>
            </a:fld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431635-4FA1-4FE9-9842-F993DD48D53D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0184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071FFC-C336-4731-B7DB-BD9DFC5634B0}" type="datetime1">
              <a:rPr lang="en-US"/>
              <a:pPr>
                <a:defRPr/>
              </a:pPr>
              <a:t>10/13/26</a:t>
            </a:fld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396C21-4B9F-4129-9CE0-7BA49FFB8242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0889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B1DA6C-CB3E-4F55-BF7C-F65BC845CBC9}" type="datetime1">
              <a:rPr lang="en-US"/>
              <a:pPr>
                <a:defRPr/>
              </a:pPr>
              <a:t>10/13/26</a:t>
            </a:fld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ABC885-442D-4533-A036-89E169523CA2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038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7A66FA-166B-454F-AF3E-C6BD5A86277D}" type="datetime1">
              <a:rPr lang="en-US"/>
              <a:pPr>
                <a:defRPr/>
              </a:pPr>
              <a:t>10/13/26</a:t>
            </a:fld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DA6FC6-FE3D-4F44-AA45-B28E60E0E1EC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3262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FC622C-CAF7-43CD-8B73-AFAE8D85458C}" type="datetime1">
              <a:rPr lang="en-US"/>
              <a:pPr>
                <a:defRPr/>
              </a:pPr>
              <a:t>10/13/26</a:t>
            </a:fld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C04E54-6371-4D36-BCD1-5A684FF0EC6A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7156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he-IL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C84D76-0910-4B1A-A748-C610C65F09D1}" type="datetime1">
              <a:rPr lang="en-US"/>
              <a:pPr>
                <a:defRPr/>
              </a:pPr>
              <a:t>10/13/26</a:t>
            </a:fld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8BE311-231C-44B9-8789-693B6D40C0E9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4869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938" y="277813"/>
            <a:ext cx="8297862" cy="7794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149350"/>
            <a:ext cx="8229600" cy="4981575"/>
          </a:xfrm>
        </p:spPr>
        <p:txBody>
          <a:bodyPr/>
          <a:lstStyle/>
          <a:p>
            <a:pPr lvl="0"/>
            <a:endParaRPr lang="he-IL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4E378D-2C51-41A9-9CFC-B518BF0268F9}" type="datetime1">
              <a:rPr lang="en-US"/>
              <a:pPr>
                <a:defRPr/>
              </a:pPr>
              <a:t>10/13/26</a:t>
            </a:fld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49DABF-7902-413D-B4B9-3F3633F3E252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4932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938" y="277813"/>
            <a:ext cx="8297862" cy="7794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149350"/>
            <a:ext cx="4038600" cy="4981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9350"/>
            <a:ext cx="4038600" cy="4981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F32241-6740-49EA-AE42-455120AF158B}" type="datetime1">
              <a:rPr lang="en-US"/>
              <a:pPr>
                <a:defRPr/>
              </a:pPr>
              <a:t>10/13/26</a:t>
            </a:fld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© Amir Herzberg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09758C-9635-4B51-971E-0EBA745E228E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2676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8938" y="277813"/>
            <a:ext cx="8297862" cy="779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he-IL" altLang="en-US"/>
              <a:t>לחץ כדי לערוך סגנון כותרת של תבנית</a:t>
            </a:r>
            <a:endParaRPr lang="en-US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49350"/>
            <a:ext cx="8229600" cy="4981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he-IL" altLang="en-US"/>
              <a:t>לחץ כדי לערוך סגנונות טקסט של תבנית בסיס</a:t>
            </a:r>
            <a:endParaRPr lang="en-US" altLang="en-US"/>
          </a:p>
          <a:p>
            <a:pPr lvl="1"/>
            <a:r>
              <a:rPr lang="he-IL" altLang="en-US"/>
              <a:t>רמה שנייה</a:t>
            </a:r>
            <a:endParaRPr lang="en-US" altLang="en-US"/>
          </a:p>
          <a:p>
            <a:pPr lvl="2"/>
            <a:r>
              <a:rPr lang="he-IL" altLang="en-US"/>
              <a:t>רמה שלישית</a:t>
            </a:r>
            <a:endParaRPr lang="en-US" altLang="en-US"/>
          </a:p>
          <a:p>
            <a:pPr lvl="3"/>
            <a:r>
              <a:rPr lang="he-IL" altLang="en-US"/>
              <a:t>רמה רביעית</a:t>
            </a:r>
            <a:endParaRPr lang="en-US" altLang="en-US"/>
          </a:p>
          <a:p>
            <a:pPr lvl="4"/>
            <a:r>
              <a:rPr lang="he-IL" altLang="en-US"/>
              <a:t>רמה חמישית</a:t>
            </a:r>
            <a:endParaRPr lang="en-US" altLang="en-US"/>
          </a:p>
        </p:txBody>
      </p:sp>
      <p:sp>
        <p:nvSpPr>
          <p:cNvPr id="20480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  <a:cs typeface="Arial" pitchFamily="34" charset="0"/>
              </a:defRPr>
            </a:lvl1pPr>
          </a:lstStyle>
          <a:p>
            <a:pPr>
              <a:defRPr/>
            </a:pPr>
            <a:fld id="{32D4F0DF-62AB-489C-ADD9-BC5D8394659D}" type="datetime1">
              <a:rPr lang="en-US"/>
              <a:pPr>
                <a:defRPr/>
              </a:pPr>
              <a:t>10/13/26</a:t>
            </a:fld>
            <a:endParaRPr lang="en-US" altLang="en-US"/>
          </a:p>
        </p:txBody>
      </p:sp>
      <p:sp>
        <p:nvSpPr>
          <p:cNvPr id="20480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+mj-lt"/>
                <a:cs typeface="Arial" pitchFamily="34" charset="0"/>
              </a:defRPr>
            </a:lvl1pPr>
          </a:lstStyle>
          <a:p>
            <a:pPr>
              <a:defRPr/>
            </a:pPr>
            <a:r>
              <a:rPr lang="he-IL" altLang="en-US"/>
              <a:t>http://AmirHerzberg.com</a:t>
            </a:r>
            <a:endParaRPr lang="en-US" altLang="en-US"/>
          </a:p>
        </p:txBody>
      </p:sp>
      <p:sp>
        <p:nvSpPr>
          <p:cNvPr id="20480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j-lt"/>
                <a:cs typeface="Arial" pitchFamily="34" charset="0"/>
              </a:defRPr>
            </a:lvl1pPr>
          </a:lstStyle>
          <a:p>
            <a:pPr>
              <a:defRPr/>
            </a:pPr>
            <a:fld id="{50696B61-880C-40B0-92F8-D00C8B9FE61D}" type="slidenum">
              <a:rPr lang="he-IL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31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2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2" r:id="rId10"/>
    <p:sldLayoutId id="2147483733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  <a:cs typeface="+mn-cs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  <a:cs typeface="+mn-cs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  <a:cs typeface="+mn-cs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3" Type="http://schemas.openxmlformats.org/officeDocument/2006/relationships/image" Target="../media/image127.png"/><Relationship Id="rId7" Type="http://schemas.openxmlformats.org/officeDocument/2006/relationships/image" Target="../media/image13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8.emf"/><Relationship Id="rId5" Type="http://schemas.openxmlformats.org/officeDocument/2006/relationships/image" Target="../media/image7.png"/><Relationship Id="rId10" Type="http://schemas.openxmlformats.org/officeDocument/2006/relationships/image" Target="../media/image1340.png"/><Relationship Id="rId4" Type="http://schemas.openxmlformats.org/officeDocument/2006/relationships/image" Target="../media/image128.png"/><Relationship Id="rId9" Type="http://schemas.openxmlformats.org/officeDocument/2006/relationships/image" Target="../media/image14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20663" y="420688"/>
            <a:ext cx="8923337" cy="3254375"/>
          </a:xfrm>
        </p:spPr>
        <p:txBody>
          <a:bodyPr/>
          <a:lstStyle/>
          <a:p>
            <a:pPr algn="ctr"/>
            <a:r>
              <a:rPr lang="en-US" altLang="en-US" sz="2800" dirty="0"/>
              <a:t>CSE 3400/CSE 5850 - Introduction to Cryptography &amp; Cybersecurity / Introduction to Cybersecurity</a:t>
            </a:r>
            <a:br>
              <a:rPr lang="en-US" altLang="en-US" sz="2800" dirty="0"/>
            </a:br>
            <a:br>
              <a:rPr lang="en-US" altLang="en-US" sz="4000" dirty="0"/>
            </a:br>
            <a:r>
              <a:rPr lang="en-US" altLang="en-US" sz="4000" dirty="0"/>
              <a:t>Lecture 7</a:t>
            </a:r>
            <a:br>
              <a:rPr lang="en-US" altLang="en-US" sz="4000" dirty="0"/>
            </a:br>
            <a:r>
              <a:rPr lang="en-US" sz="40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rPr>
              <a:t>Hash Functions – Part II</a:t>
            </a:r>
            <a:br>
              <a:rPr lang="en-US" sz="4000" dirty="0">
                <a:solidFill>
                  <a:prstClr val="black"/>
                </a:solidFill>
                <a:latin typeface="Times New Roman" pitchFamily="18"/>
                <a:ea typeface="Arial Unicode MS" pitchFamily="2"/>
                <a:cs typeface="Tahoma" pitchFamily="2"/>
              </a:rPr>
            </a:br>
            <a:endParaRPr lang="en-US" sz="3600" dirty="0"/>
          </a:p>
        </p:txBody>
      </p:sp>
      <p:sp>
        <p:nvSpPr>
          <p:cNvPr id="2052" name="Rectangle 7"/>
          <p:cNvSpPr>
            <a:spLocks noGrp="1" noChangeArrowheads="1"/>
          </p:cNvSpPr>
          <p:nvPr>
            <p:ph type="subTitle" idx="4294967295"/>
          </p:nvPr>
        </p:nvSpPr>
        <p:spPr>
          <a:xfrm>
            <a:off x="0" y="3940175"/>
            <a:ext cx="9144000" cy="600075"/>
          </a:xfrm>
        </p:spPr>
        <p:txBody>
          <a:bodyPr/>
          <a:lstStyle/>
          <a:p>
            <a:pPr marL="0" indent="0" algn="ctr">
              <a:buNone/>
            </a:pPr>
            <a:r>
              <a:rPr lang="en-US" sz="2800" dirty="0" err="1"/>
              <a:t>Ghada</a:t>
            </a:r>
            <a:r>
              <a:rPr lang="en-US" sz="2800" dirty="0"/>
              <a:t> </a:t>
            </a:r>
            <a:r>
              <a:rPr lang="en-US" sz="2800" dirty="0" err="1"/>
              <a:t>Almashaqbeh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dirty="0">
                <a:solidFill>
                  <a:srgbClr val="0070C0"/>
                </a:solidFill>
              </a:rPr>
              <a:t>UConn</a:t>
            </a:r>
            <a:endParaRPr lang="en-US" sz="2000" dirty="0">
              <a:solidFill>
                <a:srgbClr val="0070C0"/>
              </a:solidFill>
            </a:endParaRPr>
          </a:p>
          <a:p>
            <a:pPr algn="ctr"/>
            <a:endParaRPr lang="en-US" sz="2800" dirty="0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0870FB93-3BDE-3443-B461-0B38FC66C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0413" y="5382324"/>
            <a:ext cx="7012379" cy="833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>
              <a:spcBef>
                <a:spcPts val="750"/>
              </a:spcBef>
              <a:spcAft>
                <a:spcPct val="0"/>
              </a:spcAft>
              <a:buNone/>
              <a:tabLst>
                <a:tab pos="341313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  <a:defRPr lang="en-US" sz="2400">
                <a:solidFill>
                  <a:srgbClr val="000000"/>
                </a:solidFill>
                <a:latin typeface="Arial" pitchFamily="34"/>
                <a:cs typeface="Arial" pitchFamily="34"/>
              </a:defRPr>
            </a:lvl1pPr>
            <a:lvl2pPr marL="457200" indent="0" algn="ctr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0" indent="0" algn="ctr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00" indent="0" algn="ctr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00" indent="0" algn="ctr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hangingPunct="1"/>
            <a:r>
              <a:rPr lang="en-US" sz="1800" kern="0" dirty="0"/>
              <a:t>Adapted from textbook slides</a:t>
            </a:r>
            <a:endParaRPr lang="en-US" sz="1800" kern="0" dirty="0">
              <a:solidFill>
                <a:srgbClr val="0070C0"/>
              </a:solidFill>
            </a:endParaRPr>
          </a:p>
          <a:p>
            <a:pPr defTabSz="914400" hangingPunct="1"/>
            <a:endParaRPr lang="en-US" sz="2800" kern="0" dirty="0"/>
          </a:p>
        </p:txBody>
      </p:sp>
    </p:spTree>
    <p:extLst>
      <p:ext uri="{BB962C8B-B14F-4D97-AF65-F5344CB8AC3E}">
        <p14:creationId xmlns:p14="http://schemas.microsoft.com/office/powerpoint/2010/main" val="532899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1B9FA-F0CD-214F-8801-A83CE6EB1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0C1A4-0F85-4E45-9F45-2D6AC6B2B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dirty="0"/>
              <a:t>Hash based MACs.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Accumulators.</a:t>
            </a:r>
          </a:p>
          <a:p>
            <a:pPr lvl="1"/>
            <a:r>
              <a:rPr lang="en-US" dirty="0"/>
              <a:t>Merkle-</a:t>
            </a:r>
            <a:r>
              <a:rPr lang="en-US" dirty="0" err="1"/>
              <a:t>Damgard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Merkle trees.</a:t>
            </a:r>
          </a:p>
          <a:p>
            <a:pPr lvl="1"/>
            <a:r>
              <a:rPr lang="en-US" dirty="0"/>
              <a:t>Blockchains.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73142B-9D9F-4744-AC12-E2B1DDF953B2}"/>
              </a:ext>
            </a:extLst>
          </p:cNvPr>
          <p:cNvSpPr txBox="1">
            <a:spLocks/>
          </p:cNvSpPr>
          <p:nvPr/>
        </p:nvSpPr>
        <p:spPr>
          <a:xfrm>
            <a:off x="8240486" y="6242050"/>
            <a:ext cx="439963" cy="4508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6800" rIns="90000" bIns="46800" anchor="b" anchorCtr="0" compatLnSpc="1">
            <a:noAutofit/>
          </a:bodyPr>
          <a:lstStyle>
            <a:defPPr>
              <a:defRPr lang="en-GB"/>
            </a:defPPr>
            <a:lvl1pPr marL="0" marR="0" lvl="0" indent="0" algn="l" defTabSz="449263" rtl="0" eaLnBrk="1" fontAlgn="base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lang="en-US" sz="3000" b="0" i="0" u="none" strike="noStrike" kern="1200" baseline="0">
                <a:solidFill>
                  <a:srgbClr val="000000"/>
                </a:solidFill>
                <a:latin typeface="Arial" panose="020B0604020202020204" pitchFamily="34" charset="0"/>
                <a:ea typeface="Arial" pitchFamily="34"/>
                <a:cs typeface="Arial" panose="020B0604020202020204" pitchFamily="34" charset="0"/>
              </a:defRPr>
            </a:lvl1pPr>
            <a:lvl2pPr marL="742950" indent="-285750" algn="l" defTabSz="449263" rtl="0" eaLnBrk="0" fontAlgn="base" hangingPunct="0">
              <a:spcBef>
                <a:spcPts val="6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49263" rtl="0" eaLnBrk="0" fontAlgn="base" hangingPunct="0">
              <a:spcBef>
                <a:spcPts val="55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449263" rtl="0" eaLnBrk="0" fontAlgn="base" latinLnBrk="0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A9F0D9-C7A7-4A77-9695-8775D8CEDA3F}" type="slidenum">
              <a:rPr lang="he-IL" altLang="he-IL" sz="1800" smtClean="0"/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he-IL" altLang="he-IL" sz="1800" dirty="0"/>
          </a:p>
        </p:txBody>
      </p:sp>
    </p:spTree>
    <p:extLst>
      <p:ext uri="{BB962C8B-B14F-4D97-AF65-F5344CB8AC3E}">
        <p14:creationId xmlns:p14="http://schemas.microsoft.com/office/powerpoint/2010/main" val="1337818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B94970-7923-4857-BA6F-AD2134BA9294}" type="slidenum">
              <a:rPr lang="he-IL" altLang="en-US"/>
              <a:pPr>
                <a:defRPr/>
              </a:pPr>
              <a:t>3</a:t>
            </a:fld>
            <a:endParaRPr lang="en-US" altLang="en-US"/>
          </a:p>
        </p:txBody>
      </p:sp>
      <p:sp>
        <p:nvSpPr>
          <p:cNvPr id="8602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3988" cy="73660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/>
          <a:p>
            <a:pPr defTabSz="449263"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Hash based MAC</a:t>
            </a:r>
          </a:p>
        </p:txBody>
      </p:sp>
      <p:sp>
        <p:nvSpPr>
          <p:cNvPr id="860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7175" y="1236745"/>
            <a:ext cx="8629650" cy="5391862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/>
          <a:p>
            <a:pPr marL="341313" indent="-341313" defTabSz="449263" eaLnBrk="1" hangingPunct="1">
              <a:lnSpc>
                <a:spcPct val="90000"/>
              </a:lnSpc>
              <a:spcBef>
                <a:spcPts val="775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500" dirty="0"/>
              <a:t>Hash-based MAC is often faster than block cipher-based MACs. </a:t>
            </a:r>
          </a:p>
          <a:p>
            <a:pPr marL="341313" indent="-341313" defTabSz="449263" eaLnBrk="1" hangingPunct="1">
              <a:lnSpc>
                <a:spcPct val="90000"/>
              </a:lnSpc>
              <a:spcBef>
                <a:spcPts val="775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500" dirty="0"/>
              <a:t>How? Heuristic constructions:</a:t>
            </a:r>
          </a:p>
          <a:p>
            <a:pPr marL="341313" indent="-341313" defTabSz="449263" eaLnBrk="1" hangingPunct="1">
              <a:lnSpc>
                <a:spcPct val="90000"/>
              </a:lnSpc>
              <a:spcBef>
                <a:spcPts val="775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en-US" sz="3100" dirty="0"/>
          </a:p>
          <a:p>
            <a:pPr marL="341313" indent="-341313" defTabSz="449263" eaLnBrk="1" hangingPunct="1">
              <a:lnSpc>
                <a:spcPct val="90000"/>
              </a:lnSpc>
              <a:spcBef>
                <a:spcPts val="775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en-US" sz="3100" dirty="0"/>
          </a:p>
          <a:p>
            <a:pPr marL="0" indent="0" defTabSz="449263" eaLnBrk="1" hangingPunct="1">
              <a:lnSpc>
                <a:spcPct val="90000"/>
              </a:lnSpc>
              <a:spcBef>
                <a:spcPts val="775"/>
              </a:spcBef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en-US" sz="3100" dirty="0"/>
          </a:p>
          <a:p>
            <a:pPr marL="414338" indent="-284163" defTabSz="449263" eaLnBrk="1" hangingPunct="1">
              <a:lnSpc>
                <a:spcPct val="90000"/>
              </a:lnSpc>
              <a:spcBef>
                <a:spcPts val="675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500" dirty="0"/>
              <a:t>Are these secure assuming CRHF? OWF? Both? </a:t>
            </a:r>
          </a:p>
          <a:p>
            <a:pPr marL="1093788" lvl="2" indent="-284163" defTabSz="449263" eaLnBrk="1" hangingPunct="1">
              <a:lnSpc>
                <a:spcPct val="90000"/>
              </a:lnSpc>
              <a:spcBef>
                <a:spcPts val="675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500" dirty="0"/>
              <a:t>No.</a:t>
            </a:r>
            <a:r>
              <a:rPr lang="en-GB" altLang="en-US" sz="2800" dirty="0"/>
              <a:t> </a:t>
            </a:r>
          </a:p>
          <a:p>
            <a:pPr marL="414338" indent="-284163" defTabSz="449263" eaLnBrk="1" hangingPunct="1">
              <a:lnSpc>
                <a:spcPct val="90000"/>
              </a:lnSpc>
              <a:spcBef>
                <a:spcPts val="675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500" dirty="0"/>
              <a:t>But: all are ‘secure in the random oracle model’: when the hash function is assumed to behave like a random function.</a:t>
            </a:r>
          </a:p>
          <a:p>
            <a:pPr marL="341313" indent="-341313" defTabSz="449263" eaLnBrk="1" hangingPunct="1">
              <a:lnSpc>
                <a:spcPct val="90000"/>
              </a:lnSpc>
              <a:spcBef>
                <a:spcPts val="775"/>
              </a:spcBef>
              <a:buFont typeface="Wingdings" pitchFamily="2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en-US" sz="26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40E68F8-6DCF-9941-9CE4-A3AF4B823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684" y="2588872"/>
            <a:ext cx="6068378" cy="1300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27185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19CC8B-3160-4B16-AB31-0F50EC77D3BF}" type="slidenum">
              <a:rPr lang="he-IL" altLang="en-US"/>
              <a:pPr>
                <a:defRPr/>
              </a:pPr>
              <a:t>4</a:t>
            </a:fld>
            <a:endParaRPr lang="en-US" altLang="en-US"/>
          </a:p>
        </p:txBody>
      </p:sp>
      <p:sp>
        <p:nvSpPr>
          <p:cNvPr id="8806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21623"/>
            <a:ext cx="8354291" cy="740845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/>
          <a:p>
            <a:pPr defTabSz="449263"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/>
              <a:t>Hash-based MAC: HMAC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070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16724" y="1279005"/>
                <a:ext cx="8835242" cy="4231031"/>
              </a:xfrm>
              <a:extLst>
                <a:ext uri="{91240B29-F687-4F45-9708-019B960494DF}">
                  <a14:hiddenLine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>
                <a:spAutoFit/>
              </a:bodyPr>
              <a:lstStyle/>
              <a:p>
                <a:pPr marL="341313" indent="-341313" defTabSz="449263" eaLnBrk="1" hangingPunct="1"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GB" altLang="en-US" sz="2500" dirty="0"/>
                  <a:t>HMAC uses an unkeyed hash function </a:t>
                </a:r>
                <a14:m>
                  <m:oMath xmlns:m="http://schemas.openxmlformats.org/officeDocument/2006/math">
                    <m:r>
                      <a:rPr lang="en-GB" altLang="en-US" sz="2500" i="1" dirty="0"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lang="en-GB" altLang="en-US" sz="2500" dirty="0"/>
                  <a:t>:</a:t>
                </a:r>
              </a:p>
              <a:p>
                <a:pPr marL="341313" indent="-341313" algn="ctr" defTabSz="449263" eaLnBrk="1" hangingPunct="1">
                  <a:buFont typeface="Wingdings" pitchFamily="2" charset="2"/>
                  <a:buNone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GB" altLang="en-US" sz="2500" i="1" dirty="0" err="1">
                    <a:latin typeface="Times New Roman" pitchFamily="18" charset="0"/>
                    <a:cs typeface="Times New Roman" pitchFamily="18" charset="0"/>
                  </a:rPr>
                  <a:t>HMAC</a:t>
                </a:r>
                <a:r>
                  <a:rPr lang="en-GB" altLang="en-US" sz="2500" b="1" i="1" baseline="-30000" dirty="0" err="1">
                    <a:latin typeface="Times New Roman" pitchFamily="18" charset="0"/>
                    <a:cs typeface="Times New Roman" pitchFamily="18" charset="0"/>
                  </a:rPr>
                  <a:t>k</a:t>
                </a:r>
                <a:r>
                  <a:rPr lang="en-GB" altLang="en-US" sz="2500" i="1" dirty="0">
                    <a:latin typeface="Times New Roman" pitchFamily="18" charset="0"/>
                    <a:cs typeface="Times New Roman" pitchFamily="18" charset="0"/>
                  </a:rPr>
                  <a:t>(x)=h(k</a:t>
                </a:r>
                <a:r>
                  <a:rPr lang="en-GB" altLang="en-US" sz="2500" i="1" dirty="0">
                    <a:latin typeface="Symbol" pitchFamily="18" charset="2"/>
                    <a:cs typeface="Times New Roman" pitchFamily="18" charset="0"/>
                  </a:rPr>
                  <a:t></a:t>
                </a:r>
                <a:r>
                  <a:rPr lang="en-GB" altLang="en-US" sz="2500" i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GB" altLang="en-US" sz="2500" i="1" dirty="0" err="1">
                    <a:latin typeface="Times New Roman" pitchFamily="18" charset="0"/>
                    <a:cs typeface="Times New Roman" pitchFamily="18" charset="0"/>
                  </a:rPr>
                  <a:t>opad</a:t>
                </a:r>
                <a:r>
                  <a:rPr lang="en-GB" altLang="en-US" sz="2500" i="1" dirty="0">
                    <a:latin typeface="Times New Roman" pitchFamily="18" charset="0"/>
                    <a:cs typeface="Times New Roman" pitchFamily="18" charset="0"/>
                  </a:rPr>
                  <a:t> || h(k </a:t>
                </a:r>
                <a:r>
                  <a:rPr lang="en-GB" altLang="en-US" sz="2500" i="1" dirty="0">
                    <a:latin typeface="Symbol" pitchFamily="18" charset="2"/>
                    <a:cs typeface="Times New Roman" pitchFamily="18" charset="0"/>
                  </a:rPr>
                  <a:t></a:t>
                </a:r>
                <a:r>
                  <a:rPr lang="en-GB" altLang="en-US" sz="2500" i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GB" altLang="en-US" sz="2500" i="1" dirty="0" err="1">
                    <a:latin typeface="Times New Roman" pitchFamily="18" charset="0"/>
                    <a:cs typeface="Times New Roman" pitchFamily="18" charset="0"/>
                  </a:rPr>
                  <a:t>ipad</a:t>
                </a:r>
                <a:r>
                  <a:rPr lang="en-GB" altLang="en-US" sz="2500" i="1" dirty="0">
                    <a:latin typeface="Times New Roman" pitchFamily="18" charset="0"/>
                    <a:cs typeface="Times New Roman" pitchFamily="18" charset="0"/>
                  </a:rPr>
                  <a:t> || x))</a:t>
                </a:r>
              </a:p>
              <a:p>
                <a:pPr marL="741363" lvl="1" indent="-284163" defTabSz="449263" eaLnBrk="1" hangingPunct="1"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GB" altLang="en-US" sz="2500" i="1" dirty="0" err="1">
                    <a:latin typeface="Times New Roman" pitchFamily="18" charset="0"/>
                    <a:cs typeface="Times New Roman" pitchFamily="18" charset="0"/>
                  </a:rPr>
                  <a:t>opad</a:t>
                </a:r>
                <a:r>
                  <a:rPr lang="en-GB" altLang="en-US" sz="2500" i="1" dirty="0">
                    <a:latin typeface="Times New Roman" pitchFamily="18" charset="0"/>
                    <a:cs typeface="Times New Roman" pitchFamily="18" charset="0"/>
                  </a:rPr>
                  <a:t>, </a:t>
                </a:r>
                <a:r>
                  <a:rPr lang="en-GB" altLang="en-US" sz="2500" i="1" dirty="0" err="1">
                    <a:latin typeface="Times New Roman" pitchFamily="18" charset="0"/>
                    <a:cs typeface="Times New Roman" pitchFamily="18" charset="0"/>
                  </a:rPr>
                  <a:t>ipad</a:t>
                </a:r>
                <a:r>
                  <a:rPr lang="en-GB" altLang="en-US" sz="2500" i="1" dirty="0">
                    <a:latin typeface="Times New Roman" pitchFamily="18" charset="0"/>
                    <a:cs typeface="Times New Roman" pitchFamily="18" charset="0"/>
                  </a:rPr>
                  <a:t>: </a:t>
                </a:r>
                <a:r>
                  <a:rPr lang="en-GB" altLang="en-US" sz="2500" dirty="0"/>
                  <a:t>fixed sequences (of 36x, 5Cx resp.)</a:t>
                </a:r>
              </a:p>
              <a:p>
                <a:pPr marL="341313" indent="-341313" defTabSz="449263" eaLnBrk="1" hangingPunct="1"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GB" altLang="en-US" sz="2500" dirty="0"/>
                  <a:t>It is a secure MAC under ‘reasonable assumptions’ [beyond our scope]</a:t>
                </a:r>
              </a:p>
              <a:p>
                <a:pPr marL="341313" indent="-341313" defTabSz="449263" eaLnBrk="1" hangingPunct="1"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GB" altLang="en-US" sz="2500" dirty="0"/>
                  <a:t>Widely deployed </a:t>
                </a:r>
              </a:p>
              <a:p>
                <a:pPr marL="341313" indent="-341313" defTabSz="449263" eaLnBrk="1" hangingPunct="1"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GB" altLang="en-US" sz="2500" dirty="0"/>
                  <a:t>More results, more exposure </a:t>
                </a:r>
                <a:r>
                  <a:rPr lang="en-GB" altLang="en-US" sz="2500" dirty="0">
                    <a:sym typeface="Wingdings" panose="05000000000000000000" pitchFamily="2" charset="2"/>
                  </a:rPr>
                  <a:t> confidence!</a:t>
                </a:r>
              </a:p>
              <a:p>
                <a:pPr marL="341313" indent="-341313" defTabSz="449263" eaLnBrk="1" hangingPunct="1"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GB" altLang="en-US" sz="2500" dirty="0">
                    <a:sym typeface="Wingdings" panose="05000000000000000000" pitchFamily="2" charset="2"/>
                  </a:rPr>
                  <a:t>Hash functions are useful for MACs in another way:</a:t>
                </a:r>
              </a:p>
              <a:p>
                <a:pPr marL="668338" lvl="1" indent="-341313" defTabSz="449263" eaLnBrk="1" hangingPunct="1"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GB" altLang="en-US" sz="2500" dirty="0">
                    <a:sym typeface="Wingdings" panose="05000000000000000000" pitchFamily="2" charset="2"/>
                  </a:rPr>
                  <a:t>Hash then MAC for efficiency.</a:t>
                </a:r>
                <a:endParaRPr lang="en-GB" altLang="en-US" sz="2500" dirty="0"/>
              </a:p>
            </p:txBody>
          </p:sp>
        </mc:Choice>
        <mc:Fallback xmlns="">
          <p:sp>
            <p:nvSpPr>
              <p:cNvPr id="88070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16724" y="1279005"/>
                <a:ext cx="8835242" cy="4231031"/>
              </a:xfrm>
              <a:blipFill>
                <a:blip r:embed="rId3"/>
                <a:stretch>
                  <a:fillRect l="-431" t="-1198"/>
                </a:stretch>
              </a:blipFill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809122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Accumulators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600" dirty="0"/>
                  <a:t>Generalization of collision-resistant hash</a:t>
                </a:r>
              </a:p>
              <a:p>
                <a:pPr lvl="1"/>
                <a:r>
                  <a:rPr lang="en-US" dirty="0"/>
                  <a:t>Input is a </a:t>
                </a:r>
                <a:r>
                  <a:rPr lang="en-US" b="1" dirty="0"/>
                  <a:t>sequence (ordered list) </a:t>
                </a:r>
                <a:r>
                  <a:rPr lang="en-US" dirty="0"/>
                  <a:t>of messages</a:t>
                </a:r>
              </a:p>
              <a:p>
                <a:pPr lvl="1"/>
                <a:r>
                  <a:rPr lang="en-US" dirty="0"/>
                  <a:t>Output is n-bit </a:t>
                </a:r>
                <a:r>
                  <a:rPr lang="en-US" b="1" dirty="0"/>
                  <a:t>digest</a:t>
                </a:r>
                <a:r>
                  <a:rPr lang="en-US" dirty="0"/>
                  <a:t>, denoted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</m:oMath>
                </a14:m>
                <a:endParaRPr lang="en-US" dirty="0"/>
              </a:p>
              <a:p>
                <a:r>
                  <a:rPr lang="en-US" sz="2600" dirty="0"/>
                  <a:t>Collision resistance accumulator means that it is hard to find two different message lists that have the same digest.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3" t="-1272" r="-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C8934D-7EC5-4767-94BA-6AA41C7401E4}" type="slidenum">
              <a:rPr lang="he-IL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3139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C64B3-6180-48F1-8D74-F125956F1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Accumulator Components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48DB0E-0959-4CC0-BB30-5F94821A03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149350"/>
                <a:ext cx="8385717" cy="4981575"/>
              </a:xfrm>
            </p:spPr>
            <p:txBody>
              <a:bodyPr/>
              <a:lstStyle/>
              <a:p>
                <a:r>
                  <a:rPr lang="en-US" sz="2600" dirty="0"/>
                  <a:t>Digest function </a:t>
                </a:r>
                <a14:m>
                  <m:oMath xmlns:m="http://schemas.openxmlformats.org/officeDocument/2006/math">
                    <m:r>
                      <a:rPr lang="en-US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∆:</m:t>
                    </m:r>
                    <m:d>
                      <m:dPr>
                        <m:begChr m:val="{"/>
                        <m:endChr m:val="}"/>
                        <m:ctrlP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  <m:sSup>
                          <m:sSupPr>
                            <m:ctrlPr>
                              <a:rPr lang="en-US" sz="26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26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6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en-US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sz="2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endParaRPr lang="en-US" sz="2600" dirty="0"/>
              </a:p>
              <a:p>
                <a:pPr lvl="1"/>
                <a:r>
                  <a:rPr lang="en-US" sz="2400" dirty="0"/>
                  <a:t>Also called accumulate function.</a:t>
                </a:r>
              </a:p>
              <a:p>
                <a:pPr lvl="1"/>
                <a:r>
                  <a:rPr lang="en-US" sz="2400" dirty="0"/>
                  <a:t>Collision-resistance requirement</a:t>
                </a:r>
              </a:p>
              <a:p>
                <a:r>
                  <a:rPr lang="en-US" sz="2600" dirty="0"/>
                  <a:t>Validation of Inclusion: 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𝑃𝑜𝐼</m:t>
                    </m:r>
                  </m:oMath>
                </a14:m>
                <a:r>
                  <a:rPr lang="en-US" sz="2600" dirty="0"/>
                  <a:t> and 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𝑉𝑒𝑟𝑃𝑜𝐼</m:t>
                    </m:r>
                  </m:oMath>
                </a14:m>
                <a:endParaRPr lang="en-US" sz="26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𝑃𝑜𝐼</m:t>
                    </m:r>
                  </m:oMath>
                </a14:m>
                <a:r>
                  <a:rPr lang="en-US" sz="2400" dirty="0"/>
                  <a:t> function: compute Proof of Inclusion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𝑉𝑒𝑟𝑃𝑜𝐼</m:t>
                    </m:r>
                  </m:oMath>
                </a14:m>
                <a:r>
                  <a:rPr lang="en-US" sz="2400" dirty="0"/>
                  <a:t> function: verify PoI</a:t>
                </a:r>
              </a:p>
              <a:p>
                <a:pPr lvl="1"/>
                <a:r>
                  <a:rPr lang="en-US" sz="2400" dirty="0"/>
                  <a:t>Optional, also Proof-of-Non-Inclusion (PoNI) </a:t>
                </a:r>
              </a:p>
              <a:p>
                <a:r>
                  <a:rPr lang="en-US" sz="2600" dirty="0"/>
                  <a:t>Extending the Sequence: Extend function with optional 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𝑃𝑜</m:t>
                    </m:r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600" dirty="0"/>
                  <a:t> and </a:t>
                </a:r>
                <a14:m>
                  <m:oMath xmlns:m="http://schemas.openxmlformats.org/officeDocument/2006/math"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𝑉𝑒𝑟𝑃𝑜</m:t>
                    </m:r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sz="26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𝑃𝑜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/>
                  <a:t>: Proof of Consistency (from old digest to new)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𝑉𝑒𝑟𝑃𝑜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/>
                  <a:t> function: verify PoC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48DB0E-0959-4CC0-BB30-5F94821A03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149350"/>
                <a:ext cx="8385717" cy="4981575"/>
              </a:xfrm>
              <a:blipFill>
                <a:blip r:embed="rId2"/>
                <a:stretch>
                  <a:fillRect l="-454" t="-1272" b="-12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C4BCCB-08D3-4818-B1E5-8CC272A66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>
              <a:defRPr/>
            </a:pPr>
            <a:fld id="{4AC8934D-7EC5-4767-94BA-6AA41C7401E4}" type="slidenum">
              <a:rPr lang="he-IL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887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EB83E-4875-420D-98B3-B80609C01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Correctness and Security for </a:t>
            </a:r>
            <a:r>
              <a:rPr lang="en-US" dirty="0" err="1"/>
              <a:t>PoI</a:t>
            </a:r>
            <a:r>
              <a:rPr lang="en-US" dirty="0"/>
              <a:t> and PoC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AC616C-162C-44AC-9962-80DB30408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C8934D-7EC5-4767-94BA-6AA41C7401E4}" type="slidenum">
              <a:rPr lang="he-IL" altLang="en-US" smtClean="0"/>
              <a:pPr>
                <a:defRPr/>
              </a:pPr>
              <a:t>7</a:t>
            </a:fld>
            <a:endParaRPr lang="en-US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FD8731-FC0D-E598-4B71-A95BB07E2C0B}"/>
              </a:ext>
            </a:extLst>
          </p:cNvPr>
          <p:cNvSpPr/>
          <p:nvPr/>
        </p:nvSpPr>
        <p:spPr bwMode="auto">
          <a:xfrm>
            <a:off x="7388772" y="2339501"/>
            <a:ext cx="833084" cy="31568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EC71716-053D-D66C-89B0-45D676F82136}"/>
              </a:ext>
            </a:extLst>
          </p:cNvPr>
          <p:cNvSpPr txBox="1">
            <a:spLocks/>
          </p:cNvSpPr>
          <p:nvPr/>
        </p:nvSpPr>
        <p:spPr>
          <a:xfrm>
            <a:off x="457199" y="1818167"/>
            <a:ext cx="8385717" cy="431275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r>
              <a:rPr lang="en-US" sz="2600" kern="0" dirty="0"/>
              <a:t>Correctness means that on input a valid </a:t>
            </a:r>
            <a:r>
              <a:rPr lang="en-US" sz="2600" kern="0" dirty="0" err="1"/>
              <a:t>PoI</a:t>
            </a:r>
            <a:r>
              <a:rPr lang="en-US" sz="2600" kern="0" dirty="0"/>
              <a:t>, </a:t>
            </a:r>
            <a:r>
              <a:rPr lang="en-US" sz="2600" kern="0" dirty="0" err="1"/>
              <a:t>VerPoI</a:t>
            </a:r>
            <a:r>
              <a:rPr lang="en-US" sz="2600" kern="0" dirty="0"/>
              <a:t> will output 1.</a:t>
            </a:r>
          </a:p>
          <a:p>
            <a:pPr lvl="1"/>
            <a:r>
              <a:rPr lang="en-US" sz="2400" kern="0" dirty="0"/>
              <a:t>Same for PoC.</a:t>
            </a:r>
          </a:p>
          <a:p>
            <a:r>
              <a:rPr lang="en-US" sz="2600" kern="0" dirty="0"/>
              <a:t>For </a:t>
            </a:r>
            <a:r>
              <a:rPr lang="en-US" sz="2600" kern="0" dirty="0" err="1"/>
              <a:t>PoI</a:t>
            </a:r>
            <a:r>
              <a:rPr lang="en-US" sz="2600" kern="0" dirty="0"/>
              <a:t>: security means that a PPT adversary cannot forge a valid </a:t>
            </a:r>
            <a:r>
              <a:rPr lang="en-US" sz="2600" kern="0" dirty="0" err="1"/>
              <a:t>PoI</a:t>
            </a:r>
            <a:r>
              <a:rPr lang="en-US" sz="2600" kern="0" dirty="0"/>
              <a:t> for a message that is not in the hashed list.</a:t>
            </a:r>
          </a:p>
          <a:p>
            <a:r>
              <a:rPr lang="en-US" sz="2600" kern="0" dirty="0"/>
              <a:t>For PoC: security means that a PPT adversary cannot forge a valid PoC for an invalid digest extension.</a:t>
            </a:r>
          </a:p>
          <a:p>
            <a:endParaRPr lang="en-US" sz="2400" kern="0" dirty="0"/>
          </a:p>
        </p:txBody>
      </p:sp>
    </p:spTree>
    <p:extLst>
      <p:ext uri="{BB962C8B-B14F-4D97-AF65-F5344CB8AC3E}">
        <p14:creationId xmlns:p14="http://schemas.microsoft.com/office/powerpoint/2010/main" val="509922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83E89-E49F-0B6F-C174-AAF1BA4CB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EA70F-4295-4D62-E9FC-C03B7672A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will Study Three Accumulator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E1728-D99B-B5B1-8B2A-2ABBD6A96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18167"/>
            <a:ext cx="8229600" cy="4312758"/>
          </a:xfrm>
        </p:spPr>
        <p:txBody>
          <a:bodyPr/>
          <a:lstStyle/>
          <a:p>
            <a:r>
              <a:rPr lang="en-US" dirty="0"/>
              <a:t>Merkle-</a:t>
            </a:r>
            <a:r>
              <a:rPr lang="en-US" dirty="0" err="1"/>
              <a:t>Damgard</a:t>
            </a:r>
            <a:r>
              <a:rPr lang="en-US" dirty="0"/>
              <a:t> accumulators.</a:t>
            </a:r>
          </a:p>
          <a:p>
            <a:r>
              <a:rPr lang="en-US" dirty="0"/>
              <a:t>Merkle trees.</a:t>
            </a:r>
          </a:p>
          <a:p>
            <a:r>
              <a:rPr lang="en-US" dirty="0"/>
              <a:t>Blockchains.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C0805D-7570-CF0B-9E20-2FB5A863B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C8934D-7EC5-4767-94BA-6AA41C7401E4}" type="slidenum">
              <a:rPr lang="he-IL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9658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AC5389-A415-4063-AB31-783C30B6E145}" type="slidenum">
              <a:rPr lang="he-IL" altLang="en-US"/>
              <a:pPr>
                <a:defRPr/>
              </a:pPr>
              <a:t>9</a:t>
            </a:fld>
            <a:endParaRPr lang="en-US" altLang="en-US"/>
          </a:p>
        </p:txBody>
      </p:sp>
      <p:sp>
        <p:nvSpPr>
          <p:cNvPr id="76806" name="Rectangle 14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181975" cy="67929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/>
          <a:p>
            <a:pPr defTabSz="449263"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 sz="3800" dirty="0"/>
              <a:t> The Merkle-</a:t>
            </a:r>
            <a:r>
              <a:rPr lang="en-GB" altLang="en-US" sz="3800" dirty="0" err="1"/>
              <a:t>Damgard</a:t>
            </a:r>
            <a:r>
              <a:rPr lang="en-GB" altLang="en-US" sz="3800" dirty="0"/>
              <a:t> Accumulator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6807" name="Rectangle 15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76212" y="1397275"/>
                <a:ext cx="8591550" cy="2440477"/>
              </a:xfrm>
              <a:extLst>
                <a:ext uri="{91240B29-F687-4F45-9708-019B960494DF}">
                  <a14:hiddenLine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pPr marL="341313" indent="-341313" defTabSz="449263" eaLnBrk="1" hangingPunct="1">
                  <a:spcBef>
                    <a:spcPts val="550"/>
                  </a:spcBef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GB" altLang="en-US" sz="2200" dirty="0"/>
                  <a:t>Idea: hash iteratively, message by message:</a:t>
                </a:r>
              </a:p>
              <a:p>
                <a:pPr marL="0" indent="0" defTabSz="449263" eaLnBrk="1" hangingPunct="1">
                  <a:spcBef>
                    <a:spcPts val="550"/>
                  </a:spcBef>
                  <a:buNone/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2000" dirty="0">
                    <a:solidFill>
                      <a:srgbClr val="000000"/>
                    </a:solidFill>
                    <a:ea typeface="Cambria Math" panose="02040503050406030204" pitchFamily="18" charset="0"/>
                    <a:cs typeface="Times New Roman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Δ</m:t>
                    </m:r>
                    <m:d>
                      <m:dPr>
                        <m:ctrlPr>
                          <a:rPr lang="en-US" altLang="en-US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GB" altLang="en-US" sz="2400" i="0" dirty="0"/>
                          <m:t>, … , </m:t>
                        </m:r>
                        <m:sSub>
                          <m:sSubPr>
                            <m:ctrlPr>
                              <a:rPr lang="en-US" altLang="en-US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  <m:r>
                      <a:rPr lang="en-US" altLang="en-US" sz="2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r>
                      <a:rPr lang="en-US" altLang="en-US" sz="2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ℎ</m:t>
                    </m:r>
                    <m:d>
                      <m:dPr>
                        <m:ctrlPr>
                          <a:rPr lang="el-G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Δ</m:t>
                        </m:r>
                        <m:d>
                          <m:dPr>
                            <m:ctrlPr>
                              <a:rPr lang="en-US" altLang="en-US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en-US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en-US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GB" altLang="en-US" sz="2400" i="0" dirty="0"/>
                              <m:t>, … , </m:t>
                            </m:r>
                            <m:sSub>
                              <m:sSubPr>
                                <m:ctrlPr>
                                  <a:rPr lang="en-US" altLang="en-US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en-US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𝑙</m:t>
                                </m:r>
                                <m:r>
                                  <a:rPr lang="en-US" altLang="en-US" sz="2000" b="0" i="1" dirty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</m:d>
                        <m:r>
                          <a:rPr lang="en-US" altLang="en-US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|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en-US" sz="20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altLang="en-US" sz="20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altLang="en-US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en-US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  <m:r>
                      <a:rPr lang="en-US" altLang="en-US" sz="2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 ;  </m:t>
                    </m:r>
                    <m:r>
                      <m:rPr>
                        <m:sty m:val="p"/>
                      </m:rPr>
                      <a:rPr lang="el-GR" alt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Δ</m:t>
                    </m:r>
                    <m:d>
                      <m:dPr>
                        <m:ctrlPr>
                          <a:rPr lang="en-US" altLang="en-US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en-US" sz="20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</m:oMath>
                </a14:m>
                <a:r>
                  <a:rPr lang="en-GB" altLang="en-US" sz="2000" dirty="0">
                    <a:solidFill>
                      <a:srgbClr val="000000"/>
                    </a:solidFill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0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ℎ</m:t>
                    </m:r>
                    <m:d>
                      <m:dPr>
                        <m:ctrlPr>
                          <a:rPr lang="en-US" altLang="en-US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en-US" sz="20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US" altLang="en-US" sz="20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en-US" altLang="en-US" sz="20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𝑛</m:t>
                            </m:r>
                            <m:r>
                              <a:rPr lang="en-US" altLang="en-US" sz="20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+1</m:t>
                            </m:r>
                          </m:sup>
                        </m:sSup>
                        <m:r>
                          <a:rPr lang="en-US" altLang="en-US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||</m:t>
                        </m:r>
                        <m:sSub>
                          <m:sSubPr>
                            <m:ctrlPr>
                              <a:rPr lang="en-US" altLang="en-US" sz="20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0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0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altLang="en-US" sz="2000" dirty="0">
                  <a:solidFill>
                    <a:srgbClr val="000000"/>
                  </a:solidFill>
                  <a:cs typeface="Times New Roman" pitchFamily="18" charset="0"/>
                </a:endParaRPr>
              </a:p>
              <a:p>
                <a:pPr marL="341313" indent="-341313" defTabSz="449263" eaLnBrk="1" hangingPunct="1">
                  <a:spcBef>
                    <a:spcPts val="550"/>
                  </a:spcBef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GB" altLang="en-US" sz="2200" dirty="0"/>
                  <a:t>Each message is a block of length </a:t>
                </a:r>
                <a:r>
                  <a:rPr lang="en-GB" altLang="en-US" sz="2200" i="1" dirty="0"/>
                  <a:t>n</a:t>
                </a:r>
                <a:r>
                  <a:rPr lang="en-GB" altLang="en-US" sz="2200" dirty="0"/>
                  <a:t> bits.</a:t>
                </a:r>
              </a:p>
              <a:p>
                <a:pPr marL="668338" lvl="1" indent="-341313" defTabSz="449263" eaLnBrk="1" hangingPunct="1">
                  <a:spcBef>
                    <a:spcPts val="550"/>
                  </a:spcBef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GB" altLang="en-US" sz="1800" dirty="0"/>
                  <a:t>Put differently, a long message is divided into blocks each of length </a:t>
                </a:r>
                <a:r>
                  <a:rPr lang="en-GB" altLang="en-US" sz="1800" i="1" dirty="0"/>
                  <a:t>n</a:t>
                </a:r>
                <a:r>
                  <a:rPr lang="en-GB" altLang="en-US" sz="1800" dirty="0"/>
                  <a:t> bits.</a:t>
                </a:r>
              </a:p>
              <a:p>
                <a:pPr marL="341313" indent="-341313" defTabSz="449263" eaLnBrk="1" hangingPunct="1">
                  <a:spcBef>
                    <a:spcPts val="550"/>
                  </a:spcBef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GB" altLang="en-US" sz="2200" dirty="0"/>
                  <a:t>I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2400" b="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f</m:t>
                    </m:r>
                    <m:r>
                      <a:rPr lang="en-US" altLang="en-US" sz="2400" b="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  <m:r>
                      <a:rPr lang="en-US" altLang="en-US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itchFamily="18" charset="0"/>
                      </a:rPr>
                      <m:t>ℎ</m:t>
                    </m:r>
                  </m:oMath>
                </a14:m>
                <a:r>
                  <a:rPr lang="en-GB" altLang="en-US" sz="2200" dirty="0"/>
                  <a:t> is a CRHF,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Δ</m:t>
                    </m:r>
                  </m:oMath>
                </a14:m>
                <a:r>
                  <a:rPr lang="en-GB" altLang="en-US" sz="2200" dirty="0"/>
                  <a:t> is a collision-resistant digest</a:t>
                </a:r>
              </a:p>
              <a:p>
                <a:pPr marL="668338" lvl="1" indent="-341313" defTabSz="449263" eaLnBrk="1" hangingPunct="1">
                  <a:spcBef>
                    <a:spcPts val="550"/>
                  </a:spcBef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GB" altLang="en-US" sz="1800" dirty="0"/>
                  <a:t>Proof… (out of scope, but you can see details in textbook)</a:t>
                </a:r>
              </a:p>
            </p:txBody>
          </p:sp>
        </mc:Choice>
        <mc:Fallback>
          <p:sp>
            <p:nvSpPr>
              <p:cNvPr id="76807" name="Rectangle 1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76212" y="1397275"/>
                <a:ext cx="8591550" cy="2440477"/>
              </a:xfrm>
              <a:blipFill>
                <a:blip r:embed="rId3"/>
                <a:stretch>
                  <a:fillRect l="-147" t="-1031"/>
                </a:stretch>
              </a:blipFill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 descr="Diagram&#10;&#10;Description automatically generated">
            <a:extLst>
              <a:ext uri="{FF2B5EF4-FFF2-40B4-BE49-F238E27FC236}">
                <a16:creationId xmlns:a16="http://schemas.microsoft.com/office/drawing/2014/main" id="{3E3D94AB-F76E-AE44-A04F-E0136F8B1A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027" y="3948235"/>
            <a:ext cx="8376745" cy="1882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235611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9CF7D4-185B-4BF5-8D6F-9B5BCCF6422D}" type="slidenum">
              <a:rPr lang="he-IL" altLang="en-US"/>
              <a:pPr>
                <a:defRPr/>
              </a:pPr>
              <a:t>10</a:t>
            </a:fld>
            <a:endParaRPr lang="en-US" altLang="en-US"/>
          </a:p>
        </p:txBody>
      </p:sp>
      <p:sp>
        <p:nvSpPr>
          <p:cNvPr id="79878" name="Rectangle 16"/>
          <p:cNvSpPr>
            <a:spLocks noGrp="1" noChangeArrowheads="1"/>
          </p:cNvSpPr>
          <p:nvPr>
            <p:ph type="title"/>
          </p:nvPr>
        </p:nvSpPr>
        <p:spPr>
          <a:xfrm>
            <a:off x="533400" y="342900"/>
            <a:ext cx="7773988" cy="67929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/>
          <a:p>
            <a:pPr defTabSz="449263"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 sz="3800" dirty="0"/>
              <a:t>Merkle-</a:t>
            </a:r>
            <a:r>
              <a:rPr lang="en-GB" altLang="en-US" sz="3800" dirty="0" err="1"/>
              <a:t>Damgard</a:t>
            </a:r>
            <a:r>
              <a:rPr lang="en-GB" altLang="en-US" sz="3800" dirty="0"/>
              <a:t> Length-Padding</a:t>
            </a:r>
          </a:p>
        </p:txBody>
      </p:sp>
      <p:sp>
        <p:nvSpPr>
          <p:cNvPr id="79879" name="Rectangle 17"/>
          <p:cNvSpPr>
            <a:spLocks noGrp="1" noChangeArrowheads="1"/>
          </p:cNvSpPr>
          <p:nvPr>
            <p:ph type="body" idx="1"/>
          </p:nvPr>
        </p:nvSpPr>
        <p:spPr>
          <a:xfrm>
            <a:off x="276225" y="1362833"/>
            <a:ext cx="8591550" cy="3280001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/>
          <a:p>
            <a:pPr marL="341313" indent="-341313" defTabSz="449263" eaLnBrk="1" hangingPunct="1">
              <a:spcBef>
                <a:spcPts val="55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400" dirty="0"/>
              <a:t>Aka Merkle - </a:t>
            </a:r>
            <a:r>
              <a:rPr lang="en-GB" altLang="en-US" sz="2400" dirty="0" err="1"/>
              <a:t>Damgard</a:t>
            </a:r>
            <a:r>
              <a:rPr lang="en-GB" altLang="en-US" sz="2400" dirty="0"/>
              <a:t> Strengthening; avoids the requirement of having the message as an integer number of blocks.</a:t>
            </a:r>
          </a:p>
          <a:p>
            <a:pPr marL="341313" indent="-341313" defTabSz="449263" eaLnBrk="1" hangingPunct="1">
              <a:spcBef>
                <a:spcPts val="55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300" dirty="0"/>
              <a:t>Let </a:t>
            </a:r>
            <a:r>
              <a:rPr lang="en-GB" altLang="en-US" sz="2300" i="1" dirty="0">
                <a:latin typeface="Times New Roman" pitchFamily="18" charset="0"/>
                <a:cs typeface="Times New Roman" pitchFamily="18" charset="0"/>
              </a:rPr>
              <a:t>pad(x)=1||0</a:t>
            </a:r>
            <a:r>
              <a:rPr lang="en-GB" altLang="en-US" sz="2300" i="1" baseline="30000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GB" altLang="en-US" sz="2300" i="1" dirty="0">
                <a:latin typeface="Times New Roman" pitchFamily="18" charset="0"/>
                <a:cs typeface="Times New Roman" pitchFamily="18" charset="0"/>
              </a:rPr>
              <a:t>||</a:t>
            </a:r>
            <a:r>
              <a:rPr lang="en-GB" altLang="en-US" sz="2300" dirty="0">
                <a:latin typeface="Times New Roman" pitchFamily="18" charset="0"/>
                <a:cs typeface="Times New Roman" pitchFamily="18" charset="0"/>
              </a:rPr>
              <a:t>bin</a:t>
            </a:r>
            <a:r>
              <a:rPr lang="en-GB" altLang="en-US" sz="2300" i="1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altLang="en-US" sz="2300" i="1" dirty="0">
                <a:latin typeface="Times New Roman" pitchFamily="18" charset="0"/>
                <a:cs typeface="Times New Roman" pitchFamily="18" charset="0"/>
              </a:rPr>
              <a:t>(|x|) ; x’=x||pad(x)</a:t>
            </a:r>
            <a:endParaRPr lang="en-GB" altLang="en-US" sz="2300" dirty="0"/>
          </a:p>
          <a:p>
            <a:pPr marL="741363" lvl="1" indent="-284163" defTabSz="449263" eaLnBrk="1" hangingPunct="1">
              <a:spcBef>
                <a:spcPts val="55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300" dirty="0"/>
              <a:t>Where </a:t>
            </a:r>
            <a:r>
              <a:rPr lang="en-GB" altLang="en-US" sz="2300" i="1" dirty="0">
                <a:latin typeface="Times New Roman" pitchFamily="18" charset="0"/>
                <a:cs typeface="Times New Roman" pitchFamily="18" charset="0"/>
              </a:rPr>
              <a:t>bin</a:t>
            </a:r>
            <a:r>
              <a:rPr lang="en-GB" altLang="en-US" sz="2300" i="1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altLang="en-US" sz="2300" i="1" dirty="0">
                <a:latin typeface="Times New Roman" pitchFamily="18" charset="0"/>
                <a:cs typeface="Times New Roman" pitchFamily="18" charset="0"/>
              </a:rPr>
              <a:t>(|x|) </a:t>
            </a:r>
            <a:r>
              <a:rPr lang="en-GB" altLang="en-US" sz="2300" dirty="0"/>
              <a:t>is the </a:t>
            </a:r>
            <a:r>
              <a:rPr lang="en-GB" altLang="en-US" sz="23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GB" altLang="en-US" sz="2300" dirty="0"/>
              <a:t>–bit binary representation of </a:t>
            </a:r>
            <a:r>
              <a:rPr lang="en-GB" altLang="en-US" sz="2300" i="1" dirty="0">
                <a:latin typeface="Times New Roman" pitchFamily="18" charset="0"/>
                <a:cs typeface="Times New Roman" pitchFamily="18" charset="0"/>
              </a:rPr>
              <a:t>|x|</a:t>
            </a:r>
          </a:p>
          <a:p>
            <a:pPr marL="341313" indent="-341313" defTabSz="449263" eaLnBrk="1" hangingPunct="1">
              <a:spcBef>
                <a:spcPts val="55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300" dirty="0"/>
              <a:t>For </a:t>
            </a:r>
            <a:r>
              <a:rPr lang="en-GB" altLang="en-US" sz="2300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GB" altLang="en-US" sz="2300" i="1" dirty="0">
                <a:latin typeface="Times New Roman" pitchFamily="18" charset="0"/>
                <a:cs typeface="Times New Roman" pitchFamily="18" charset="0"/>
              </a:rPr>
              <a:t>=1, ..., l, </a:t>
            </a:r>
            <a:r>
              <a:rPr lang="en-GB" altLang="en-US" sz="2300" dirty="0">
                <a:latin typeface="Times New Roman" pitchFamily="18" charset="0"/>
                <a:cs typeface="Times New Roman" pitchFamily="18" charset="0"/>
              </a:rPr>
              <a:t>where</a:t>
            </a:r>
            <a:r>
              <a:rPr lang="en-GB" altLang="en-US" sz="2300" i="1" dirty="0">
                <a:latin typeface="Times New Roman" pitchFamily="18" charset="0"/>
                <a:cs typeface="Times New Roman" pitchFamily="18" charset="0"/>
              </a:rPr>
              <a:t> l = |x’|/n,  </a:t>
            </a:r>
            <a:r>
              <a:rPr lang="en-GB" altLang="en-US" sz="2300" dirty="0">
                <a:latin typeface="Times New Roman" pitchFamily="18" charset="0"/>
                <a:cs typeface="Times New Roman" pitchFamily="18" charset="0"/>
              </a:rPr>
              <a:t>and let</a:t>
            </a:r>
            <a:r>
              <a:rPr lang="en-GB" altLang="en-US" sz="2300" dirty="0"/>
              <a:t> </a:t>
            </a:r>
            <a:r>
              <a:rPr lang="en-GB" altLang="en-US" sz="2300" i="1" dirty="0" err="1">
                <a:latin typeface="Times New Roman" pitchFamily="18" charset="0"/>
                <a:cs typeface="Times New Roman" pitchFamily="18" charset="0"/>
              </a:rPr>
              <a:t>x’</a:t>
            </a:r>
            <a:r>
              <a:rPr lang="en-GB" altLang="en-US" sz="2300" i="1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GB" altLang="en-US" sz="2300" i="1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altLang="en-US" sz="2300" i="1" dirty="0">
                <a:latin typeface="Times New Roman" pitchFamily="18" charset="0"/>
                <a:cs typeface="Times New Roman" pitchFamily="18" charset="0"/>
              </a:rPr>
              <a:t> be the </a:t>
            </a:r>
            <a:r>
              <a:rPr lang="en-GB" altLang="en-US" sz="2300" i="1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GB" altLang="en-US" sz="2300" i="1" baseline="30000" dirty="0" err="1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GB" altLang="en-US" sz="2300" i="1" dirty="0">
                <a:latin typeface="Times New Roman" pitchFamily="18" charset="0"/>
                <a:cs typeface="Times New Roman" pitchFamily="18" charset="0"/>
              </a:rPr>
              <a:t> n-</a:t>
            </a:r>
            <a:r>
              <a:rPr lang="en-GB" altLang="en-US" sz="2300" dirty="0">
                <a:latin typeface="Times New Roman" pitchFamily="18" charset="0"/>
                <a:cs typeface="Times New Roman" pitchFamily="18" charset="0"/>
              </a:rPr>
              <a:t>bit block of </a:t>
            </a:r>
            <a:r>
              <a:rPr lang="en-GB" altLang="en-US" sz="2300" i="1" dirty="0">
                <a:latin typeface="Times New Roman" pitchFamily="18" charset="0"/>
                <a:cs typeface="Times New Roman" pitchFamily="18" charset="0"/>
              </a:rPr>
              <a:t>x’</a:t>
            </a:r>
            <a:r>
              <a:rPr lang="en-GB" altLang="en-US" sz="2300" i="1" baseline="-250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GB" altLang="en-US" sz="2300" i="1" dirty="0">
              <a:latin typeface="Times New Roman" pitchFamily="18" charset="0"/>
              <a:cs typeface="Times New Roman" pitchFamily="18" charset="0"/>
            </a:endParaRPr>
          </a:p>
          <a:p>
            <a:pPr marL="341313" indent="-341313" defTabSz="449263" eaLnBrk="1" hangingPunct="1">
              <a:spcBef>
                <a:spcPts val="55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300" dirty="0"/>
              <a:t>Apply the construction in the prior slide to obtain the digest of </a:t>
            </a:r>
            <a:r>
              <a:rPr lang="en-GB" altLang="en-US" sz="2300" i="1" dirty="0">
                <a:latin typeface="Times New Roman" pitchFamily="18" charset="0"/>
                <a:cs typeface="Times New Roman" pitchFamily="18" charset="0"/>
              </a:rPr>
              <a:t>x’</a:t>
            </a:r>
            <a:endParaRPr lang="en-GB" altLang="en-US" sz="2300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9899" name="Text Box 37"/>
          <p:cNvSpPr txBox="1">
            <a:spLocks noChangeArrowheads="1"/>
          </p:cNvSpPr>
          <p:nvPr/>
        </p:nvSpPr>
        <p:spPr bwMode="auto">
          <a:xfrm>
            <a:off x="5006975" y="5456950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he-IL" altLang="en-US" sz="1800"/>
          </a:p>
        </p:txBody>
      </p:sp>
      <p:sp>
        <p:nvSpPr>
          <p:cNvPr id="1378343" name="Text Box 39"/>
          <p:cNvSpPr txBox="1">
            <a:spLocks noChangeArrowheads="1"/>
          </p:cNvSpPr>
          <p:nvPr/>
        </p:nvSpPr>
        <p:spPr bwMode="auto">
          <a:xfrm>
            <a:off x="276225" y="5097044"/>
            <a:ext cx="8697432" cy="796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 defTabSz="449263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600"/>
              </a:spcBef>
              <a:buClr>
                <a:srgbClr val="FF00FF"/>
              </a:buClr>
              <a:buSzPct val="100000"/>
              <a:buFont typeface="Tahoma" pitchFamily="34" charset="0"/>
              <a:buNone/>
            </a:pPr>
            <a:r>
              <a:rPr lang="en-GB" altLang="en-US" sz="2400" dirty="0">
                <a:solidFill>
                  <a:srgbClr val="FF00FF"/>
                </a:solidFill>
                <a:latin typeface="Tahoma" pitchFamily="34" charset="0"/>
                <a:cs typeface="Times New Roman" pitchFamily="18" charset="0"/>
              </a:rPr>
              <a:t>This is just a high-level idea, care is needed to avoid collisions</a:t>
            </a:r>
            <a:endParaRPr lang="en-GB" altLang="en-US" sz="24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Clr>
                <a:srgbClr val="FF00FF"/>
              </a:buClr>
              <a:buSzPct val="100000"/>
              <a:buFont typeface="Times New Roman" pitchFamily="18" charset="0"/>
              <a:buNone/>
            </a:pPr>
            <a:endParaRPr lang="en-GB" altLang="en-US" sz="24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652622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78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6B51B-44BA-4F83-BAA4-3CD316269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Digest-Chain Extend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EC10C-F92D-4F9E-A2A5-3FEAAE32F5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Beyond digest and collision resistance: sequence-related integrity mechanisms</a:t>
            </a:r>
          </a:p>
          <a:p>
            <a:r>
              <a:rPr lang="en-US" sz="2400" dirty="0"/>
              <a:t>For digest-chain, the </a:t>
            </a:r>
            <a:r>
              <a:rPr lang="en-US" sz="2400" b="1" dirty="0"/>
              <a:t>extend function:</a:t>
            </a:r>
          </a:p>
          <a:p>
            <a:pPr lvl="1"/>
            <a:r>
              <a:rPr lang="en-US" sz="2400" dirty="0"/>
              <a:t>Input: digest and ‘next’ sequence</a:t>
            </a:r>
          </a:p>
          <a:p>
            <a:pPr lvl="1"/>
            <a:r>
              <a:rPr lang="en-US" sz="2400" dirty="0"/>
              <a:t>Output: digest (of entire sequence)</a:t>
            </a:r>
          </a:p>
          <a:p>
            <a:pPr lvl="1"/>
            <a:r>
              <a:rPr lang="en-US" sz="2400" dirty="0"/>
              <a:t>Correctness requirement: </a:t>
            </a:r>
            <a:br>
              <a:rPr lang="en-US" sz="2400" dirty="0"/>
            </a:br>
            <a:endParaRPr lang="en-US" sz="2400" dirty="0"/>
          </a:p>
          <a:p>
            <a:pPr marL="344487" lvl="1" indent="0">
              <a:buNone/>
            </a:pPr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3BAE03-85D6-46E0-87E5-6618076C7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C8934D-7EC5-4767-94BA-6AA41C7401E4}" type="slidenum">
              <a:rPr lang="he-IL" altLang="en-US" smtClean="0"/>
              <a:pPr>
                <a:defRPr/>
              </a:pPr>
              <a:t>11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B265AE-CA02-5A47-85CD-DB6641247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277" y="3739820"/>
            <a:ext cx="5520415" cy="658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190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AC5389-A415-4063-AB31-783C30B6E145}" type="slidenum">
              <a:rPr lang="he-IL" altLang="en-US"/>
              <a:pPr>
                <a:defRPr/>
              </a:pPr>
              <a:t>12</a:t>
            </a:fld>
            <a:endParaRPr lang="en-US" altLang="en-US"/>
          </a:p>
        </p:txBody>
      </p:sp>
      <p:grpSp>
        <p:nvGrpSpPr>
          <p:cNvPr id="76805" name="Group 2"/>
          <p:cNvGrpSpPr>
            <a:grpSpLocks/>
          </p:cNvGrpSpPr>
          <p:nvPr/>
        </p:nvGrpSpPr>
        <p:grpSpPr bwMode="auto">
          <a:xfrm>
            <a:off x="2196874" y="4155172"/>
            <a:ext cx="4240529" cy="503854"/>
            <a:chOff x="1054" y="2795"/>
            <a:chExt cx="1928" cy="277"/>
          </a:xfrm>
        </p:grpSpPr>
        <p:sp>
          <p:nvSpPr>
            <p:cNvPr id="76825" name="Rectangle 3"/>
            <p:cNvSpPr>
              <a:spLocks noChangeArrowheads="1"/>
            </p:cNvSpPr>
            <p:nvPr/>
          </p:nvSpPr>
          <p:spPr bwMode="auto">
            <a:xfrm>
              <a:off x="1469" y="2795"/>
              <a:ext cx="1142" cy="271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lvl1pPr defTabSz="449263" eaLnBrk="0" hangingPunct="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0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defTabSz="449263" eaLnBrk="0" hangingPunct="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6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defTabSz="449263" eaLnBrk="0" hangingPunct="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2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defTabSz="449263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defTabSz="449263" eaLnBrk="0" hangingPunct="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>
                <a:spcBef>
                  <a:spcPts val="425"/>
                </a:spcBef>
                <a:buClr>
                  <a:srgbClr val="CC9900"/>
                </a:buClr>
                <a:buFont typeface="Wingdings" pitchFamily="2" charset="2"/>
                <a:buNone/>
              </a:pPr>
              <a:r>
                <a:rPr lang="en-GB" altLang="en-US" sz="2400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…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826" name="Rectangle 4"/>
                <p:cNvSpPr>
                  <a:spLocks noChangeArrowheads="1"/>
                </p:cNvSpPr>
                <p:nvPr/>
              </p:nvSpPr>
              <p:spPr bwMode="auto">
                <a:xfrm>
                  <a:off x="2243" y="2795"/>
                  <a:ext cx="728" cy="271"/>
                </a:xfrm>
                <a:prstGeom prst="rect">
                  <a:avLst/>
                </a:prstGeom>
                <a:solidFill>
                  <a:srgbClr val="FFFF99"/>
                </a:solidFill>
                <a:ln>
                  <a:noFill/>
                </a:ln>
                <a:effectLst/>
                <a:extLst>
                  <a:ext uri="{91240B29-F687-4F45-9708-019B960494DF}">
                    <a14:hiddenLine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 defTabSz="449263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itchFamily="2" charset="2"/>
                    <a:buChar char="n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3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defTabSz="449263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60000"/>
                    <a:buFont typeface="Wingdings" pitchFamily="2" charset="2"/>
                    <a:buChar char="q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6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defTabSz="449263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itchFamily="2" charset="2"/>
                    <a:buChar char="n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defTabSz="449263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q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defTabSz="449263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defTabSz="449263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defTabSz="449263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defTabSz="449263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defTabSz="449263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ts val="425"/>
                    </a:spcBef>
                    <a:buClr>
                      <a:srgbClr val="CC9900"/>
                    </a:buClr>
                    <a:buFont typeface="Wingdings" pitchFamily="2" charset="2"/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en-US" sz="18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8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18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𝑙</m:t>
                            </m:r>
                          </m:sub>
                        </m:sSub>
                      </m:oMath>
                    </m:oMathPara>
                  </a14:m>
                  <a:endParaRPr lang="en-GB" altLang="en-US" sz="1700" i="1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mc:Choice>
          <mc:Fallback xmlns="">
            <p:sp>
              <p:nvSpPr>
                <p:cNvPr id="76826" name="Rectangle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43" y="2795"/>
                  <a:ext cx="728" cy="27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6827" name="Rectangle 5"/>
            <p:cNvSpPr>
              <a:spLocks noChangeArrowheads="1"/>
            </p:cNvSpPr>
            <p:nvPr/>
          </p:nvSpPr>
          <p:spPr bwMode="auto">
            <a:xfrm>
              <a:off x="1459" y="2795"/>
              <a:ext cx="428" cy="271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lvl1pPr defTabSz="449263" eaLnBrk="0" hangingPunct="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0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defTabSz="449263" eaLnBrk="0" hangingPunct="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itchFamily="2" charset="2"/>
                <a:buChar char="q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6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defTabSz="449263" eaLnBrk="0" hangingPunct="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Char char="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2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defTabSz="449263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itchFamily="2" charset="2"/>
                <a:buChar char="q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defTabSz="449263" eaLnBrk="0" hangingPunct="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defTabSz="449263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ts val="425"/>
                </a:spcBef>
                <a:buClr>
                  <a:srgbClr val="CC9900"/>
                </a:buClr>
                <a:buFont typeface="Wingdings" pitchFamily="2" charset="2"/>
                <a:buNone/>
              </a:pPr>
              <a:endParaRPr lang="en-GB" altLang="en-US" sz="17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828" name="Rectangle 6"/>
                <p:cNvSpPr>
                  <a:spLocks noChangeArrowheads="1"/>
                </p:cNvSpPr>
                <p:nvPr/>
              </p:nvSpPr>
              <p:spPr bwMode="auto">
                <a:xfrm>
                  <a:off x="1054" y="2795"/>
                  <a:ext cx="405" cy="271"/>
                </a:xfrm>
                <a:prstGeom prst="rect">
                  <a:avLst/>
                </a:prstGeom>
                <a:solidFill>
                  <a:srgbClr val="FFFF99"/>
                </a:solidFill>
                <a:ln>
                  <a:noFill/>
                </a:ln>
                <a:effectLst/>
                <a:extLst>
                  <a:ext uri="{91240B29-F687-4F45-9708-019B960494DF}">
                    <a14:hiddenLine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 defTabSz="449263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itchFamily="2" charset="2"/>
                    <a:buChar char="n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3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defTabSz="449263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60000"/>
                    <a:buFont typeface="Wingdings" pitchFamily="2" charset="2"/>
                    <a:buChar char="q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6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defTabSz="449263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65000"/>
                    <a:buFont typeface="Wingdings" pitchFamily="2" charset="2"/>
                    <a:buChar char="n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2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defTabSz="449263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itchFamily="2" charset="2"/>
                    <a:buChar char="q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defTabSz="449263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75000"/>
                    <a:buFont typeface="Wingdings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defTabSz="449263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defTabSz="449263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defTabSz="449263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defTabSz="449263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>
                    <a:spcBef>
                      <a:spcPts val="425"/>
                    </a:spcBef>
                    <a:buClr>
                      <a:srgbClr val="CC9900"/>
                    </a:buClr>
                    <a:buFont typeface="Wingdings" pitchFamily="2" charset="2"/>
                    <a:buNone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altLang="en-US" sz="18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8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18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altLang="en-US" sz="1700" i="1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mc:Choice>
          <mc:Fallback xmlns="">
            <p:sp>
              <p:nvSpPr>
                <p:cNvPr id="76828" name="Rectangle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54" y="2795"/>
                  <a:ext cx="405" cy="27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6829" name="Line 7"/>
            <p:cNvSpPr>
              <a:spLocks noChangeShapeType="1"/>
            </p:cNvSpPr>
            <p:nvPr/>
          </p:nvSpPr>
          <p:spPr bwMode="auto">
            <a:xfrm>
              <a:off x="1054" y="2795"/>
              <a:ext cx="1917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830" name="Line 8"/>
            <p:cNvSpPr>
              <a:spLocks noChangeShapeType="1"/>
            </p:cNvSpPr>
            <p:nvPr/>
          </p:nvSpPr>
          <p:spPr bwMode="auto">
            <a:xfrm>
              <a:off x="1065" y="3052"/>
              <a:ext cx="1917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831" name="Line 9"/>
            <p:cNvSpPr>
              <a:spLocks noChangeShapeType="1"/>
            </p:cNvSpPr>
            <p:nvPr/>
          </p:nvSpPr>
          <p:spPr bwMode="auto">
            <a:xfrm>
              <a:off x="1054" y="2795"/>
              <a:ext cx="1" cy="27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832" name="Line 10"/>
            <p:cNvSpPr>
              <a:spLocks noChangeShapeType="1"/>
            </p:cNvSpPr>
            <p:nvPr/>
          </p:nvSpPr>
          <p:spPr bwMode="auto">
            <a:xfrm>
              <a:off x="1459" y="2795"/>
              <a:ext cx="1" cy="27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834" name="Line 12"/>
            <p:cNvSpPr>
              <a:spLocks noChangeShapeType="1"/>
            </p:cNvSpPr>
            <p:nvPr/>
          </p:nvSpPr>
          <p:spPr bwMode="auto">
            <a:xfrm>
              <a:off x="2971" y="2795"/>
              <a:ext cx="1" cy="27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835" name="Line 13"/>
            <p:cNvSpPr>
              <a:spLocks noChangeShapeType="1"/>
            </p:cNvSpPr>
            <p:nvPr/>
          </p:nvSpPr>
          <p:spPr bwMode="auto">
            <a:xfrm>
              <a:off x="2415" y="2801"/>
              <a:ext cx="1" cy="27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6806" name="Rectangle 14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181975" cy="67929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/>
          <a:p>
            <a:pPr defTabSz="449263"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 sz="3800" dirty="0"/>
              <a:t> The Merkle-</a:t>
            </a:r>
            <a:r>
              <a:rPr lang="en-GB" altLang="en-US" sz="3800" dirty="0" err="1"/>
              <a:t>Damgard</a:t>
            </a:r>
            <a:r>
              <a:rPr lang="en-GB" altLang="en-US" sz="3800" dirty="0"/>
              <a:t> Extend Function</a:t>
            </a:r>
          </a:p>
        </p:txBody>
      </p:sp>
      <p:sp>
        <p:nvSpPr>
          <p:cNvPr id="76807" name="Rectangle 15"/>
          <p:cNvSpPr>
            <a:spLocks noGrp="1" noChangeArrowheads="1"/>
          </p:cNvSpPr>
          <p:nvPr>
            <p:ph type="body" idx="1"/>
          </p:nvPr>
        </p:nvSpPr>
        <p:spPr>
          <a:xfrm>
            <a:off x="236538" y="1044575"/>
            <a:ext cx="8591550" cy="2664448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/>
          <a:p>
            <a:pPr marL="341313" indent="-341313" defTabSz="449263" eaLnBrk="1" hangingPunct="1">
              <a:spcBef>
                <a:spcPts val="55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2200" dirty="0"/>
              <a:t>We can define Extend for Merkle-</a:t>
            </a:r>
            <a:r>
              <a:rPr lang="en-GB" altLang="en-US" sz="2200" dirty="0" err="1"/>
              <a:t>Damgard</a:t>
            </a:r>
            <a:r>
              <a:rPr lang="en-GB" altLang="en-US" sz="2200" dirty="0"/>
              <a:t>:</a:t>
            </a:r>
            <a:endParaRPr lang="en-GB" altLang="en-US" sz="1400" dirty="0"/>
          </a:p>
          <a:p>
            <a:pPr marL="668338" lvl="1" indent="-341313" defTabSz="449263" eaLnBrk="1" hangingPunct="1">
              <a:spcBef>
                <a:spcPts val="55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en-US" sz="1800" dirty="0"/>
              <a:t>Idea: Just continue last digest!</a:t>
            </a:r>
          </a:p>
          <a:p>
            <a:pPr marL="0" indent="0" defTabSz="449263" eaLnBrk="1" hangingPunct="1">
              <a:spcBef>
                <a:spcPts val="550"/>
              </a:spcBef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en-US" sz="2000" dirty="0">
              <a:solidFill>
                <a:srgbClr val="000000"/>
              </a:solidFill>
              <a:cs typeface="Times New Roman" pitchFamily="18" charset="0"/>
            </a:endParaRPr>
          </a:p>
          <a:p>
            <a:pPr marL="0" indent="0" defTabSz="449263" eaLnBrk="1" hangingPunct="1">
              <a:spcBef>
                <a:spcPts val="550"/>
              </a:spcBef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en-US" sz="2000" dirty="0">
              <a:solidFill>
                <a:srgbClr val="000000"/>
              </a:solidFill>
              <a:cs typeface="Times New Roman" pitchFamily="18" charset="0"/>
            </a:endParaRPr>
          </a:p>
          <a:p>
            <a:pPr marL="0" indent="0" defTabSz="449263" eaLnBrk="1" hangingPunct="1">
              <a:spcBef>
                <a:spcPts val="550"/>
              </a:spcBef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br>
              <a:rPr lang="en-US" altLang="en-US" sz="2000" dirty="0">
                <a:solidFill>
                  <a:srgbClr val="000000"/>
                </a:solidFill>
                <a:cs typeface="Times New Roman" pitchFamily="18" charset="0"/>
              </a:rPr>
            </a:br>
            <a:endParaRPr lang="en-US" altLang="en-US" sz="2000" dirty="0">
              <a:solidFill>
                <a:srgbClr val="000000"/>
              </a:solidFill>
              <a:cs typeface="Times New Roman" pitchFamily="18" charset="0"/>
            </a:endParaRPr>
          </a:p>
          <a:p>
            <a:pPr marL="341313" indent="-341313" defTabSz="449263" eaLnBrk="1" hangingPunct="1">
              <a:spcBef>
                <a:spcPts val="55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200" dirty="0">
                <a:sym typeface="Wingdings" panose="05000000000000000000" pitchFamily="2" charset="2"/>
              </a:rPr>
              <a:t>Not secure to be used to construct a MAC! </a:t>
            </a:r>
            <a:r>
              <a:rPr lang="en-US" altLang="en-US" sz="2200" dirty="0">
                <a:solidFill>
                  <a:srgbClr val="C00000"/>
                </a:solidFill>
                <a:sym typeface="Wingdings" panose="05000000000000000000" pitchFamily="2" charset="2"/>
              </a:rPr>
              <a:t>Why?</a:t>
            </a:r>
            <a:endParaRPr lang="en-GB" altLang="en-US" sz="2200" dirty="0">
              <a:solidFill>
                <a:srgbClr val="C00000"/>
              </a:solidFill>
            </a:endParaRPr>
          </a:p>
        </p:txBody>
      </p:sp>
      <p:sp>
        <p:nvSpPr>
          <p:cNvPr id="76808" name="AutoShape 16"/>
          <p:cNvSpPr>
            <a:spLocks noChangeArrowheads="1"/>
          </p:cNvSpPr>
          <p:nvPr/>
        </p:nvSpPr>
        <p:spPr bwMode="auto">
          <a:xfrm rot="-5400000">
            <a:off x="2337367" y="5352705"/>
            <a:ext cx="798513" cy="222250"/>
          </a:xfrm>
          <a:custGeom>
            <a:avLst/>
            <a:gdLst>
              <a:gd name="T0" fmla="*/ 954875154 w 21600"/>
              <a:gd name="T1" fmla="*/ 11764886 h 21600"/>
              <a:gd name="T2" fmla="*/ 545643526 w 21600"/>
              <a:gd name="T3" fmla="*/ 23529772 h 21600"/>
              <a:gd name="T4" fmla="*/ 136410530 w 21600"/>
              <a:gd name="T5" fmla="*/ 11764886 h 21600"/>
              <a:gd name="T6" fmla="*/ 54564352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99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eaVert" wrap="none" lIns="90000" tIns="46800" rIns="90000" bIns="46800" anchor="ctr"/>
          <a:lstStyle>
            <a:lvl1pPr defTabSz="449263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GB" altLang="en-US" sz="24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h</a:t>
            </a:r>
          </a:p>
        </p:txBody>
      </p:sp>
      <p:sp>
        <p:nvSpPr>
          <p:cNvPr id="76809" name="Line 17"/>
          <p:cNvSpPr>
            <a:spLocks noChangeShapeType="1"/>
          </p:cNvSpPr>
          <p:nvPr/>
        </p:nvSpPr>
        <p:spPr bwMode="auto">
          <a:xfrm>
            <a:off x="2808155" y="5455099"/>
            <a:ext cx="811380" cy="635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10" name="Line 18"/>
          <p:cNvSpPr>
            <a:spLocks noChangeShapeType="1"/>
          </p:cNvSpPr>
          <p:nvPr/>
        </p:nvSpPr>
        <p:spPr bwMode="auto">
          <a:xfrm>
            <a:off x="2156310" y="5292494"/>
            <a:ext cx="428625" cy="1587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11" name="Line 19"/>
          <p:cNvSpPr>
            <a:spLocks noChangeShapeType="1"/>
          </p:cNvSpPr>
          <p:nvPr/>
        </p:nvSpPr>
        <p:spPr bwMode="auto">
          <a:xfrm flipV="1">
            <a:off x="2436586" y="4659761"/>
            <a:ext cx="1588" cy="5461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812" name="Text Box 20"/>
              <p:cNvSpPr txBox="1">
                <a:spLocks noChangeArrowheads="1"/>
              </p:cNvSpPr>
              <p:nvPr/>
            </p:nvSpPr>
            <p:spPr bwMode="auto">
              <a:xfrm>
                <a:off x="1840583" y="5045618"/>
                <a:ext cx="428620" cy="4638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defTabSz="449263" eaLnBrk="0" hangingPunct="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3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defTabSz="449263" eaLnBrk="0" hangingPunct="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defTabSz="449263" eaLnBrk="0" hangingPunct="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defTabSz="449263" eaLnBrk="0" hangingPunct="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defTabSz="449263" eaLnBrk="0" hangingPunct="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>
                    <a:srgbClr val="000000"/>
                  </a:buClr>
                  <a:buSzPct val="100000"/>
                  <a:buFont typeface="Times New Roman" pitchFamily="18" charset="0"/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1</m:t>
                      </m:r>
                    </m:oMath>
                  </m:oMathPara>
                </a14:m>
                <a:endParaRPr lang="en-GB" altLang="en-US" sz="2400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76812" name="Text 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40583" y="5045618"/>
                <a:ext cx="428620" cy="4638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813" name="Line 21"/>
          <p:cNvSpPr>
            <a:spLocks noChangeShapeType="1"/>
          </p:cNvSpPr>
          <p:nvPr/>
        </p:nvSpPr>
        <p:spPr bwMode="auto">
          <a:xfrm>
            <a:off x="2436586" y="5137186"/>
            <a:ext cx="188913" cy="1588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18" name="AutoShape 26"/>
          <p:cNvSpPr>
            <a:spLocks noChangeArrowheads="1"/>
          </p:cNvSpPr>
          <p:nvPr/>
        </p:nvSpPr>
        <p:spPr bwMode="auto">
          <a:xfrm rot="-5400000">
            <a:off x="5247523" y="5343180"/>
            <a:ext cx="798513" cy="222250"/>
          </a:xfrm>
          <a:custGeom>
            <a:avLst/>
            <a:gdLst>
              <a:gd name="T0" fmla="*/ 954875154 w 21600"/>
              <a:gd name="T1" fmla="*/ 11764886 h 21600"/>
              <a:gd name="T2" fmla="*/ 545643526 w 21600"/>
              <a:gd name="T3" fmla="*/ 23529772 h 21600"/>
              <a:gd name="T4" fmla="*/ 136410530 w 21600"/>
              <a:gd name="T5" fmla="*/ 11764886 h 21600"/>
              <a:gd name="T6" fmla="*/ 545643526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C990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eaVert" wrap="none" lIns="90000" tIns="46800" rIns="90000" bIns="46800" anchor="ctr"/>
          <a:lstStyle>
            <a:lvl1pPr defTabSz="449263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449263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449263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449263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449263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</a:pPr>
            <a:r>
              <a:rPr lang="en-GB" altLang="en-US" sz="24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h</a:t>
            </a:r>
          </a:p>
        </p:txBody>
      </p:sp>
      <p:sp>
        <p:nvSpPr>
          <p:cNvPr id="76819" name="Line 27"/>
          <p:cNvSpPr>
            <a:spLocks noChangeShapeType="1"/>
          </p:cNvSpPr>
          <p:nvPr/>
        </p:nvSpPr>
        <p:spPr bwMode="auto">
          <a:xfrm flipV="1">
            <a:off x="5346742" y="4650236"/>
            <a:ext cx="1588" cy="54610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21" name="Line 29"/>
          <p:cNvSpPr>
            <a:spLocks noChangeShapeType="1"/>
          </p:cNvSpPr>
          <p:nvPr/>
        </p:nvSpPr>
        <p:spPr bwMode="auto">
          <a:xfrm flipV="1">
            <a:off x="5762667" y="5455098"/>
            <a:ext cx="249238" cy="9525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23" name="Text Box 31"/>
          <p:cNvSpPr txBox="1">
            <a:spLocks noChangeArrowheads="1"/>
          </p:cNvSpPr>
          <p:nvPr/>
        </p:nvSpPr>
        <p:spPr bwMode="auto">
          <a:xfrm>
            <a:off x="6519905" y="5234436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he-IL" altLang="en-US" sz="1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824" name="Text Box 32"/>
              <p:cNvSpPr txBox="1">
                <a:spLocks noChangeArrowheads="1"/>
              </p:cNvSpPr>
              <p:nvPr/>
            </p:nvSpPr>
            <p:spPr bwMode="auto">
              <a:xfrm>
                <a:off x="5963973" y="5205861"/>
                <a:ext cx="3000863" cy="4638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defTabSz="449263" eaLnBrk="0" hangingPunct="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3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defTabSz="449263" eaLnBrk="0" hangingPunct="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defTabSz="449263" eaLnBrk="0" hangingPunct="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defTabSz="449263" eaLnBrk="0" hangingPunct="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defTabSz="449263" eaLnBrk="0" hangingPunct="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>
                    <a:srgbClr val="000000"/>
                  </a:buClr>
                  <a:buSzPct val="100000"/>
                  <a:buFont typeface="Times New Roman" pitchFamily="18" charset="0"/>
                  <a:buNone/>
                </a:pPr>
                <a:r>
                  <a:rPr lang="en-US" altLang="en-US" sz="2400" dirty="0">
                    <a:solidFill>
                      <a:srgbClr val="000000"/>
                    </a:solidFill>
                    <a:ea typeface="Cambria Math" panose="02040503050406030204" pitchFamily="18" charset="0"/>
                    <a:cs typeface="Times New Roman" pitchFamily="18" charset="0"/>
                  </a:rPr>
                  <a:t>Ext(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Δ</m:t>
                    </m:r>
                    <m:r>
                      <a:rPr lang="en-US" alt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,</m:t>
                    </m:r>
                    <m:d>
                      <m:dPr>
                        <m:ctrlPr>
                          <a:rPr lang="en-US" alt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GB" altLang="en-US" sz="2800" i="0" dirty="0"/>
                          <m:t>, … , </m:t>
                        </m:r>
                        <m:sSub>
                          <m:sSubPr>
                            <m:ctrlPr>
                              <a:rPr lang="en-US" alt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en-US" sz="24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  <m:r>
                      <a:rPr lang="en-US" alt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)</m:t>
                    </m:r>
                  </m:oMath>
                </a14:m>
                <a:endParaRPr lang="en-GB" altLang="en-US" sz="2400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76824" name="Text 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63973" y="5205861"/>
                <a:ext cx="3000863" cy="463846"/>
              </a:xfrm>
              <a:prstGeom prst="rect">
                <a:avLst/>
              </a:prstGeom>
              <a:blipFill>
                <a:blip r:embed="rId7"/>
                <a:stretch>
                  <a:fillRect l="-3043" t="-10526" r="-1217" b="-2894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 Box 32"/>
              <p:cNvSpPr txBox="1">
                <a:spLocks noChangeArrowheads="1"/>
              </p:cNvSpPr>
              <p:nvPr/>
            </p:nvSpPr>
            <p:spPr bwMode="auto">
              <a:xfrm>
                <a:off x="2786606" y="5462079"/>
                <a:ext cx="1659406" cy="4638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defTabSz="449263" eaLnBrk="0" hangingPunct="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3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defTabSz="449263" eaLnBrk="0" hangingPunct="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defTabSz="449263" eaLnBrk="0" hangingPunct="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defTabSz="449263" eaLnBrk="0" hangingPunct="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defTabSz="449263" eaLnBrk="0" hangingPunct="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>
                    <a:srgbClr val="000000"/>
                  </a:buClr>
                  <a:buSzPct val="100000"/>
                  <a:buFont typeface="Times New Roman" pitchFamily="18" charset="0"/>
                  <a:buNone/>
                </a:pPr>
                <a14:m>
                  <m:oMath xmlns:m="http://schemas.openxmlformats.org/officeDocument/2006/math">
                    <m:r>
                      <a:rPr lang="en-US" alt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ℎ</m:t>
                    </m:r>
                    <m:r>
                      <a:rPr lang="en-US" alt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l-GR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Δ</m:t>
                    </m:r>
                  </m:oMath>
                </a14:m>
                <a:r>
                  <a:rPr lang="en-GB" altLang="en-US" sz="2400" i="1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||1||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alt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en-US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altLang="en-US" sz="2400" i="1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8" name="Text 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86606" y="5462079"/>
                <a:ext cx="1659406" cy="463846"/>
              </a:xfrm>
              <a:prstGeom prst="rect">
                <a:avLst/>
              </a:prstGeom>
              <a:blipFill>
                <a:blip r:embed="rId8"/>
                <a:stretch>
                  <a:fillRect l="-1103" t="-10526" r="-5147" b="-2894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20">
                <a:extLst>
                  <a:ext uri="{FF2B5EF4-FFF2-40B4-BE49-F238E27FC236}">
                    <a16:creationId xmlns:a16="http://schemas.microsoft.com/office/drawing/2014/main" id="{53C1A9A5-49FB-4DC9-865C-BBFB9D29CA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89080" y="5462079"/>
                <a:ext cx="441444" cy="4638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defTabSz="449263" eaLnBrk="0" hangingPunct="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3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defTabSz="449263" eaLnBrk="0" hangingPunct="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defTabSz="449263" eaLnBrk="0" hangingPunct="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defTabSz="449263" eaLnBrk="0" hangingPunct="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defTabSz="449263" eaLnBrk="0" hangingPunct="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>
                    <a:srgbClr val="000000"/>
                  </a:buClr>
                  <a:buSzPct val="100000"/>
                  <a:buFont typeface="Times New Roman" pitchFamily="18" charset="0"/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l-GR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Δ</m:t>
                      </m:r>
                    </m:oMath>
                  </m:oMathPara>
                </a14:m>
                <a:endParaRPr lang="en-GB" altLang="en-US" sz="2400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Text Box 20">
                <a:extLst>
                  <a:ext uri="{FF2B5EF4-FFF2-40B4-BE49-F238E27FC236}">
                    <a16:creationId xmlns:a16="http://schemas.microsoft.com/office/drawing/2014/main" id="{53C1A9A5-49FB-4DC9-865C-BBFB9D29CA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89080" y="5462079"/>
                <a:ext cx="441444" cy="46384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Line 18">
            <a:extLst>
              <a:ext uri="{FF2B5EF4-FFF2-40B4-BE49-F238E27FC236}">
                <a16:creationId xmlns:a16="http://schemas.microsoft.com/office/drawing/2014/main" id="{09D1FB3B-5CB2-4D2E-B0B2-BA1A92F61719}"/>
              </a:ext>
            </a:extLst>
          </p:cNvPr>
          <p:cNvSpPr>
            <a:spLocks noChangeShapeType="1"/>
          </p:cNvSpPr>
          <p:nvPr/>
        </p:nvSpPr>
        <p:spPr bwMode="auto">
          <a:xfrm>
            <a:off x="2193698" y="5446214"/>
            <a:ext cx="428625" cy="1587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18">
            <a:extLst>
              <a:ext uri="{FF2B5EF4-FFF2-40B4-BE49-F238E27FC236}">
                <a16:creationId xmlns:a16="http://schemas.microsoft.com/office/drawing/2014/main" id="{E7EF937D-115E-4521-8DC4-8BB4A7BA4BA1}"/>
              </a:ext>
            </a:extLst>
          </p:cNvPr>
          <p:cNvSpPr>
            <a:spLocks noChangeShapeType="1"/>
          </p:cNvSpPr>
          <p:nvPr/>
        </p:nvSpPr>
        <p:spPr bwMode="auto">
          <a:xfrm>
            <a:off x="5064879" y="5329955"/>
            <a:ext cx="428625" cy="1587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Line 21">
            <a:extLst>
              <a:ext uri="{FF2B5EF4-FFF2-40B4-BE49-F238E27FC236}">
                <a16:creationId xmlns:a16="http://schemas.microsoft.com/office/drawing/2014/main" id="{8491DABB-C98A-467F-A553-44DEF600D487}"/>
              </a:ext>
            </a:extLst>
          </p:cNvPr>
          <p:cNvSpPr>
            <a:spLocks noChangeShapeType="1"/>
          </p:cNvSpPr>
          <p:nvPr/>
        </p:nvSpPr>
        <p:spPr bwMode="auto">
          <a:xfrm>
            <a:off x="5345155" y="5174647"/>
            <a:ext cx="188913" cy="1588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18">
            <a:extLst>
              <a:ext uri="{FF2B5EF4-FFF2-40B4-BE49-F238E27FC236}">
                <a16:creationId xmlns:a16="http://schemas.microsoft.com/office/drawing/2014/main" id="{60971853-101C-4374-A2F5-C5E64CC91A22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2267" y="5483675"/>
            <a:ext cx="428625" cy="1587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20">
                <a:extLst>
                  <a:ext uri="{FF2B5EF4-FFF2-40B4-BE49-F238E27FC236}">
                    <a16:creationId xmlns:a16="http://schemas.microsoft.com/office/drawing/2014/main" id="{56C91106-8BF3-4A99-BC3D-61A82A23CA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49151" y="5098032"/>
                <a:ext cx="428620" cy="4638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 defTabSz="449263" eaLnBrk="0" hangingPunct="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3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defTabSz="449263" eaLnBrk="0" hangingPunct="0">
                  <a:spcBef>
                    <a:spcPct val="20000"/>
                  </a:spcBef>
                  <a:buClr>
                    <a:schemeClr val="accent2"/>
                  </a:buClr>
                  <a:buSzPct val="60000"/>
                  <a:buFont typeface="Wingdings" pitchFamily="2" charset="2"/>
                  <a:buChar char="q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defTabSz="449263" eaLnBrk="0" hangingPunct="0">
                  <a:spcBef>
                    <a:spcPct val="20000"/>
                  </a:spcBef>
                  <a:buClr>
                    <a:schemeClr val="accent1"/>
                  </a:buClr>
                  <a:buSzPct val="65000"/>
                  <a:buFont typeface="Wingdings" pitchFamily="2" charset="2"/>
                  <a:buChar char="n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2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defTabSz="449263" eaLnBrk="0" hangingPunct="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itchFamily="2" charset="2"/>
                  <a:buChar char="q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defTabSz="449263" eaLnBrk="0" hangingPunct="0">
                  <a:spcBef>
                    <a:spcPct val="20000"/>
                  </a:spcBef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defTabSz="449263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>
                    <a:srgbClr val="000000"/>
                  </a:buClr>
                  <a:buSzPct val="100000"/>
                  <a:buFont typeface="Times New Roman" pitchFamily="18" charset="0"/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en-US" sz="2400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itchFamily="18" charset="0"/>
                        </a:rPr>
                        <m:t>1</m:t>
                      </m:r>
                    </m:oMath>
                  </m:oMathPara>
                </a14:m>
                <a:endParaRPr lang="en-GB" altLang="en-US" sz="2400" i="1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8" name="Text Box 20">
                <a:extLst>
                  <a:ext uri="{FF2B5EF4-FFF2-40B4-BE49-F238E27FC236}">
                    <a16:creationId xmlns:a16="http://schemas.microsoft.com/office/drawing/2014/main" id="{56C91106-8BF3-4A99-BC3D-61A82A23CA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49151" y="5098032"/>
                <a:ext cx="428620" cy="46384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42729674-257D-7C4E-B38D-5E0F69241CA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3628" y="1791076"/>
            <a:ext cx="7422344" cy="132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156308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38CEE-93A3-A390-271B-20F2FAAF7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F1C9B-DD85-F596-9DD8-F97FE8739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4400" dirty="0"/>
              <a:t>The Merkle Tree Accumulator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43679-A387-0007-5A73-A73044AAC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Construct a tree of digests</a:t>
            </a:r>
          </a:p>
          <a:p>
            <a:r>
              <a:rPr lang="en-US" sz="2400" dirty="0"/>
              <a:t>Short digest validates integrity of large objects.</a:t>
            </a:r>
          </a:p>
          <a:p>
            <a:pPr lvl="1"/>
            <a:r>
              <a:rPr lang="en-US" sz="2000" dirty="0"/>
              <a:t>Often, an object consists of multiple files or data pieces.</a:t>
            </a:r>
          </a:p>
          <a:p>
            <a:r>
              <a:rPr lang="en-US" sz="2400" dirty="0"/>
              <a:t>Integrity relies on verifying the root of the tree</a:t>
            </a:r>
          </a:p>
          <a:p>
            <a:r>
              <a:rPr lang="en-US" sz="2400" dirty="0"/>
              <a:t>It enables efficient proof of inclusion</a:t>
            </a:r>
          </a:p>
          <a:p>
            <a:pPr lvl="1"/>
            <a:r>
              <a:rPr lang="en-US" sz="1600" dirty="0"/>
              <a:t>Whether proof size or time needed to verify the proof.</a:t>
            </a:r>
          </a:p>
          <a:p>
            <a:pPr lvl="1"/>
            <a:r>
              <a:rPr lang="en-US" sz="1600" dirty="0"/>
              <a:t>It is logarithmic in the number of leaves (or files or data pieces).</a:t>
            </a:r>
          </a:p>
          <a:p>
            <a:r>
              <a:rPr lang="en-US" sz="2000" dirty="0"/>
              <a:t>It also offers a privacy advantage</a:t>
            </a:r>
          </a:p>
          <a:p>
            <a:pPr lvl="1"/>
            <a:r>
              <a:rPr lang="en-US" sz="1600" dirty="0"/>
              <a:t>a prover only reveals their file but not those of others.</a:t>
            </a:r>
          </a:p>
          <a:p>
            <a:r>
              <a:rPr lang="en-US" sz="2000" dirty="0"/>
              <a:t>Widely used in practice!</a:t>
            </a:r>
          </a:p>
          <a:p>
            <a:r>
              <a:rPr lang="en-US" sz="2000" dirty="0"/>
              <a:t>Generally, it supports accumulate, </a:t>
            </a:r>
            <a:r>
              <a:rPr lang="en-US" sz="2000" dirty="0" err="1"/>
              <a:t>PoI</a:t>
            </a:r>
            <a:r>
              <a:rPr lang="en-US" sz="2000" dirty="0"/>
              <a:t>, and verify </a:t>
            </a:r>
            <a:r>
              <a:rPr lang="en-US" sz="2000" dirty="0" err="1"/>
              <a:t>PoI</a:t>
            </a:r>
            <a:r>
              <a:rPr lang="en-US" sz="2000" dirty="0"/>
              <a:t> functions.</a:t>
            </a:r>
            <a:br>
              <a:rPr lang="en-US" sz="2000" dirty="0"/>
            </a:br>
            <a:endParaRPr lang="en-US" sz="2000" dirty="0"/>
          </a:p>
          <a:p>
            <a:pPr marL="344487" lvl="1" indent="0">
              <a:buNone/>
            </a:pPr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D51543-F772-15F7-8B57-107D91A6F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C8934D-7EC5-4767-94BA-6AA41C7401E4}" type="slidenum">
              <a:rPr lang="he-IL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55951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CB821B-50C0-4251-8504-FE2A0223D9B6}" type="slidenum">
              <a:rPr lang="he-IL" altLang="en-US"/>
              <a:pPr>
                <a:defRPr/>
              </a:pPr>
              <a:t>14</a:t>
            </a:fld>
            <a:endParaRPr lang="en-US" altLang="en-US"/>
          </a:p>
        </p:txBody>
      </p:sp>
      <p:sp>
        <p:nvSpPr>
          <p:cNvPr id="83974" name="Rectangle 3"/>
          <p:cNvSpPr>
            <a:spLocks noGrp="1" noChangeArrowheads="1"/>
          </p:cNvSpPr>
          <p:nvPr>
            <p:ph type="title"/>
          </p:nvPr>
        </p:nvSpPr>
        <p:spPr>
          <a:xfrm>
            <a:off x="546100" y="233363"/>
            <a:ext cx="7772400" cy="67310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/>
          <a:p>
            <a:pPr defTabSz="449263"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 sz="3800" dirty="0"/>
              <a:t>The Merkle Tree Accumulator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23DD08-A68A-4F7E-B26D-2EBE97415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968" y="1337720"/>
            <a:ext cx="6980663" cy="330289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C2E764F-13FF-4735-8849-39D79AF03F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968" y="4932035"/>
            <a:ext cx="6791414" cy="1011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70011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CB821B-50C0-4251-8504-FE2A0223D9B6}" type="slidenum">
              <a:rPr lang="he-IL" altLang="en-US"/>
              <a:pPr>
                <a:defRPr/>
              </a:pPr>
              <a:t>15</a:t>
            </a:fld>
            <a:endParaRPr lang="en-US" altLang="en-US"/>
          </a:p>
        </p:txBody>
      </p:sp>
      <p:sp>
        <p:nvSpPr>
          <p:cNvPr id="83974" name="Rectangle 3"/>
          <p:cNvSpPr>
            <a:spLocks noGrp="1" noChangeArrowheads="1"/>
          </p:cNvSpPr>
          <p:nvPr>
            <p:ph type="title"/>
          </p:nvPr>
        </p:nvSpPr>
        <p:spPr>
          <a:xfrm>
            <a:off x="546100" y="233363"/>
            <a:ext cx="7772400" cy="673100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/>
          <a:p>
            <a:pPr defTabSz="449263"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en-US" sz="3800" dirty="0"/>
              <a:t>Merkle Tree: Proof of Inclusion (PoI)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93668" name="Rectangle 4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549275" y="820738"/>
                <a:ext cx="8199438" cy="537712"/>
              </a:xfrm>
              <a:extLst>
                <a:ext uri="{91240B29-F687-4F45-9708-019B960494DF}">
                  <a14:hiddenLine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pPr marL="341313" indent="-341313" defTabSz="449263" eaLnBrk="1" hangingPunct="1">
                  <a:lnSpc>
                    <a:spcPct val="90000"/>
                  </a:lnSpc>
                  <a:spcBef>
                    <a:spcPts val="525"/>
                  </a:spcBef>
                  <a:tabLst>
                    <a:tab pos="911225" algn="l"/>
                    <a:tab pos="1825625" algn="l"/>
                    <a:tab pos="2740025" algn="l"/>
                    <a:tab pos="3654425" algn="l"/>
                    <a:tab pos="4568825" algn="l"/>
                    <a:tab pos="5483225" algn="l"/>
                    <a:tab pos="6397625" algn="l"/>
                    <a:tab pos="7312025" algn="l"/>
                    <a:tab pos="8226425" algn="l"/>
                    <a:tab pos="9140825" algn="l"/>
                    <a:tab pos="10055225" algn="l"/>
                  </a:tabLst>
                </a:pPr>
                <a:r>
                  <a:rPr lang="en-US" altLang="en-US" sz="2100" dirty="0"/>
                  <a:t>To prove inclusion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𝑚</m:t>
                        </m:r>
                      </m:e>
                      <m:sub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en-US" sz="3200" dirty="0"/>
                  <a:t> </a:t>
                </a:r>
                <a:r>
                  <a:rPr lang="en-US" altLang="en-US" sz="2100" dirty="0"/>
                  <a:t>, send also ‘proofs’: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altLang="en-US" sz="32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en-GB" altLang="en-US" sz="1700" dirty="0"/>
              </a:p>
            </p:txBody>
          </p:sp>
        </mc:Choice>
        <mc:Fallback xmlns="">
          <p:sp>
            <p:nvSpPr>
              <p:cNvPr id="1393668" name="Rectangle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49275" y="820738"/>
                <a:ext cx="8199438" cy="537712"/>
              </a:xfrm>
              <a:blipFill>
                <a:blip r:embed="rId3"/>
                <a:stretch>
                  <a:fillRect l="-74" t="-23864" b="-36364"/>
                </a:stretch>
              </a:blipFill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ABC689EE-C23D-4D88-8A30-57F75B8666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777" y="1628079"/>
            <a:ext cx="7438587" cy="3601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136941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3B2CD-A208-B5E8-C012-97BAE1131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7F841-238D-020B-4F7B-23D140C23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4400" dirty="0"/>
              <a:t>The Merkle Tree Accumulator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F4E3C-A1BD-4DA6-5826-A4B7D8D2D0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How many levels in a Merkle tree?</a:t>
            </a:r>
          </a:p>
          <a:p>
            <a:r>
              <a:rPr lang="en-US" sz="2400" dirty="0"/>
              <a:t>What is the size of the </a:t>
            </a:r>
            <a:r>
              <a:rPr lang="en-US" sz="2400" dirty="0" err="1"/>
              <a:t>PoI</a:t>
            </a:r>
            <a:r>
              <a:rPr lang="en-US" sz="2400" dirty="0"/>
              <a:t> in terms of number of digests? </a:t>
            </a:r>
          </a:p>
          <a:p>
            <a:r>
              <a:rPr lang="en-US" sz="2400" dirty="0"/>
              <a:t>Does the order of the messages (i.e., leaf nodes) matter? Why?</a:t>
            </a:r>
            <a:br>
              <a:rPr lang="en-US" sz="2400" dirty="0"/>
            </a:br>
            <a:endParaRPr lang="en-US" sz="2400" dirty="0"/>
          </a:p>
          <a:p>
            <a:pPr marL="344487" lvl="1" indent="0">
              <a:buNone/>
            </a:pPr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36B183-546B-8A7D-83F1-99AE5A6AC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C8934D-7EC5-4767-94BA-6AA41C7401E4}" type="slidenum">
              <a:rPr lang="he-IL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88734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e-IL" dirty="0"/>
              <a:t>Blockchains</a:t>
            </a:r>
          </a:p>
        </p:txBody>
      </p:sp>
      <p:sp>
        <p:nvSpPr>
          <p:cNvPr id="93188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altLang="he-IL" sz="2200" dirty="0">
                <a:sym typeface="Wingdings" panose="05000000000000000000" pitchFamily="2" charset="2"/>
              </a:rPr>
              <a:t>Separate slide set.</a:t>
            </a:r>
            <a:endParaRPr lang="en-US" alt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F9D048-DF9C-5B47-A4EF-7C5EDDA5AA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175170" y="6242050"/>
            <a:ext cx="505279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D150BCE-9D66-491A-A8B4-4A161955DEF8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US" altLang="he-IL" sz="1800" dirty="0"/>
          </a:p>
        </p:txBody>
      </p:sp>
    </p:spTree>
    <p:extLst>
      <p:ext uri="{BB962C8B-B14F-4D97-AF65-F5344CB8AC3E}">
        <p14:creationId xmlns:p14="http://schemas.microsoft.com/office/powerpoint/2010/main" val="185155445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3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3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he-IL" dirty="0"/>
              <a:t>Covered Material From the Textbook</a:t>
            </a:r>
          </a:p>
        </p:txBody>
      </p:sp>
      <p:sp>
        <p:nvSpPr>
          <p:cNvPr id="93188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altLang="he-IL" sz="2600" dirty="0">
                <a:sym typeface="Wingdings" panose="05000000000000000000" pitchFamily="2" charset="2"/>
              </a:rPr>
              <a:t>Chapter 3: Sections 3.7, 3.8, and 3.9</a:t>
            </a:r>
          </a:p>
          <a:p>
            <a:pPr marL="784225" lvl="1" indent="-457200"/>
            <a:r>
              <a:rPr lang="en-US" altLang="he-IL" dirty="0">
                <a:sym typeface="Wingdings" panose="05000000000000000000" pitchFamily="2" charset="2"/>
              </a:rPr>
              <a:t>Only the material that corresponds to what we covered in class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altLang="he-IL" sz="2600" dirty="0">
                <a:sym typeface="Wingdings" panose="05000000000000000000" pitchFamily="2" charset="2"/>
              </a:rPr>
              <a:t>Chapter 4: Section 4.4.5</a:t>
            </a:r>
            <a:endParaRPr lang="en-US" altLang="he-IL" sz="2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F9D048-DF9C-5B47-A4EF-7C5EDDA5AA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175170" y="6242050"/>
            <a:ext cx="505279" cy="450850"/>
          </a:xfrm>
          <a:noFill/>
        </p:spPr>
        <p:txBody>
          <a:bodyPr/>
          <a:lstStyle>
            <a:lvl1pPr>
              <a:spcBef>
                <a:spcPts val="7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6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5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defTabSz="449263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D150BCE-9D66-491A-A8B4-4A161955DEF8}" type="slidenum">
              <a:rPr lang="he-IL" altLang="he-IL" sz="1800"/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en-US" altLang="he-IL" sz="1800" dirty="0"/>
          </a:p>
        </p:txBody>
      </p:sp>
    </p:spTree>
    <p:extLst>
      <p:ext uri="{BB962C8B-B14F-4D97-AF65-F5344CB8AC3E}">
        <p14:creationId xmlns:p14="http://schemas.microsoft.com/office/powerpoint/2010/main" val="194802722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3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3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3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3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3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3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A8C4CAAF-33E3-504B-B941-4FF43CEC46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135" y="2071095"/>
            <a:ext cx="7620000" cy="39497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2C0D077-621F-A84F-9559-72206C7D7669}"/>
              </a:ext>
            </a:extLst>
          </p:cNvPr>
          <p:cNvSpPr/>
          <p:nvPr/>
        </p:nvSpPr>
        <p:spPr>
          <a:xfrm>
            <a:off x="2626500" y="757535"/>
            <a:ext cx="389100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64054858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rial" pitchFamily="34" charset="0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29242</TotalTime>
  <Words>1147</Words>
  <Application>Microsoft Macintosh PowerPoint</Application>
  <PresentationFormat>On-screen Show (4:3)</PresentationFormat>
  <Paragraphs>180</Paragraphs>
  <Slides>19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Cambria Math</vt:lpstr>
      <vt:lpstr>Garamond</vt:lpstr>
      <vt:lpstr>Symbol</vt:lpstr>
      <vt:lpstr>Tahoma</vt:lpstr>
      <vt:lpstr>Times New Roman</vt:lpstr>
      <vt:lpstr>Wingdings</vt:lpstr>
      <vt:lpstr>Edge</vt:lpstr>
      <vt:lpstr>CSE 3400/CSE 5850 - Introduction to Cryptography &amp; Cybersecurity / Introduction to Cybersecurity  Lecture 7 Hash Functions – Part II </vt:lpstr>
      <vt:lpstr>Outline</vt:lpstr>
      <vt:lpstr>Hash based MAC</vt:lpstr>
      <vt:lpstr>Hash-based MAC: HMAC</vt:lpstr>
      <vt:lpstr>Accumulators</vt:lpstr>
      <vt:lpstr>Accumulator Components</vt:lpstr>
      <vt:lpstr>Correctness and Security for PoI and PoC</vt:lpstr>
      <vt:lpstr>We will Study Three Accumulator Types</vt:lpstr>
      <vt:lpstr> The Merkle-Damgard Accumulator</vt:lpstr>
      <vt:lpstr>Merkle-Damgard Length-Padding</vt:lpstr>
      <vt:lpstr>The Digest-Chain Extend Function</vt:lpstr>
      <vt:lpstr> The Merkle-Damgard Extend Function</vt:lpstr>
      <vt:lpstr>The Merkle Tree Accumulator</vt:lpstr>
      <vt:lpstr>The Merkle Tree Accumulator</vt:lpstr>
      <vt:lpstr>Merkle Tree: Proof of Inclusion (PoI)</vt:lpstr>
      <vt:lpstr>The Merkle Tree Accumulator</vt:lpstr>
      <vt:lpstr>Blockchains</vt:lpstr>
      <vt:lpstr>Covered Material From the Textbook</vt:lpstr>
      <vt:lpstr>PowerPoint Presentation</vt:lpstr>
    </vt:vector>
  </TitlesOfParts>
  <Company>CS dept, Bar Ilan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 Hashing</dc:title>
  <dc:creator>Amir Herzberg</dc:creator>
  <cp:lastModifiedBy>Almashaqbeh, Ghada</cp:lastModifiedBy>
  <cp:revision>62</cp:revision>
  <cp:lastPrinted>1601-01-01T00:00:00Z</cp:lastPrinted>
  <dcterms:created xsi:type="dcterms:W3CDTF">2003-03-23T06:19:47Z</dcterms:created>
  <dcterms:modified xsi:type="dcterms:W3CDTF">2026-10-13T13:25:36Z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3</vt:i4>
  </property>
</Properties>
</file>