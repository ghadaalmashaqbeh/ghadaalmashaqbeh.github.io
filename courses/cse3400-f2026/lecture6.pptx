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37"/>
  </p:notesMasterIdLst>
  <p:handoutMasterIdLst>
    <p:handoutMasterId r:id="rId38"/>
  </p:handoutMasterIdLst>
  <p:sldIdLst>
    <p:sldId id="1009" r:id="rId2"/>
    <p:sldId id="591" r:id="rId3"/>
    <p:sldId id="867" r:id="rId4"/>
    <p:sldId id="868" r:id="rId5"/>
    <p:sldId id="869" r:id="rId6"/>
    <p:sldId id="923" r:id="rId7"/>
    <p:sldId id="796" r:id="rId8"/>
    <p:sldId id="925" r:id="rId9"/>
    <p:sldId id="1010" r:id="rId10"/>
    <p:sldId id="1011" r:id="rId11"/>
    <p:sldId id="932" r:id="rId12"/>
    <p:sldId id="1012" r:id="rId13"/>
    <p:sldId id="1015" r:id="rId14"/>
    <p:sldId id="928" r:id="rId15"/>
    <p:sldId id="992" r:id="rId16"/>
    <p:sldId id="1025" r:id="rId17"/>
    <p:sldId id="873" r:id="rId18"/>
    <p:sldId id="874" r:id="rId19"/>
    <p:sldId id="875" r:id="rId20"/>
    <p:sldId id="1014" r:id="rId21"/>
    <p:sldId id="973" r:id="rId22"/>
    <p:sldId id="994" r:id="rId23"/>
    <p:sldId id="997" r:id="rId24"/>
    <p:sldId id="939" r:id="rId25"/>
    <p:sldId id="946" r:id="rId26"/>
    <p:sldId id="948" r:id="rId27"/>
    <p:sldId id="1016" r:id="rId28"/>
    <p:sldId id="1013" r:id="rId29"/>
    <p:sldId id="902" r:id="rId30"/>
    <p:sldId id="971" r:id="rId31"/>
    <p:sldId id="1023" r:id="rId32"/>
    <p:sldId id="1024" r:id="rId33"/>
    <p:sldId id="908" r:id="rId34"/>
    <p:sldId id="601" r:id="rId35"/>
    <p:sldId id="592" r:id="rId3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  <a:srgbClr val="CCFFFF"/>
    <a:srgbClr val="FFFFCC"/>
    <a:srgbClr val="EE1222"/>
    <a:srgbClr val="FF0000"/>
    <a:srgbClr val="FFCCFF"/>
    <a:srgbClr val="02F6D9"/>
    <a:srgbClr val="EC9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38B82-5BE3-4A67-8CF0-88361BB4048E}" v="3" dt="2020-12-14T10:31:04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/>
    <p:restoredTop sz="94658"/>
  </p:normalViewPr>
  <p:slideViewPr>
    <p:cSldViewPr snapToGrid="0">
      <p:cViewPr varScale="1">
        <p:scale>
          <a:sx n="120" d="100"/>
          <a:sy n="120" d="100"/>
        </p:scale>
        <p:origin x="2160" y="184"/>
      </p:cViewPr>
      <p:guideLst>
        <p:guide orient="horz" pos="3144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-74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8928CA-6634-4F28-8EFB-F889CCCB4F4C}" type="datetime1">
              <a:rPr lang="en-US"/>
              <a:pPr>
                <a:defRPr/>
              </a:pPr>
              <a:t>10/13/26</a:t>
            </a:fld>
            <a:endParaRPr lang="en-US"/>
          </a:p>
        </p:txBody>
      </p:sp>
      <p:sp>
        <p:nvSpPr>
          <p:cNvPr id="247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247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FFF652-52D6-4256-AB60-3207A6F9EF9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47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6325071-32EE-4A93-980C-5A1A144375BC}" type="datetime1">
              <a:rPr lang="en-US"/>
              <a:pPr>
                <a:defRPr/>
              </a:pPr>
              <a:t>10/13/26</a:t>
            </a:fld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6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59300"/>
            <a:ext cx="585152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6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246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E687F4F-F059-432C-A1F8-B98095E8E93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5511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20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325071-32EE-4A93-980C-5A1A144375BC}" type="datetime1">
              <a:rPr lang="en-US" smtClean="0"/>
              <a:pPr>
                <a:defRPr/>
              </a:pPr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87F4F-F059-432C-A1F8-B98095E8E93B}" type="slidenum">
              <a:rPr lang="he-IL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3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325071-32EE-4A93-980C-5A1A144375BC}" type="datetime1">
              <a:rPr lang="en-US" smtClean="0"/>
              <a:pPr>
                <a:defRPr/>
              </a:pPr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87F4F-F059-432C-A1F8-B98095E8E93B}" type="slidenum">
              <a:rPr lang="he-IL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51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325071-32EE-4A93-980C-5A1A144375BC}" type="datetime1">
              <a:rPr lang="en-US" smtClean="0"/>
              <a:pPr>
                <a:defRPr/>
              </a:pPr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87F4F-F059-432C-A1F8-B98095E8E93B}" type="slidenum">
              <a:rPr lang="he-IL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6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325071-32EE-4A93-980C-5A1A144375BC}" type="datetime1">
              <a:rPr lang="en-US" smtClean="0"/>
              <a:pPr>
                <a:defRPr/>
              </a:pPr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87F4F-F059-432C-A1F8-B98095E8E93B}" type="slidenum">
              <a:rPr lang="he-IL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88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1F90A56-1748-4456-82E4-69C1276B6E8D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2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2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E9BE7AF-84C0-4A76-949F-B942108DE0F6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142341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3D41A402-667C-41CA-BCD1-08A9410AFFDE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11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2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3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4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2345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2346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93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1F90A56-1748-4456-82E4-69C1276B6E8D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2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2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E9BE7AF-84C0-4A76-949F-B942108DE0F6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142341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3D41A402-667C-41CA-BCD1-08A9410AFFDE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12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2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3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4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2345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2346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192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A29B6D-E392-40BF-B3C4-1B5482866626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9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9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C29722B-C1CC-4907-8819-C577E440B043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14950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AB49CE7D-22A3-47DD-9B91-4A5BD9039054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13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951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951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228600" indent="-228600" defTabSz="449263" eaLnBrk="1" hangingPunct="1">
              <a:buAutoNum type="arabicPeriod"/>
            </a:pPr>
            <a:r>
              <a:rPr lang="en-US" altLang="en-US" baseline="0" dirty="0">
                <a:latin typeface="Arial" charset="0"/>
                <a:cs typeface="Arial" charset="0"/>
              </a:rPr>
              <a:t>CR&gt;SPR [and SPR&lt;OWF if |domain|&gt;&gt;|range|</a:t>
            </a:r>
          </a:p>
          <a:p>
            <a:pPr marL="228600" indent="-228600" defTabSz="449263" eaLnBrk="1" hangingPunct="1"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Which property</a:t>
            </a:r>
            <a:r>
              <a:rPr lang="en-US" altLang="en-US" baseline="0" dirty="0">
                <a:latin typeface="Arial" charset="0"/>
                <a:cs typeface="Arial" charset="0"/>
              </a:rPr>
              <a:t> is required for signatures? For deriving DH/El-</a:t>
            </a:r>
            <a:r>
              <a:rPr lang="en-US" altLang="en-US" baseline="0" dirty="0" err="1">
                <a:latin typeface="Arial" charset="0"/>
                <a:cs typeface="Arial" charset="0"/>
              </a:rPr>
              <a:t>gamal</a:t>
            </a:r>
            <a:r>
              <a:rPr lang="en-US" altLang="en-US" baseline="0" dirty="0">
                <a:latin typeface="Arial" charset="0"/>
                <a:cs typeface="Arial" charset="0"/>
              </a:rPr>
              <a:t> keys?</a:t>
            </a:r>
            <a:endParaRPr lang="he-IL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3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A29B6D-E392-40BF-B3C4-1B5482866626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9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9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C29722B-C1CC-4907-8819-C577E440B043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14950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AB49CE7D-22A3-47DD-9B91-4A5BD9039054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14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951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951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228600" indent="-228600" defTabSz="449263" eaLnBrk="1" hangingPunct="1">
              <a:buAutoNum type="arabicPeriod"/>
            </a:pPr>
            <a:r>
              <a:rPr lang="en-US" altLang="en-US" baseline="0" dirty="0">
                <a:latin typeface="Arial" charset="0"/>
                <a:cs typeface="Arial" charset="0"/>
              </a:rPr>
              <a:t>CR&gt;SPR [and SPR&lt;OWF if |domain|&gt;&gt;|range|</a:t>
            </a:r>
          </a:p>
          <a:p>
            <a:pPr marL="228600" indent="-228600" defTabSz="449263" eaLnBrk="1" hangingPunct="1"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Which property</a:t>
            </a:r>
            <a:r>
              <a:rPr lang="en-US" altLang="en-US" baseline="0" dirty="0">
                <a:latin typeface="Arial" charset="0"/>
                <a:cs typeface="Arial" charset="0"/>
              </a:rPr>
              <a:t> is required for signatures? For deriving DH/El-</a:t>
            </a:r>
            <a:r>
              <a:rPr lang="en-US" altLang="en-US" baseline="0" dirty="0" err="1">
                <a:latin typeface="Arial" charset="0"/>
                <a:cs typeface="Arial" charset="0"/>
              </a:rPr>
              <a:t>gamal</a:t>
            </a:r>
            <a:r>
              <a:rPr lang="en-US" altLang="en-US" baseline="0" dirty="0">
                <a:latin typeface="Arial" charset="0"/>
                <a:cs typeface="Arial" charset="0"/>
              </a:rPr>
              <a:t> keys?</a:t>
            </a:r>
            <a:endParaRPr lang="he-IL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182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8D378-ED9E-6CB3-15AC-DE331E95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>
            <a:extLst>
              <a:ext uri="{FF2B5EF4-FFF2-40B4-BE49-F238E27FC236}">
                <a16:creationId xmlns:a16="http://schemas.microsoft.com/office/drawing/2014/main" id="{C9184A03-2C84-ABDC-0D29-194590E666B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A29B6D-E392-40BF-B3C4-1B5482866626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9507" name="Rectangle 6">
            <a:extLst>
              <a:ext uri="{FF2B5EF4-FFF2-40B4-BE49-F238E27FC236}">
                <a16:creationId xmlns:a16="http://schemas.microsoft.com/office/drawing/2014/main" id="{DBAA1BCF-D6CA-25F5-1E20-D5D0BBA78B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9508" name="Rectangle 7">
            <a:extLst>
              <a:ext uri="{FF2B5EF4-FFF2-40B4-BE49-F238E27FC236}">
                <a16:creationId xmlns:a16="http://schemas.microsoft.com/office/drawing/2014/main" id="{AEC5551F-A0E4-5BBB-114B-564EF2B8D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C29722B-C1CC-4907-8819-C577E440B043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  <p:sp>
        <p:nvSpPr>
          <p:cNvPr id="149509" name="Text Box 2">
            <a:extLst>
              <a:ext uri="{FF2B5EF4-FFF2-40B4-BE49-F238E27FC236}">
                <a16:creationId xmlns:a16="http://schemas.microsoft.com/office/drawing/2014/main" id="{6D0C6942-B217-C52C-FF14-034FCFCA6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AB49CE7D-22A3-47DD-9B91-4A5BD9039054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16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0" name="Text Box 3">
            <a:extLst>
              <a:ext uri="{FF2B5EF4-FFF2-40B4-BE49-F238E27FC236}">
                <a16:creationId xmlns:a16="http://schemas.microsoft.com/office/drawing/2014/main" id="{A5E35DA2-C6C5-A05A-3AE4-EEB051772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1" name="Text Box 4">
            <a:extLst>
              <a:ext uri="{FF2B5EF4-FFF2-40B4-BE49-F238E27FC236}">
                <a16:creationId xmlns:a16="http://schemas.microsoft.com/office/drawing/2014/main" id="{DA805860-6D18-FFC1-41B2-65D310326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2" name="Text Box 5">
            <a:extLst>
              <a:ext uri="{FF2B5EF4-FFF2-40B4-BE49-F238E27FC236}">
                <a16:creationId xmlns:a16="http://schemas.microsoft.com/office/drawing/2014/main" id="{EFB865DE-3CBE-1787-D706-3D76D54A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9513" name="Text Box 6">
            <a:extLst>
              <a:ext uri="{FF2B5EF4-FFF2-40B4-BE49-F238E27FC236}">
                <a16:creationId xmlns:a16="http://schemas.microsoft.com/office/drawing/2014/main" id="{4C136829-D16D-364F-CC5C-8D255C86F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9514" name="Rectangle 7">
            <a:extLst>
              <a:ext uri="{FF2B5EF4-FFF2-40B4-BE49-F238E27FC236}">
                <a16:creationId xmlns:a16="http://schemas.microsoft.com/office/drawing/2014/main" id="{4F3A740F-F906-999D-9CAE-8CFB8BD528C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228600" indent="-228600" defTabSz="449263" eaLnBrk="1" hangingPunct="1">
              <a:buAutoNum type="arabicPeriod"/>
            </a:pPr>
            <a:r>
              <a:rPr lang="en-US" altLang="en-US" baseline="0" dirty="0">
                <a:latin typeface="Arial" charset="0"/>
                <a:cs typeface="Arial" charset="0"/>
              </a:rPr>
              <a:t>CR&gt;SPR [and SPR&lt;OWF if |domain|&gt;&gt;|range|</a:t>
            </a:r>
          </a:p>
          <a:p>
            <a:pPr marL="228600" indent="-228600" defTabSz="449263" eaLnBrk="1" hangingPunct="1"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Which property</a:t>
            </a:r>
            <a:r>
              <a:rPr lang="en-US" altLang="en-US" baseline="0" dirty="0">
                <a:latin typeface="Arial" charset="0"/>
                <a:cs typeface="Arial" charset="0"/>
              </a:rPr>
              <a:t> is required for signatures? For deriving DH/El-</a:t>
            </a:r>
            <a:r>
              <a:rPr lang="en-US" altLang="en-US" baseline="0" dirty="0" err="1">
                <a:latin typeface="Arial" charset="0"/>
                <a:cs typeface="Arial" charset="0"/>
              </a:rPr>
              <a:t>gamal</a:t>
            </a:r>
            <a:r>
              <a:rPr lang="en-US" altLang="en-US" baseline="0" dirty="0">
                <a:latin typeface="Arial" charset="0"/>
                <a:cs typeface="Arial" charset="0"/>
              </a:rPr>
              <a:t> keys?</a:t>
            </a:r>
            <a:endParaRPr lang="he-IL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580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325071-32EE-4A93-980C-5A1A144375BC}" type="datetime1">
              <a:rPr lang="en-US" smtClean="0"/>
              <a:pPr>
                <a:defRPr/>
              </a:pPr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87F4F-F059-432C-A1F8-B98095E8E93B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90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1F90A56-1748-4456-82E4-69C1276B6E8D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2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2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E9BE7AF-84C0-4A76-949F-B942108DE0F6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142341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3D41A402-667C-41CA-BCD1-08A9410AFFDE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21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2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3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2344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2345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2346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908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A1B401D-6AC0-47DE-98DE-4615CD47E7EB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4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4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A1951AD-949C-43C3-A025-7D92CD3360A1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  <p:sp>
        <p:nvSpPr>
          <p:cNvPr id="14438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7275F837-2BD5-4632-8FA9-B8678CA0A7D7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24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439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439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439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439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439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530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325071-32EE-4A93-980C-5A1A144375BC}" type="datetime1">
              <a:rPr lang="en-US" smtClean="0"/>
              <a:pPr>
                <a:defRPr/>
              </a:pPr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87F4F-F059-432C-A1F8-B98095E8E93B}" type="slidenum">
              <a:rPr lang="he-IL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4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A29B6D-E392-40BF-B3C4-1B5482866626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9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9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C29722B-C1CC-4907-8819-C577E440B043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  <p:sp>
        <p:nvSpPr>
          <p:cNvPr id="14950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AB49CE7D-22A3-47DD-9B91-4A5BD9039054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29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951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951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228600" indent="-228600" defTabSz="449263" eaLnBrk="1" hangingPunct="1">
              <a:buAutoNum type="arabicPeriod"/>
            </a:pPr>
            <a:endParaRPr lang="he-IL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186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A29B6D-E392-40BF-B3C4-1B5482866626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49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49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C29722B-C1CC-4907-8819-C577E440B043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14950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AB49CE7D-22A3-47DD-9B91-4A5BD9039054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33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4951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4951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4951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228600" indent="-228600" defTabSz="449263" eaLnBrk="1" hangingPunct="1">
              <a:buAutoNum type="arabicPeriod"/>
            </a:pPr>
            <a:endParaRPr lang="he-IL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015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34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6390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he-IL" altLang="en-US" noProof="0"/>
              <a:t>לחץ כדי לערוך סגנון כותרת של תבנית בסיס</a:t>
            </a:r>
            <a:endParaRPr lang="en-US" altLang="en-US" noProof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he-IL" altLang="en-US" noProof="0"/>
              <a:t>לחץ כדי לערוך סגנון כותרת משנה של תבנית בסיס</a:t>
            </a:r>
            <a:endParaRPr lang="en-US" altLang="en-US" noProof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6273C-1F2F-431C-BD1C-8546A1EE5701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Amir Herzberg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D2AF0-3F4E-4C7F-A3D1-E59385A618C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95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9AF81-86C8-42BE-9FE7-8344B2A8D9CC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8934D-7EC5-4767-94BA-6AA41C7401E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571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80A02-5BF8-49EE-ACB8-4FCBBE7AAC2D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A7237-B055-4510-921E-0537365C473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9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8600" cy="4981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9350"/>
            <a:ext cx="4038600" cy="4981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6DCD2-7BB4-46F5-8D0E-79586276701E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31635-4FA1-4FE9-9842-F993DD48D53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18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71FFC-C336-4731-B7DB-BD9DFC5634B0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96C21-4B9F-4129-9CE0-7BA49FFB824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088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1DA6C-CB3E-4F55-BF7C-F65BC845CBC9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BC885-442D-4533-A036-89E169523CA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3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A66FA-166B-454F-AF3E-C6BD5A86277D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A6FC6-FE3D-4F44-AA45-B28E60E0E1E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26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C622C-CAF7-43CD-8B73-AFAE8D85458C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04E54-6371-4D36-BCD1-5A684FF0EC6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15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84D76-0910-4B1A-A748-C610C65F09D1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E311-231C-44B9-8789-693B6D40C0E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8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149350"/>
            <a:ext cx="8229600" cy="4981575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E378D-2C51-41A9-9CFC-B518BF0268F9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9DABF-7902-413D-B4B9-3F3633F3E25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93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49350"/>
            <a:ext cx="4038600" cy="4981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9350"/>
            <a:ext cx="4038600" cy="4981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32241-6740-49EA-AE42-455120AF158B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Amir Herzberg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9758C-9635-4B51-971E-0EBA745E228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67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7862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סגנון כותרת של תבנית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9600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סגנונות טקסט של תבנית בסיס</a:t>
            </a:r>
            <a:endParaRPr lang="en-US" altLang="en-US"/>
          </a:p>
          <a:p>
            <a:pPr lvl="1"/>
            <a:r>
              <a:rPr lang="he-IL" altLang="en-US"/>
              <a:t>רמה שנייה</a:t>
            </a:r>
            <a:endParaRPr lang="en-US" altLang="en-US"/>
          </a:p>
          <a:p>
            <a:pPr lvl="2"/>
            <a:r>
              <a:rPr lang="he-IL" altLang="en-US"/>
              <a:t>רמה שלישית</a:t>
            </a:r>
            <a:endParaRPr lang="en-US" altLang="en-US"/>
          </a:p>
          <a:p>
            <a:pPr lvl="3"/>
            <a:r>
              <a:rPr lang="he-IL" altLang="en-US"/>
              <a:t>רמה רביעית</a:t>
            </a:r>
            <a:endParaRPr lang="en-US" altLang="en-US"/>
          </a:p>
          <a:p>
            <a:pPr lvl="4"/>
            <a:r>
              <a:rPr lang="he-IL" altLang="en-US"/>
              <a:t>רמה חמישית</a:t>
            </a:r>
            <a:endParaRPr lang="en-US" altLang="en-US"/>
          </a:p>
        </p:txBody>
      </p:sp>
      <p:sp>
        <p:nvSpPr>
          <p:cNvPr id="2048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  <a:cs typeface="Arial" pitchFamily="34" charset="0"/>
              </a:defRPr>
            </a:lvl1pPr>
          </a:lstStyle>
          <a:p>
            <a:pPr>
              <a:defRPr/>
            </a:pPr>
            <a:fld id="{32D4F0DF-62AB-489C-ADD9-BC5D8394659D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 altLang="en-US"/>
              <a:t>http://AmirHerzberg.com</a:t>
            </a:r>
            <a:endParaRPr lang="en-US" altLang="en-US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  <a:cs typeface="Arial" pitchFamily="34" charset="0"/>
              </a:defRPr>
            </a:lvl1pPr>
          </a:lstStyle>
          <a:p>
            <a:pPr>
              <a:defRPr/>
            </a:pPr>
            <a:fld id="{50696B61-880C-40B0-92F8-D00C8B9FE61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2" r:id="rId10"/>
    <p:sldLayoutId id="214748373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37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47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Relationship Id="rId9" Type="http://schemas.openxmlformats.org/officeDocument/2006/relationships/image" Target="../media/image3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allybescotty.deviantart.com/art/cheshire-cat-alice-in-wonderla-151912708" TargetMode="External"/><Relationship Id="rId13" Type="http://schemas.openxmlformats.org/officeDocument/2006/relationships/image" Target="../media/image51.png"/><Relationship Id="rId3" Type="http://schemas.openxmlformats.org/officeDocument/2006/relationships/image" Target="../media/image40.jpg"/><Relationship Id="rId7" Type="http://schemas.openxmlformats.org/officeDocument/2006/relationships/image" Target="../media/image42.jpg"/><Relationship Id="rId12" Type="http://schemas.openxmlformats.org/officeDocument/2006/relationships/hyperlink" Target="https://en.wikipedia.org/wiki/Connecticut_Huskies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sterikuicequeen.blogspot.com/2014/10/cerpen-bercinta-dengan-mamat-sengal.html" TargetMode="External"/><Relationship Id="rId11" Type="http://schemas.openxmlformats.org/officeDocument/2006/relationships/image" Target="../media/image50.png"/><Relationship Id="rId5" Type="http://schemas.openxmlformats.org/officeDocument/2006/relationships/image" Target="../media/image41.jpg"/><Relationship Id="rId10" Type="http://schemas.openxmlformats.org/officeDocument/2006/relationships/hyperlink" Target="https://en.wikipedia.org/wiki/Odie" TargetMode="External"/><Relationship Id="rId4" Type="http://schemas.openxmlformats.org/officeDocument/2006/relationships/hyperlink" Target="https://pt.wikipedia.org/wiki/Alice_(personagem_da_Disney)" TargetMode="External"/><Relationship Id="rId9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56.png"/><Relationship Id="rId7" Type="http://schemas.openxmlformats.org/officeDocument/2006/relationships/image" Target="../media/image380.png"/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40.png"/><Relationship Id="rId9" Type="http://schemas.openxmlformats.org/officeDocument/2006/relationships/image" Target="../media/image40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12" Type="http://schemas.openxmlformats.org/officeDocument/2006/relationships/image" Target="../media/image5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wallybescotty.deviantart.com/art/cheshire-cat-alice-in-wonderla-151912708" TargetMode="External"/><Relationship Id="rId18" Type="http://schemas.openxmlformats.org/officeDocument/2006/relationships/image" Target="../media/image58.png"/><Relationship Id="rId3" Type="http://schemas.openxmlformats.org/officeDocument/2006/relationships/image" Target="../media/image40.jpg"/><Relationship Id="rId7" Type="http://schemas.openxmlformats.org/officeDocument/2006/relationships/image" Target="../media/image42.jpg"/><Relationship Id="rId12" Type="http://schemas.openxmlformats.org/officeDocument/2006/relationships/hyperlink" Target="https://en.wikipedia.org/wiki/Connecticut_Huskies" TargetMode="External"/><Relationship Id="rId17" Type="http://schemas.openxmlformats.org/officeDocument/2006/relationships/hyperlink" Target="http://www.wonko.info/ipt/xfiles/xap24.htm" TargetMode="External"/><Relationship Id="rId2" Type="http://schemas.openxmlformats.org/officeDocument/2006/relationships/image" Target="../media/image68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sterikuicequeen.blogspot.com/2014/10/cerpen-bercinta-dengan-mamat-sengal.html" TargetMode="External"/><Relationship Id="rId11" Type="http://schemas.openxmlformats.org/officeDocument/2006/relationships/image" Target="../media/image50.png"/><Relationship Id="rId5" Type="http://schemas.openxmlformats.org/officeDocument/2006/relationships/image" Target="../media/image41.jpg"/><Relationship Id="rId15" Type="http://schemas.openxmlformats.org/officeDocument/2006/relationships/image" Target="../media/image641.png"/><Relationship Id="rId10" Type="http://schemas.openxmlformats.org/officeDocument/2006/relationships/hyperlink" Target="https://en.wikipedia.org/wiki/Odie" TargetMode="External"/><Relationship Id="rId4" Type="http://schemas.openxmlformats.org/officeDocument/2006/relationships/hyperlink" Target="https://pt.wikipedia.org/wiki/Alice_(personagem_da_Disney)" TargetMode="External"/><Relationship Id="rId9" Type="http://schemas.openxmlformats.org/officeDocument/2006/relationships/image" Target="../media/image49.png"/><Relationship Id="rId14" Type="http://schemas.openxmlformats.org/officeDocument/2006/relationships/image" Target="../media/image6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90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7.png"/><Relationship Id="rId9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gif"/><Relationship Id="rId4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gif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3254375"/>
          </a:xfrm>
        </p:spPr>
        <p:txBody>
          <a:bodyPr/>
          <a:lstStyle/>
          <a:p>
            <a:pPr algn="ctr"/>
            <a:r>
              <a:rPr lang="en-US" altLang="en-US" sz="2800" dirty="0"/>
              <a:t>CSE 3400/ CSE 5850 - Introduction to Cryptography &amp; Cybersecurity </a:t>
            </a:r>
            <a:br>
              <a:rPr lang="en-US" altLang="en-US" sz="2800" dirty="0"/>
            </a:br>
            <a:r>
              <a:rPr lang="en-US" altLang="en-US" sz="2800" dirty="0"/>
              <a:t>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6</a:t>
            </a:r>
            <a:br>
              <a:rPr lang="en-US" altLang="en-US" sz="4000" dirty="0"/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Hash Functions – Part I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6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940175"/>
            <a:ext cx="9144000" cy="600075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pPr algn="ctr"/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textbook slides</a:t>
            </a:r>
            <a:endParaRPr lang="en-US" sz="1800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89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Introduction and motivation.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Collision Resistant Hash Functions (CRHF).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CRHF applications.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Other notions of security.</a:t>
            </a:r>
          </a:p>
          <a:p>
            <a:pPr lvl="1"/>
            <a:r>
              <a:rPr lang="en-US" dirty="0"/>
              <a:t>TCR, SPR, OWF.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Randomness extraction.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random oracle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33781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4763162" y="4371211"/>
            <a:ext cx="2318403" cy="1434353"/>
          </a:xfrm>
          <a:prstGeom prst="rect">
            <a:avLst/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149742" y="4399888"/>
            <a:ext cx="2318403" cy="14343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8938" y="1023759"/>
                <a:ext cx="8229600" cy="3171216"/>
              </a:xfrm>
            </p:spPr>
            <p:txBody>
              <a:bodyPr/>
              <a:lstStyle/>
              <a:p>
                <a:r>
                  <a:rPr lang="en-US" sz="2400" u="sng" dirty="0"/>
                  <a:t>Input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: binary strings</a:t>
                </a:r>
              </a:p>
              <a:p>
                <a:r>
                  <a:rPr lang="en-US" sz="2400" u="sng" dirty="0"/>
                  <a:t>Output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pPr lvl="1"/>
                <a:r>
                  <a:rPr lang="en-US" sz="2400" dirty="0"/>
                  <a:t>‘Short’ (n-bit) binary strings</a:t>
                </a:r>
              </a:p>
              <a:p>
                <a:pPr lvl="2"/>
                <a:r>
                  <a:rPr lang="en-US" sz="2400" dirty="0"/>
                  <a:t>Aka </a:t>
                </a:r>
                <a:r>
                  <a:rPr lang="en-US" sz="2400" b="1" dirty="0"/>
                  <a:t>message digest</a:t>
                </a:r>
              </a:p>
              <a:p>
                <a:r>
                  <a:rPr lang="en-US" sz="2400" dirty="0"/>
                  <a:t>Efficiently computable </a:t>
                </a:r>
              </a:p>
              <a:p>
                <a:r>
                  <a:rPr lang="en-US" sz="2400" dirty="0"/>
                  <a:t>Applications: cryptography, security, efficiency</a:t>
                </a:r>
              </a:p>
              <a:p>
                <a:r>
                  <a:rPr lang="en-US" sz="2400" u="sng" dirty="0"/>
                  <a:t>Keyed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where the key is public, or </a:t>
                </a:r>
                <a:r>
                  <a:rPr lang="en-US" sz="2400" u="sng" dirty="0"/>
                  <a:t>unkeyed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1023759"/>
                <a:ext cx="8229600" cy="3171216"/>
              </a:xfrm>
              <a:blipFill>
                <a:blip r:embed="rId2"/>
                <a:stretch>
                  <a:fillRect l="-154" t="-1594" b="-1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3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 bwMode="auto">
              <a:xfrm>
                <a:off x="5174475" y="4518188"/>
                <a:ext cx="1501454" cy="379421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4475" y="4518188"/>
                <a:ext cx="1501454" cy="379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rapezoid 6"/>
          <p:cNvSpPr/>
          <p:nvPr/>
        </p:nvSpPr>
        <p:spPr bwMode="auto">
          <a:xfrm flipH="1" flipV="1">
            <a:off x="5168802" y="4912266"/>
            <a:ext cx="1507127" cy="389931"/>
          </a:xfrm>
          <a:prstGeom prst="trapezoid">
            <a:avLst>
              <a:gd name="adj" fmla="val 920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618378" y="4863406"/>
                <a:ext cx="4464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378" y="4863406"/>
                <a:ext cx="4464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 bwMode="auto">
              <a:xfrm>
                <a:off x="5539120" y="5309752"/>
                <a:ext cx="766489" cy="404492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9120" y="5309752"/>
                <a:ext cx="766489" cy="404492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 bwMode="auto">
              <a:xfrm>
                <a:off x="2823255" y="4532845"/>
                <a:ext cx="1501454" cy="379421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3255" y="4532845"/>
                <a:ext cx="1501454" cy="3794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rapezoid 10"/>
          <p:cNvSpPr/>
          <p:nvPr/>
        </p:nvSpPr>
        <p:spPr bwMode="auto">
          <a:xfrm flipH="1" flipV="1">
            <a:off x="2817582" y="4926923"/>
            <a:ext cx="1507127" cy="389931"/>
          </a:xfrm>
          <a:prstGeom prst="trapezoid">
            <a:avLst>
              <a:gd name="adj" fmla="val 920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67158" y="4878063"/>
                <a:ext cx="4464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58" y="4878063"/>
                <a:ext cx="4464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 bwMode="auto">
              <a:xfrm>
                <a:off x="3187900" y="5324409"/>
                <a:ext cx="766489" cy="404492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7900" y="5324409"/>
                <a:ext cx="766489" cy="404492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288389" y="495246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latin typeface="Cambria Math" panose="02040503050406030204" pitchFamily="18" charset="0"/>
              </a:rPr>
              <a:t>k</a:t>
            </a:r>
          </a:p>
        </p:txBody>
      </p:sp>
      <p:cxnSp>
        <p:nvCxnSpPr>
          <p:cNvPr id="16" name="Straight Arrow Connector 15"/>
          <p:cNvCxnSpPr>
            <a:stCxn id="14" idx="3"/>
            <a:endCxn id="11" idx="3"/>
          </p:cNvCxnSpPr>
          <p:nvPr/>
        </p:nvCxnSpPr>
        <p:spPr bwMode="auto">
          <a:xfrm flipV="1">
            <a:off x="2594883" y="5121888"/>
            <a:ext cx="402079" cy="15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247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uiExpand="1" build="p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Functions: Simple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2934"/>
                <a:ext cx="8229600" cy="4981575"/>
              </a:xfrm>
            </p:spPr>
            <p:txBody>
              <a:bodyPr/>
              <a:lstStyle/>
              <a:p>
                <a:r>
                  <a:rPr lang="en-US" sz="2800" dirty="0"/>
                  <a:t>For simplicity: input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 is a decimal integer</a:t>
                </a:r>
              </a:p>
              <a:p>
                <a:pPr lvl="1"/>
                <a:r>
                  <a:rPr lang="en-US" sz="2400" dirty="0"/>
                  <a:t>View as string of (three) digits</a:t>
                </a:r>
              </a:p>
              <a:p>
                <a:pPr lvl="1"/>
                <a:r>
                  <a:rPr lang="en-US" sz="2400" dirty="0"/>
                  <a:t>For example,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=127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800" dirty="0"/>
                  <a:t>Least Significant Digit hash:</a:t>
                </a:r>
                <a:br>
                  <a:rPr lang="en-US" sz="2800" dirty="0"/>
                </a:br>
                <a:r>
                  <a:rPr lang="en-US" sz="2800" dirty="0"/>
                  <a:t>		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𝐿𝑆𝐷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  <a:p>
                <a:r>
                  <a:rPr lang="en-US" sz="2800" dirty="0"/>
                  <a:t>Sum hash: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𝑢𝑚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Exercise:	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𝐿𝑆𝐷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117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__</m:t>
                        </m:r>
                      </m:e>
                      <m:sub/>
                    </m:sSub>
                  </m:oMath>
                </a14:m>
                <a:br>
                  <a:rPr lang="en-US" sz="2800" b="0" dirty="0"/>
                </a:b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	                                         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𝑆𝑢𝑚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117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__</a:t>
                </a:r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2934"/>
                <a:ext cx="8229600" cy="4981575"/>
              </a:xfrm>
              <a:blipFill>
                <a:blip r:embed="rId2"/>
                <a:stretch>
                  <a:fillRect l="-463" t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 bwMode="auto">
              <a:xfrm>
                <a:off x="7358145" y="978914"/>
                <a:ext cx="1501454" cy="379421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8145" y="978914"/>
                <a:ext cx="1501454" cy="379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rapezoid 6"/>
          <p:cNvSpPr/>
          <p:nvPr/>
        </p:nvSpPr>
        <p:spPr bwMode="auto">
          <a:xfrm flipH="1" flipV="1">
            <a:off x="7352472" y="1372992"/>
            <a:ext cx="1507127" cy="389931"/>
          </a:xfrm>
          <a:prstGeom prst="trapezoid">
            <a:avLst>
              <a:gd name="adj" fmla="val 920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802048" y="1324132"/>
                <a:ext cx="4464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048" y="1324132"/>
                <a:ext cx="4464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 bwMode="auto">
              <a:xfrm>
                <a:off x="7722790" y="1770478"/>
                <a:ext cx="766489" cy="404492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22790" y="1770478"/>
                <a:ext cx="766489" cy="404492"/>
              </a:xfrm>
              <a:prstGeom prst="rect">
                <a:avLst/>
              </a:prstGeom>
              <a:blipFill>
                <a:blip r:embed="rId5"/>
                <a:stretch>
                  <a:fillRect b="-289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403553" y="4217236"/>
            <a:ext cx="31290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747" y="4662019"/>
            <a:ext cx="31290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8679B-A592-4C41-80C7-E07AC0DFE67D}"/>
              </a:ext>
            </a:extLst>
          </p:cNvPr>
          <p:cNvSpPr/>
          <p:nvPr/>
        </p:nvSpPr>
        <p:spPr bwMode="auto">
          <a:xfrm>
            <a:off x="1138687" y="5427003"/>
            <a:ext cx="6584103" cy="70736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Note: the above are insecure hash functions, these are just toy examples to grasp the concept of hashing.</a:t>
            </a:r>
          </a:p>
        </p:txBody>
      </p:sp>
    </p:spTree>
    <p:extLst>
      <p:ext uri="{BB962C8B-B14F-4D97-AF65-F5344CB8AC3E}">
        <p14:creationId xmlns:p14="http://schemas.microsoft.com/office/powerpoint/2010/main" val="171461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Hashing for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123"/>
            <a:ext cx="8229600" cy="1822449"/>
          </a:xfrm>
        </p:spPr>
        <p:txBody>
          <a:bodyPr/>
          <a:lstStyle/>
          <a:p>
            <a:r>
              <a:rPr lang="en-US" dirty="0"/>
              <a:t>Input: large set (e.g., integers or strings)</a:t>
            </a:r>
          </a:p>
          <a:p>
            <a:r>
              <a:rPr lang="en-US" dirty="0"/>
              <a:t>Goal: map `randomly’ to few bins</a:t>
            </a:r>
            <a:endParaRPr lang="he-IL" dirty="0"/>
          </a:p>
          <a:p>
            <a:pPr lvl="1"/>
            <a:r>
              <a:rPr lang="en-US" dirty="0"/>
              <a:t>E.g., to ensure efficiency – load balancing,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8" name="Flowchart: Document 7"/>
          <p:cNvSpPr/>
          <p:nvPr/>
        </p:nvSpPr>
        <p:spPr bwMode="auto">
          <a:xfrm>
            <a:off x="1766047" y="3125011"/>
            <a:ext cx="1062317" cy="2626659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341,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3342,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870,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571,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31,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452,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80,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Magnetic Disk 8"/>
              <p:cNvSpPr/>
              <p:nvPr/>
            </p:nvSpPr>
            <p:spPr bwMode="auto">
              <a:xfrm>
                <a:off x="3722998" y="4993329"/>
                <a:ext cx="1039906" cy="717179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Flowchart: Magnetic Dis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2998" y="4993329"/>
                <a:ext cx="1039906" cy="717179"/>
              </a:xfrm>
              <a:prstGeom prst="flowChartMagneticDisk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agnetic Disk 9"/>
              <p:cNvSpPr/>
              <p:nvPr/>
            </p:nvSpPr>
            <p:spPr bwMode="auto">
              <a:xfrm>
                <a:off x="5465311" y="4993335"/>
                <a:ext cx="1039906" cy="717177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2</m:t>
                      </m:r>
                    </m:oMath>
                  </m:oMathPara>
                </a14:m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" name="Flowchart: Magnetic Dis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5311" y="4993335"/>
                <a:ext cx="1039906" cy="717177"/>
              </a:xfrm>
              <a:prstGeom prst="flowChartMagneticDisk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chart: Magnetic Disk 10"/>
              <p:cNvSpPr/>
              <p:nvPr/>
            </p:nvSpPr>
            <p:spPr bwMode="auto">
              <a:xfrm>
                <a:off x="7377951" y="4993329"/>
                <a:ext cx="1120590" cy="717177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0</m:t>
                      </m:r>
                    </m:oMath>
                  </m:oMathPara>
                </a14:m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Flowchart: Magnetic Disk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77951" y="4993329"/>
                <a:ext cx="1120590" cy="717177"/>
              </a:xfrm>
              <a:prstGeom prst="flowChartMagneticDisk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 bwMode="auto">
          <a:xfrm flipH="1">
            <a:off x="4762903" y="3512037"/>
            <a:ext cx="1027021" cy="2966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 flipH="1">
            <a:off x="5789924" y="3506228"/>
            <a:ext cx="5758" cy="2698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5799636" y="3531732"/>
            <a:ext cx="1572559" cy="2576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Flowchart: Document 26"/>
          <p:cNvSpPr/>
          <p:nvPr/>
        </p:nvSpPr>
        <p:spPr bwMode="auto">
          <a:xfrm>
            <a:off x="3758857" y="3776069"/>
            <a:ext cx="998290" cy="1217269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341,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571,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31,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Flowchart: Document 27"/>
          <p:cNvSpPr/>
          <p:nvPr/>
        </p:nvSpPr>
        <p:spPr bwMode="auto">
          <a:xfrm>
            <a:off x="5465311" y="3776070"/>
            <a:ext cx="968188" cy="1149402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3342,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452,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Flowchart: Document 28"/>
          <p:cNvSpPr/>
          <p:nvPr/>
        </p:nvSpPr>
        <p:spPr bwMode="auto">
          <a:xfrm>
            <a:off x="7377953" y="3756388"/>
            <a:ext cx="977153" cy="1169083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870,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80,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1" name="Picture 20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644" y="5751670"/>
            <a:ext cx="379662" cy="379662"/>
          </a:xfrm>
          <a:prstGeom prst="rect">
            <a:avLst/>
          </a:prstGeom>
        </p:spPr>
      </p:pic>
      <p:pic>
        <p:nvPicPr>
          <p:cNvPr id="23" name="Picture 22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093" y="5775731"/>
            <a:ext cx="379662" cy="375991"/>
          </a:xfrm>
          <a:prstGeom prst="rect">
            <a:avLst/>
          </a:prstGeom>
        </p:spPr>
      </p:pic>
      <p:pic>
        <p:nvPicPr>
          <p:cNvPr id="25" name="Picture 24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216" y="5751670"/>
            <a:ext cx="379662" cy="379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6891" y="503055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 . 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1032" y="413767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 . . </a:t>
            </a:r>
          </a:p>
        </p:txBody>
      </p:sp>
      <p:sp>
        <p:nvSpPr>
          <p:cNvPr id="31" name="Trapezoid 30"/>
          <p:cNvSpPr/>
          <p:nvPr/>
        </p:nvSpPr>
        <p:spPr bwMode="auto">
          <a:xfrm flipH="1" flipV="1">
            <a:off x="4970205" y="3103006"/>
            <a:ext cx="1650825" cy="389931"/>
          </a:xfrm>
          <a:prstGeom prst="trapezoid">
            <a:avLst>
              <a:gd name="adj" fmla="val 920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04357" y="3083906"/>
                <a:ext cx="6952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𝐿𝑆𝐷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357" y="3083906"/>
                <a:ext cx="695255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733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123"/>
            <a:ext cx="8229600" cy="1822449"/>
          </a:xfrm>
        </p:spPr>
        <p:txBody>
          <a:bodyPr/>
          <a:lstStyle/>
          <a:p>
            <a:r>
              <a:rPr lang="en-US"/>
              <a:t>Input: large set (e.g., integers or strings)</a:t>
            </a:r>
          </a:p>
          <a:p>
            <a:r>
              <a:rPr lang="en-US"/>
              <a:t>Goal: map `randomly’ to few bins</a:t>
            </a:r>
            <a:endParaRPr lang="he-IL"/>
          </a:p>
          <a:p>
            <a:pPr lvl="1"/>
            <a:r>
              <a:rPr lang="en-US"/>
              <a:t>E.g., to ensure efficiency – load balancing, etc.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Adversary chooses inputs that hash to same bin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8" name="Flowchart: Document 7"/>
          <p:cNvSpPr/>
          <p:nvPr/>
        </p:nvSpPr>
        <p:spPr bwMode="auto">
          <a:xfrm>
            <a:off x="1968038" y="3125011"/>
            <a:ext cx="1062317" cy="2626659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32,</a:t>
            </a:r>
          </a:p>
          <a:p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42,</a:t>
            </a:r>
          </a:p>
          <a:p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52,</a:t>
            </a:r>
          </a:p>
          <a:p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62,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31,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452,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80,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Magnetic Disk 8"/>
              <p:cNvSpPr/>
              <p:nvPr/>
            </p:nvSpPr>
            <p:spPr bwMode="auto">
              <a:xfrm>
                <a:off x="3722998" y="4993329"/>
                <a:ext cx="1039906" cy="717179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Flowchart: Magnetic Dis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2998" y="4993329"/>
                <a:ext cx="1039906" cy="717179"/>
              </a:xfrm>
              <a:prstGeom prst="flowChartMagneticDisk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agnetic Disk 9"/>
              <p:cNvSpPr/>
              <p:nvPr/>
            </p:nvSpPr>
            <p:spPr bwMode="auto">
              <a:xfrm>
                <a:off x="5465311" y="4993335"/>
                <a:ext cx="1039906" cy="717177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2</m:t>
                      </m:r>
                    </m:oMath>
                  </m:oMathPara>
                </a14:m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" name="Flowchart: Magnetic Dis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5311" y="4993335"/>
                <a:ext cx="1039906" cy="717177"/>
              </a:xfrm>
              <a:prstGeom prst="flowChartMagneticDisk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chart: Magnetic Disk 10"/>
              <p:cNvSpPr/>
              <p:nvPr/>
            </p:nvSpPr>
            <p:spPr bwMode="auto">
              <a:xfrm>
                <a:off x="7377951" y="4993329"/>
                <a:ext cx="1120590" cy="717177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0</m:t>
                      </m:r>
                    </m:oMath>
                  </m:oMathPara>
                </a14:m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Flowchart: Magnetic Disk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77951" y="4993329"/>
                <a:ext cx="1120590" cy="717177"/>
              </a:xfrm>
              <a:prstGeom prst="flowChartMagneticDisk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 bwMode="auto">
          <a:xfrm flipH="1">
            <a:off x="4762903" y="3512037"/>
            <a:ext cx="1027021" cy="2966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 flipH="1">
            <a:off x="5789924" y="3506228"/>
            <a:ext cx="5758" cy="2698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5799636" y="3531732"/>
            <a:ext cx="1572559" cy="2576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Flowchart: Document 26"/>
          <p:cNvSpPr/>
          <p:nvPr/>
        </p:nvSpPr>
        <p:spPr bwMode="auto">
          <a:xfrm>
            <a:off x="3758857" y="3776069"/>
            <a:ext cx="998290" cy="1217269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31,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Flowchart: Document 27"/>
          <p:cNvSpPr/>
          <p:nvPr/>
        </p:nvSpPr>
        <p:spPr bwMode="auto">
          <a:xfrm>
            <a:off x="5465311" y="3776070"/>
            <a:ext cx="968188" cy="1149402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32, 42,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52, 62,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452,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Flowchart: Document 28"/>
          <p:cNvSpPr/>
          <p:nvPr/>
        </p:nvSpPr>
        <p:spPr bwMode="auto">
          <a:xfrm>
            <a:off x="7377953" y="3756388"/>
            <a:ext cx="977153" cy="1169083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80,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1" name="Picture 20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644" y="5751670"/>
            <a:ext cx="379662" cy="379662"/>
          </a:xfrm>
          <a:prstGeom prst="rect">
            <a:avLst/>
          </a:prstGeom>
        </p:spPr>
      </p:pic>
      <p:pic>
        <p:nvPicPr>
          <p:cNvPr id="25" name="Picture 24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216" y="5751670"/>
            <a:ext cx="379662" cy="379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6891" y="503055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 . 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1032" y="413767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 . . </a:t>
            </a:r>
          </a:p>
        </p:txBody>
      </p:sp>
      <p:sp>
        <p:nvSpPr>
          <p:cNvPr id="31" name="Trapezoid 30"/>
          <p:cNvSpPr/>
          <p:nvPr/>
        </p:nvSpPr>
        <p:spPr bwMode="auto">
          <a:xfrm flipH="1" flipV="1">
            <a:off x="4970205" y="3103006"/>
            <a:ext cx="1650825" cy="389931"/>
          </a:xfrm>
          <a:prstGeom prst="trapezoid">
            <a:avLst>
              <a:gd name="adj" fmla="val 920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04357" y="3083906"/>
                <a:ext cx="6952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𝐿𝑆𝐷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357" y="3083906"/>
                <a:ext cx="695255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4" descr="Image result for monster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85" y="3198640"/>
            <a:ext cx="609269" cy="52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 descr="Clipart - &lt;strong&gt;Sad face&lt;/strong&gt;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98" y="5707566"/>
            <a:ext cx="395292" cy="376518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 bwMode="auto">
          <a:xfrm flipV="1">
            <a:off x="914400" y="3307976"/>
            <a:ext cx="941294" cy="537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/>
          <p:cNvCxnSpPr/>
          <p:nvPr/>
        </p:nvCxnSpPr>
        <p:spPr bwMode="auto">
          <a:xfrm>
            <a:off x="881047" y="3404127"/>
            <a:ext cx="969247" cy="1276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/>
          <p:cNvCxnSpPr/>
          <p:nvPr/>
        </p:nvCxnSpPr>
        <p:spPr bwMode="auto">
          <a:xfrm>
            <a:off x="895023" y="3451593"/>
            <a:ext cx="931941" cy="4021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/>
          <p:nvPr/>
        </p:nvCxnSpPr>
        <p:spPr bwMode="auto">
          <a:xfrm>
            <a:off x="902875" y="3531733"/>
            <a:ext cx="954142" cy="5844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ounded Rectangular Callout 36"/>
          <p:cNvSpPr/>
          <p:nvPr/>
        </p:nvSpPr>
        <p:spPr bwMode="auto">
          <a:xfrm>
            <a:off x="146530" y="3868429"/>
            <a:ext cx="1121917" cy="874317"/>
          </a:xfrm>
          <a:prstGeom prst="wedgeRoundRectCallout">
            <a:avLst>
              <a:gd name="adj1" fmla="val -11265"/>
              <a:gd name="adj2" fmla="val -69851"/>
              <a:gd name="adj3" fmla="val 16667"/>
            </a:avLst>
          </a:prstGeom>
          <a:solidFill>
            <a:srgbClr val="FFFFCC">
              <a:alpha val="67059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Inputs to overload the `2’ bin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5190856"/>
            <a:ext cx="2029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Denial-of-Service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36370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November | 2010 | &quot;Granny Beads and Grocery Store Feet&quot;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90" y="3491243"/>
            <a:ext cx="579731" cy="6256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Security Goal: Collision Resistance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7555" y="809741"/>
                <a:ext cx="8229600" cy="2372868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collision: </a:t>
                </a:r>
                <a:r>
                  <a:rPr lang="en-US" sz="2400" dirty="0">
                    <a:solidFill>
                      <a:schemeClr val="tx1"/>
                    </a:solidFill>
                  </a:rPr>
                  <a:t>two different inputs with the same hash: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𝐵𝑜𝑏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2400" i="1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𝑃ℎ𝑖𝑙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Every hash has collisions, since |input|&gt;&gt;|output| !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Collision resistance: hard to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find</a:t>
                </a:r>
                <a:r>
                  <a:rPr lang="en-US" sz="2400" dirty="0">
                    <a:solidFill>
                      <a:schemeClr val="tx1"/>
                    </a:solidFill>
                  </a:rPr>
                  <a:t> these collisions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</a:rPr>
                  <a:t>Note: attacker can always try inputs randomly until a collision is found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</a:rPr>
                  <a:t>But this should be ineffective: must try about (on average)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𝑁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inputs (where N is the </a:t>
                </a:r>
                <a:r>
                  <a:rPr lang="en-US" sz="1800" dirty="0"/>
                  <a:t>size of the output space</a:t>
                </a:r>
                <a:r>
                  <a:rPr lang="en-US" sz="1800" dirty="0">
                    <a:solidFill>
                      <a:schemeClr val="tx1"/>
                    </a:solidFill>
                  </a:rPr>
                  <a:t>)</a:t>
                </a:r>
                <a:endParaRPr lang="en-US" sz="1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555" y="809741"/>
                <a:ext cx="8229600" cy="2372868"/>
              </a:xfrm>
              <a:blipFill>
                <a:blip r:embed="rId4"/>
                <a:stretch>
                  <a:fillRect l="-154" t="-1596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8" name="Flowchart: Document 7"/>
          <p:cNvSpPr/>
          <p:nvPr/>
        </p:nvSpPr>
        <p:spPr bwMode="auto">
          <a:xfrm>
            <a:off x="2097636" y="3616979"/>
            <a:ext cx="968188" cy="2626659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trike="sngStrik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Mal</a:t>
            </a:r>
          </a:p>
          <a:p>
            <a:r>
              <a:rPr lang="en-US" strike="sngStrik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Abe</a:t>
            </a:r>
          </a:p>
          <a:p>
            <a:r>
              <a:rPr lang="en-US" strike="sngStrik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Don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Phil</a:t>
            </a:r>
          </a:p>
          <a:p>
            <a:r>
              <a:rPr lang="en-US" strike="sngStrik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Ron</a:t>
            </a:r>
          </a:p>
          <a:p>
            <a:r>
              <a:rPr lang="en-US" strike="sngStrik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John</a:t>
            </a:r>
          </a:p>
          <a:p>
            <a:r>
              <a:rPr lang="en-US" strike="sngStrik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itchFamily="34" charset="0"/>
                <a:cs typeface="Arial" pitchFamily="34" charset="0"/>
              </a:rPr>
              <a:t>Bob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….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Magnetic Disk 8"/>
              <p:cNvSpPr/>
              <p:nvPr/>
            </p:nvSpPr>
            <p:spPr bwMode="auto">
              <a:xfrm>
                <a:off x="3769554" y="5485307"/>
                <a:ext cx="1039906" cy="717179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kumimoji="0" 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∙</m:t>
                          </m:r>
                        </m:e>
                      </m:d>
                      <m:r>
                        <a:rPr kumimoji="0" 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=1</m:t>
                      </m:r>
                    </m:oMath>
                  </m:oMathPara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Flowchart: Magnetic Dis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9554" y="5485307"/>
                <a:ext cx="1039906" cy="717179"/>
              </a:xfrm>
              <a:prstGeom prst="flowChartMagneticDisk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agnetic Disk 9"/>
              <p:cNvSpPr/>
              <p:nvPr/>
            </p:nvSpPr>
            <p:spPr bwMode="auto">
              <a:xfrm>
                <a:off x="5513189" y="5485307"/>
                <a:ext cx="1039906" cy="717177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∙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2</m:t>
                      </m:r>
                    </m:oMath>
                  </m:oMathPara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" name="Flowchart: Magnetic Dis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189" y="5485307"/>
                <a:ext cx="1039906" cy="717177"/>
              </a:xfrm>
              <a:prstGeom prst="flowChartMagneticDisk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 bwMode="auto">
          <a:xfrm flipH="1">
            <a:off x="4477766" y="3998196"/>
            <a:ext cx="1549619" cy="3754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 flipH="1">
            <a:off x="6027384" y="3998196"/>
            <a:ext cx="5758" cy="3037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6027385" y="3998196"/>
            <a:ext cx="1291631" cy="2698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1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0" y="5417439"/>
            <a:ext cx="417140" cy="53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" name="Flowchart: Document 26"/>
          <p:cNvSpPr/>
          <p:nvPr/>
        </p:nvSpPr>
        <p:spPr bwMode="auto">
          <a:xfrm>
            <a:off x="5438922" y="4268038"/>
            <a:ext cx="1232037" cy="1149402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Phil,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Bob, …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Straight Arrow Connector 6"/>
          <p:cNvCxnSpPr>
            <a:stCxn id="21" idx="3"/>
          </p:cNvCxnSpPr>
          <p:nvPr/>
        </p:nvCxnSpPr>
        <p:spPr bwMode="auto">
          <a:xfrm flipV="1">
            <a:off x="805060" y="5682533"/>
            <a:ext cx="1377741" cy="36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 flipV="1">
            <a:off x="874838" y="3865080"/>
            <a:ext cx="1260126" cy="46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Flowchart: Magnetic Disk 27"/>
              <p:cNvSpPr/>
              <p:nvPr/>
            </p:nvSpPr>
            <p:spPr bwMode="auto">
              <a:xfrm>
                <a:off x="7511720" y="5485307"/>
                <a:ext cx="1120590" cy="717177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∙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𝑁</m:t>
                      </m:r>
                    </m:oMath>
                  </m:oMathPara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" name="Flowchart: Magnetic Disk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1720" y="5485307"/>
                <a:ext cx="1120590" cy="717177"/>
              </a:xfrm>
              <a:prstGeom prst="flowChartMagneticDisk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985" y="5239610"/>
            <a:ext cx="379662" cy="37966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90660" y="552253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 </a:t>
            </a:r>
          </a:p>
        </p:txBody>
      </p:sp>
      <p:pic>
        <p:nvPicPr>
          <p:cNvPr id="31" name="Picture 30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09" y="5239610"/>
            <a:ext cx="379662" cy="379662"/>
          </a:xfrm>
          <a:prstGeom prst="rect">
            <a:avLst/>
          </a:prstGeom>
        </p:spPr>
      </p:pic>
      <p:pic>
        <p:nvPicPr>
          <p:cNvPr id="32" name="Picture 31" descr="All This Is That: The origin and back story of the &lt;strong&gt;smiley&lt;/strong&gt; &lt;strong&gt;face&lt;/strong&gt;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676" y="5239610"/>
            <a:ext cx="379662" cy="379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ular Callout 32"/>
              <p:cNvSpPr/>
              <p:nvPr/>
            </p:nvSpPr>
            <p:spPr bwMode="auto">
              <a:xfrm>
                <a:off x="452611" y="4286350"/>
                <a:ext cx="1549544" cy="996722"/>
              </a:xfrm>
              <a:prstGeom prst="wedgeRoundRectCallout">
                <a:avLst>
                  <a:gd name="adj1" fmla="val -37825"/>
                  <a:gd name="adj2" fmla="val -66196"/>
                  <a:gd name="adj3" fmla="val 16667"/>
                </a:avLst>
              </a:prstGeom>
              <a:solidFill>
                <a:srgbClr val="EE1222">
                  <a:alpha val="67059"/>
                </a:srgb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:r>
                  <a:rPr lang="en-US" sz="1400" dirty="0">
                    <a:latin typeface="Arial" pitchFamily="34" charset="0"/>
                    <a:cs typeface="Arial" pitchFamily="34" charset="0"/>
                  </a:rPr>
                  <a:t>Must try many names to find name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Arial" pitchFamily="34" charset="0"/>
                      </a:rPr>
                      <m:t>𝑢</m:t>
                    </m:r>
                  </m:oMath>
                </a14:m>
                <a:r>
                  <a:rPr lang="en-US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400" dirty="0" err="1">
                    <a:latin typeface="Arial" pitchFamily="34" charset="0"/>
                    <a:cs typeface="Arial" pitchFamily="34" charset="0"/>
                  </a:rPr>
                  <a:t>s.t.</a:t>
                </a:r>
                <a:br>
                  <a:rPr lang="en-US" sz="1400" dirty="0">
                    <a:latin typeface="Arial" pitchFamily="34" charset="0"/>
                    <a:cs typeface="Arial" pitchFamily="34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𝑢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 pitchFamily="34" charset="0"/>
                        </a:rPr>
                        <m:t>(′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 pitchFamily="34" charset="0"/>
                        </a:rPr>
                        <m:t>𝐵𝑜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3" name="Rounded Rectangular Callout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611" y="4286350"/>
                <a:ext cx="1549544" cy="996722"/>
              </a:xfrm>
              <a:prstGeom prst="wedgeRoundRectCallout">
                <a:avLst>
                  <a:gd name="adj1" fmla="val -37825"/>
                  <a:gd name="adj2" fmla="val -66196"/>
                  <a:gd name="adj3" fmla="val 16667"/>
                </a:avLst>
              </a:prstGeom>
              <a:blipFill>
                <a:blip r:embed="rId10"/>
                <a:stretch>
                  <a:fillRect b="-2151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rapezoid 33"/>
          <p:cNvSpPr/>
          <p:nvPr/>
        </p:nvSpPr>
        <p:spPr bwMode="auto">
          <a:xfrm flipH="1" flipV="1">
            <a:off x="5168788" y="3602485"/>
            <a:ext cx="1650825" cy="389931"/>
          </a:xfrm>
          <a:prstGeom prst="trapezoid">
            <a:avLst>
              <a:gd name="adj" fmla="val 920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400044" y="3616979"/>
                <a:ext cx="1176925" cy="36933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Hash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∙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44" y="3616979"/>
                <a:ext cx="1176925" cy="369332"/>
              </a:xfrm>
              <a:prstGeom prst="rect">
                <a:avLst/>
              </a:prstGeom>
              <a:blipFill>
                <a:blip r:embed="rId11"/>
                <a:stretch>
                  <a:fillRect l="-537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60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Collision Resistant Hash Function (CRHF)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3069" y="966158"/>
                <a:ext cx="8380272" cy="173993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</m:oMath>
                </a14:m>
                <a:r>
                  <a:rPr lang="en-US" sz="2300" dirty="0">
                    <a:solidFill>
                      <a:srgbClr val="0000FF"/>
                    </a:solidFill>
                  </a:rPr>
                  <a:t> </a:t>
                </a:r>
                <a:r>
                  <a:rPr lang="en-US" sz="2300" dirty="0">
                    <a:solidFill>
                      <a:schemeClr val="tx1"/>
                    </a:solidFill>
                  </a:rPr>
                  <a:t>is CRHF if it is hard to </a:t>
                </a:r>
                <a:r>
                  <a:rPr lang="en-US" sz="2300" b="1" dirty="0">
                    <a:solidFill>
                      <a:schemeClr val="tx1"/>
                    </a:solidFill>
                  </a:rPr>
                  <a:t>find</a:t>
                </a:r>
                <a:r>
                  <a:rPr lang="en-US" sz="2300" dirty="0">
                    <a:solidFill>
                      <a:schemeClr val="tx1"/>
                    </a:solidFill>
                  </a:rPr>
                  <a:t> collisions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sz="23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sz="23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300" i="1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3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sz="23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sz="23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sz="23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2300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sz="2300" i="1" dirty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300" dirty="0">
                    <a:cs typeface="Arial" pitchFamily="34" charset="0"/>
                  </a:rPr>
                  <a:t>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23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3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3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</a:rPr>
                  <a:t>Note: attacker can always try inputs randomly until finding collisions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</a:rPr>
                  <a:t>But this should be ineffective: must try about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|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𝑅𝑎𝑛𝑔𝑒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|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values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</a:rPr>
                  <a:t>Hard means that the probability that the attacker succeeds in finding a collision is negligible.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69" y="966158"/>
                <a:ext cx="8380272" cy="1739935"/>
              </a:xfrm>
              <a:blipFill>
                <a:blip r:embed="rId3"/>
                <a:stretch>
                  <a:fillRect l="-303" t="-2158" b="-1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8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6FD647B-74CA-AB4F-9800-D4C259B52E75}"/>
                  </a:ext>
                </a:extLst>
              </p:cNvPr>
              <p:cNvSpPr/>
              <p:nvPr/>
            </p:nvSpPr>
            <p:spPr bwMode="auto">
              <a:xfrm>
                <a:off x="2452889" y="3643636"/>
                <a:ext cx="2285679" cy="174915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6FD647B-74CA-AB4F-9800-D4C259B52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2889" y="3643636"/>
                <a:ext cx="2285679" cy="174915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E6DEC65-8147-314A-8235-4DD938114911}"/>
                  </a:ext>
                </a:extLst>
              </p:cNvPr>
              <p:cNvSpPr/>
              <p:nvPr/>
            </p:nvSpPr>
            <p:spPr bwMode="auto">
              <a:xfrm>
                <a:off x="6429012" y="3933266"/>
                <a:ext cx="2176460" cy="131505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Range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E6DEC65-8147-314A-8235-4DD938114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012" y="3933266"/>
                <a:ext cx="2176460" cy="131505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216560-140F-4D4D-912A-BB3B127BF1CA}"/>
                  </a:ext>
                </a:extLst>
              </p:cNvPr>
              <p:cNvSpPr txBox="1"/>
              <p:nvPr/>
            </p:nvSpPr>
            <p:spPr>
              <a:xfrm>
                <a:off x="3470964" y="4276538"/>
                <a:ext cx="533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216560-140F-4D4D-912A-BB3B127BF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964" y="4276538"/>
                <a:ext cx="53309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384FEA6-AFD9-464A-B938-CDB6A48DB08E}"/>
                  </a:ext>
                </a:extLst>
              </p:cNvPr>
              <p:cNvSpPr txBox="1"/>
              <p:nvPr/>
            </p:nvSpPr>
            <p:spPr>
              <a:xfrm>
                <a:off x="3418642" y="4737665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384FEA6-AFD9-464A-B938-CDB6A48DB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642" y="4737665"/>
                <a:ext cx="5854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142566-04CF-6A46-91A2-84912681B4FE}"/>
                  </a:ext>
                </a:extLst>
              </p:cNvPr>
              <p:cNvSpPr txBox="1"/>
              <p:nvPr/>
            </p:nvSpPr>
            <p:spPr>
              <a:xfrm>
                <a:off x="6692708" y="4626787"/>
                <a:ext cx="1520801" cy="3385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160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142566-04CF-6A46-91A2-84912681B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708" y="4626787"/>
                <a:ext cx="1520801" cy="33855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3FBFF9-9ADA-5F40-B010-12F44877CDF3}"/>
              </a:ext>
            </a:extLst>
          </p:cNvPr>
          <p:cNvCxnSpPr/>
          <p:nvPr/>
        </p:nvCxnSpPr>
        <p:spPr bwMode="auto">
          <a:xfrm>
            <a:off x="3867348" y="4477354"/>
            <a:ext cx="2967318" cy="331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EC19802-EEC2-094E-B596-08157EF04DC9}"/>
              </a:ext>
            </a:extLst>
          </p:cNvPr>
          <p:cNvCxnSpPr/>
          <p:nvPr/>
        </p:nvCxnSpPr>
        <p:spPr bwMode="auto">
          <a:xfrm flipV="1">
            <a:off x="3867348" y="4809049"/>
            <a:ext cx="2967318" cy="1147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E187DA-05EA-7C47-8070-82D9C7ED58D3}"/>
                  </a:ext>
                </a:extLst>
              </p:cNvPr>
              <p:cNvSpPr txBox="1"/>
              <p:nvPr/>
            </p:nvSpPr>
            <p:spPr>
              <a:xfrm>
                <a:off x="4642264" y="3798878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Hash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E187DA-05EA-7C47-8070-82D9C7ED5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264" y="3798878"/>
                <a:ext cx="2048959" cy="369332"/>
              </a:xfrm>
              <a:prstGeom prst="rect">
                <a:avLst/>
              </a:prstGeom>
              <a:blipFill>
                <a:blip r:embed="rId9"/>
                <a:stretch>
                  <a:fillRect l="-2454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ounded Rectangle 2">
            <a:extLst>
              <a:ext uri="{FF2B5EF4-FFF2-40B4-BE49-F238E27FC236}">
                <a16:creationId xmlns:a16="http://schemas.microsoft.com/office/drawing/2014/main" id="{A8418CEB-D82B-FD4D-93D3-EFA0C7DD6520}"/>
              </a:ext>
            </a:extLst>
          </p:cNvPr>
          <p:cNvSpPr/>
          <p:nvPr/>
        </p:nvSpPr>
        <p:spPr bwMode="auto">
          <a:xfrm>
            <a:off x="906774" y="4083797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p:sp>
        <p:nvSpPr>
          <p:cNvPr id="47" name="Down Arrow 4">
            <a:extLst>
              <a:ext uri="{FF2B5EF4-FFF2-40B4-BE49-F238E27FC236}">
                <a16:creationId xmlns:a16="http://schemas.microsoft.com/office/drawing/2014/main" id="{412CF2EE-AA97-2A45-BF22-7BE49E0F1340}"/>
              </a:ext>
            </a:extLst>
          </p:cNvPr>
          <p:cNvSpPr/>
          <p:nvPr/>
        </p:nvSpPr>
        <p:spPr bwMode="auto">
          <a:xfrm>
            <a:off x="1380121" y="4477353"/>
            <a:ext cx="320037" cy="24894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C01ABC1-F3D4-F24A-B65A-CD1C17CD1CDF}"/>
                  </a:ext>
                </a:extLst>
              </p:cNvPr>
              <p:cNvSpPr/>
              <p:nvPr/>
            </p:nvSpPr>
            <p:spPr bwMode="auto">
              <a:xfrm>
                <a:off x="613779" y="4763907"/>
                <a:ext cx="1927998" cy="10830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Collision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’</m:t>
                        </m:r>
                      </m:e>
                    </m:d>
                  </m:oMath>
                </a14:m>
                <a:endParaRPr kumimoji="0" lang="en-US" sz="18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dirty="0">
                    <a:cs typeface="Arial" pitchFamily="34" charset="0"/>
                  </a:rPr>
                  <a:t>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C01ABC1-F3D4-F24A-B65A-CD1C17CD1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779" y="4763907"/>
                <a:ext cx="1927998" cy="1083075"/>
              </a:xfrm>
              <a:prstGeom prst="rect">
                <a:avLst/>
              </a:prstGeom>
              <a:blipFill>
                <a:blip r:embed="rId10"/>
                <a:stretch>
                  <a:fillRect l="-2614" t="-229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Down Arrow 4">
            <a:extLst>
              <a:ext uri="{FF2B5EF4-FFF2-40B4-BE49-F238E27FC236}">
                <a16:creationId xmlns:a16="http://schemas.microsoft.com/office/drawing/2014/main" id="{761AA6E5-088F-244B-9EC5-16EA108F9096}"/>
              </a:ext>
            </a:extLst>
          </p:cNvPr>
          <p:cNvSpPr/>
          <p:nvPr/>
        </p:nvSpPr>
        <p:spPr bwMode="auto">
          <a:xfrm>
            <a:off x="1373316" y="3829576"/>
            <a:ext cx="320037" cy="24894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36EDEC5-4C95-7C47-84DC-1B1233705911}"/>
                  </a:ext>
                </a:extLst>
              </p:cNvPr>
              <p:cNvSpPr txBox="1"/>
              <p:nvPr/>
            </p:nvSpPr>
            <p:spPr>
              <a:xfrm>
                <a:off x="1284099" y="3429000"/>
                <a:ext cx="49847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36EDEC5-4C95-7C47-84DC-1B1233705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99" y="3429000"/>
                <a:ext cx="49847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49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Keyless Collision Resistant Hash Function (CRHF)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7C64B3-F889-E048-92E9-C9F23B53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64" y="1920644"/>
            <a:ext cx="6781999" cy="20521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38FD39-F73E-495B-FC70-86BA46EEA2CD}"/>
              </a:ext>
            </a:extLst>
          </p:cNvPr>
          <p:cNvSpPr/>
          <p:nvPr/>
        </p:nvSpPr>
        <p:spPr bwMode="auto">
          <a:xfrm>
            <a:off x="2216426" y="2017076"/>
            <a:ext cx="228600" cy="1689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D6E6F-EA1A-4FF0-F85B-7E50CE8F88AF}"/>
              </a:ext>
            </a:extLst>
          </p:cNvPr>
          <p:cNvSpPr/>
          <p:nvPr/>
        </p:nvSpPr>
        <p:spPr bwMode="auto">
          <a:xfrm>
            <a:off x="7391399" y="3177926"/>
            <a:ext cx="498763" cy="23062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96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Keyless CRHF </a:t>
            </a:r>
            <a:r>
              <a:rPr lang="en-US" sz="3200" b="1" dirty="0"/>
              <a:t>Do Not </a:t>
            </a:r>
            <a:r>
              <a:rPr lang="en-US" sz="3200" dirty="0"/>
              <a:t>Exist!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3069" y="966158"/>
                <a:ext cx="8380272" cy="5089585"/>
              </a:xfrm>
            </p:spPr>
            <p:txBody>
              <a:bodyPr/>
              <a:lstStyle/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400" dirty="0"/>
                  <a:t>|Range|&lt;&lt;|Domain| so there </a:t>
                </a:r>
                <a:r>
                  <a:rPr lang="en-GB" altLang="en-US" sz="2400" u="sng" dirty="0"/>
                  <a:t>is</a:t>
                </a:r>
                <a:r>
                  <a:rPr lang="en-GB" altLang="en-US" sz="2400" dirty="0"/>
                  <a:t> a collision where  </a:t>
                </a:r>
                <a:r>
                  <a:rPr lang="en-GB" altLang="en-US" sz="2400" i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h(x')=h(x), </a:t>
                </a:r>
                <a14:m>
                  <m:oMath xmlns:m="http://schemas.openxmlformats.org/officeDocument/2006/math">
                    <m:r>
                      <a:rPr lang="en-GB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</m:t>
                    </m:r>
                    <m:r>
                      <a:rPr lang="en-GB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’</m:t>
                    </m:r>
                  </m:oMath>
                </a14:m>
                <a:endParaRPr lang="en-GB" altLang="en-US" sz="2400" dirty="0">
                  <a:solidFill>
                    <a:schemeClr val="tx1"/>
                  </a:solidFill>
                </a:endParaRPr>
              </a:p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400" dirty="0"/>
                  <a:t>For a keyless CRHF there </a:t>
                </a:r>
                <a:r>
                  <a:rPr lang="en-GB" altLang="en-US" sz="2400" u="sng" dirty="0"/>
                  <a:t>is</a:t>
                </a:r>
                <a:r>
                  <a:rPr lang="en-GB" altLang="en-US" sz="2400" dirty="0"/>
                  <a:t> a PPT algorithm A that can always output a collision: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altLang="en-US" sz="2400" dirty="0"/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000" dirty="0"/>
                  <a:t>Proof: in textbook. </a:t>
                </a:r>
              </a:p>
              <a:p>
                <a:pPr marL="1020763" lvl="2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1800" dirty="0"/>
                  <a:t>Intuitively, since the function is fixed (same input-output mapping), a collision instance can be hardcoded in the attacker algorithm and just output that collision and win the security game.</a:t>
                </a:r>
              </a:p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400" dirty="0">
                    <a:solidFill>
                      <a:srgbClr val="0000FF"/>
                    </a:solidFill>
                  </a:rPr>
                  <a:t>Solutions:</a:t>
                </a:r>
                <a:r>
                  <a:rPr lang="en-GB" altLang="en-US" sz="2400" dirty="0"/>
                  <a:t> 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000" u="sng" dirty="0"/>
                  <a:t>keyed</a:t>
                </a:r>
                <a:r>
                  <a:rPr lang="en-GB" altLang="en-US" sz="2000" dirty="0"/>
                  <a:t> CRHF, 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000" dirty="0"/>
                  <a:t>Or use weaker collision notions.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69" y="966158"/>
                <a:ext cx="8380272" cy="5089585"/>
              </a:xfrm>
              <a:blipFill>
                <a:blip r:embed="rId3"/>
                <a:stretch>
                  <a:fillRect l="-303" t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31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6D130C-7E39-4412-B968-294F5537C9B1}" type="slidenum">
              <a:rPr lang="he-IL" altLang="en-US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390525" y="228600"/>
            <a:ext cx="8537575" cy="74084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Keyed CRHF</a:t>
            </a:r>
          </a:p>
        </p:txBody>
      </p:sp>
      <p:sp>
        <p:nvSpPr>
          <p:cNvPr id="1347588" name="Text Box 4"/>
          <p:cNvSpPr txBox="1">
            <a:spLocks noChangeArrowheads="1"/>
          </p:cNvSpPr>
          <p:nvPr/>
        </p:nvSpPr>
        <p:spPr bwMode="auto">
          <a:xfrm>
            <a:off x="639988" y="4573209"/>
            <a:ext cx="8038647" cy="4022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Tahoma" pitchFamily="34" charset="0"/>
              <a:buNone/>
            </a:pPr>
            <a:r>
              <a:rPr lang="en-GB" altLang="en-US" sz="20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Adversary knows </a:t>
            </a:r>
            <a:r>
              <a:rPr lang="en-GB" altLang="en-US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altLang="en-US" sz="20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but </a:t>
            </a:r>
            <a:r>
              <a:rPr lang="en-GB" altLang="en-US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not in advance</a:t>
            </a:r>
            <a:r>
              <a:rPr lang="en-GB" altLang="en-US" sz="20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– cannot `know` a collision </a:t>
            </a:r>
          </a:p>
        </p:txBody>
      </p:sp>
      <p:sp>
        <p:nvSpPr>
          <p:cNvPr id="62" name="Rounded Rectangle 61"/>
          <p:cNvSpPr/>
          <p:nvPr/>
        </p:nvSpPr>
        <p:spPr bwMode="auto">
          <a:xfrm>
            <a:off x="844829" y="2293499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p:sp>
        <p:nvSpPr>
          <p:cNvPr id="63" name="Down Arrow 62"/>
          <p:cNvSpPr/>
          <p:nvPr/>
        </p:nvSpPr>
        <p:spPr bwMode="auto">
          <a:xfrm>
            <a:off x="1319173" y="2695876"/>
            <a:ext cx="349624" cy="41439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Down Arrow 64"/>
          <p:cNvSpPr/>
          <p:nvPr/>
        </p:nvSpPr>
        <p:spPr bwMode="auto">
          <a:xfrm>
            <a:off x="1319173" y="1868199"/>
            <a:ext cx="349624" cy="41439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 bwMode="auto">
              <a:xfrm>
                <a:off x="529986" y="1419552"/>
                <a:ext cx="1927998" cy="440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𝑘</m:t>
                      </m:r>
                      <m:groupChr>
                        <m:groupChrPr>
                          <m:chr m:val="←"/>
                          <m:pos m:val="bot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$</m:t>
                          </m:r>
                        </m:e>
                      </m:groupCh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986" y="1419552"/>
                <a:ext cx="1927998" cy="440200"/>
              </a:xfrm>
              <a:prstGeom prst="rect">
                <a:avLst/>
              </a:prstGeom>
              <a:blipFill>
                <a:blip r:embed="rId4"/>
                <a:stretch>
                  <a:fillRect b="-5000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BF65BF9-4DE2-4575-A380-72087BEBD3D8}"/>
                  </a:ext>
                </a:extLst>
              </p:cNvPr>
              <p:cNvSpPr/>
              <p:nvPr/>
            </p:nvSpPr>
            <p:spPr bwMode="auto">
              <a:xfrm>
                <a:off x="2501356" y="1628339"/>
                <a:ext cx="2285679" cy="174915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BF65BF9-4DE2-4575-A380-72087BEBD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1356" y="1628339"/>
                <a:ext cx="2285679" cy="174915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E3F24E5-CA75-4B6D-A509-B40484F2275A}"/>
                  </a:ext>
                </a:extLst>
              </p:cNvPr>
              <p:cNvSpPr/>
              <p:nvPr/>
            </p:nvSpPr>
            <p:spPr bwMode="auto">
              <a:xfrm>
                <a:off x="6477479" y="1917969"/>
                <a:ext cx="2176460" cy="131505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Range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E3F24E5-CA75-4B6D-A509-B40484F22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479" y="1917969"/>
                <a:ext cx="2176460" cy="131505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6C04D8-9AA7-40BA-9611-4C50C9CDF80F}"/>
                  </a:ext>
                </a:extLst>
              </p:cNvPr>
              <p:cNvSpPr txBox="1"/>
              <p:nvPr/>
            </p:nvSpPr>
            <p:spPr>
              <a:xfrm>
                <a:off x="3519431" y="2261241"/>
                <a:ext cx="533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6C04D8-9AA7-40BA-9611-4C50C9CD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431" y="2261241"/>
                <a:ext cx="5330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51A55C-0C28-49CF-A2B0-DF252DEC5DB9}"/>
                  </a:ext>
                </a:extLst>
              </p:cNvPr>
              <p:cNvSpPr txBox="1"/>
              <p:nvPr/>
            </p:nvSpPr>
            <p:spPr>
              <a:xfrm>
                <a:off x="3467109" y="2722368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51A55C-0C28-49CF-A2B0-DF252DEC5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109" y="2722368"/>
                <a:ext cx="5854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69CADC-ABA0-4D33-BB15-69D5EDFE701A}"/>
              </a:ext>
            </a:extLst>
          </p:cNvPr>
          <p:cNvCxnSpPr/>
          <p:nvPr/>
        </p:nvCxnSpPr>
        <p:spPr bwMode="auto">
          <a:xfrm>
            <a:off x="3915815" y="2462057"/>
            <a:ext cx="2967318" cy="331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165B8EF-DB92-4F67-9E6D-10BBD914B4FA}"/>
              </a:ext>
            </a:extLst>
          </p:cNvPr>
          <p:cNvCxnSpPr/>
          <p:nvPr/>
        </p:nvCxnSpPr>
        <p:spPr bwMode="auto">
          <a:xfrm flipV="1">
            <a:off x="3915815" y="2793752"/>
            <a:ext cx="2967318" cy="1147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2BFD93-4067-4A9D-8717-7858D89E0F41}"/>
                  </a:ext>
                </a:extLst>
              </p:cNvPr>
              <p:cNvSpPr txBox="1"/>
              <p:nvPr/>
            </p:nvSpPr>
            <p:spPr>
              <a:xfrm>
                <a:off x="4645057" y="1834735"/>
                <a:ext cx="21620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Hash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2BFD93-4067-4A9D-8717-7858D89E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057" y="1834735"/>
                <a:ext cx="2162067" cy="369332"/>
              </a:xfrm>
              <a:prstGeom prst="rect">
                <a:avLst/>
              </a:prstGeom>
              <a:blipFill>
                <a:blip r:embed="rId9"/>
                <a:stretch>
                  <a:fillRect l="-232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 bwMode="auto">
              <a:xfrm>
                <a:off x="6883133" y="2638054"/>
                <a:ext cx="1550951" cy="2953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ℎ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ℎ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3133" y="2638054"/>
                <a:ext cx="1550951" cy="295304"/>
              </a:xfrm>
              <a:prstGeom prst="rect">
                <a:avLst/>
              </a:prstGeom>
              <a:blipFill>
                <a:blip r:embed="rId10"/>
                <a:stretch>
                  <a:fillRect b="-3200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E4EE0D8-AC30-4EF6-A6BC-B8C9674E884D}"/>
              </a:ext>
            </a:extLst>
          </p:cNvPr>
          <p:cNvSpPr txBox="1"/>
          <p:nvPr/>
        </p:nvSpPr>
        <p:spPr>
          <a:xfrm>
            <a:off x="2608694" y="5722419"/>
            <a:ext cx="612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Often referred to as </a:t>
            </a:r>
            <a:r>
              <a:rPr lang="en-US" b="1" dirty="0">
                <a:solidFill>
                  <a:srgbClr val="0000FF"/>
                </a:solidFill>
              </a:rPr>
              <a:t>ACR</a:t>
            </a:r>
            <a:r>
              <a:rPr lang="en-US" dirty="0">
                <a:solidFill>
                  <a:srgbClr val="0000FF"/>
                </a:solidFill>
              </a:rPr>
              <a:t>-hash (Any Collision Resistance)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1494EB0-391A-9010-F4EB-C24D33A5324F}"/>
                  </a:ext>
                </a:extLst>
              </p:cNvPr>
              <p:cNvSpPr/>
              <p:nvPr/>
            </p:nvSpPr>
            <p:spPr bwMode="auto">
              <a:xfrm>
                <a:off x="573358" y="3119800"/>
                <a:ext cx="1927998" cy="10830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Collision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GB" altLang="en-US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’</m:t>
                        </m:r>
                      </m:e>
                    </m:d>
                  </m:oMath>
                </a14:m>
                <a:endParaRPr kumimoji="0" lang="en-US" sz="18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dirty="0">
                    <a:cs typeface="Arial" pitchFamily="34" charset="0"/>
                  </a:rPr>
                  <a:t>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1494EB0-391A-9010-F4EB-C24D33A532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358" y="3119800"/>
                <a:ext cx="1927998" cy="1083075"/>
              </a:xfrm>
              <a:prstGeom prst="rect">
                <a:avLst/>
              </a:prstGeom>
              <a:blipFill>
                <a:blip r:embed="rId11"/>
                <a:stretch>
                  <a:fillRect l="-1948" t="-229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4804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5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6D130C-7E39-4412-B968-294F5537C9B1}" type="slidenum">
              <a:rPr lang="he-IL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390525" y="228600"/>
            <a:ext cx="8537575" cy="74084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Keyed CRHF - Definition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3877F79A-7730-B540-A9C8-343228E1E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8" y="2020134"/>
            <a:ext cx="8944303" cy="28177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E68C74-10B9-3AA9-6D98-8EF581734E55}"/>
              </a:ext>
            </a:extLst>
          </p:cNvPr>
          <p:cNvSpPr/>
          <p:nvPr/>
        </p:nvSpPr>
        <p:spPr bwMode="auto">
          <a:xfrm>
            <a:off x="1620078" y="2020134"/>
            <a:ext cx="387626" cy="28574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84AF4-338D-D859-D729-C293B9C84667}"/>
              </a:ext>
            </a:extLst>
          </p:cNvPr>
          <p:cNvSpPr/>
          <p:nvPr/>
        </p:nvSpPr>
        <p:spPr bwMode="auto">
          <a:xfrm>
            <a:off x="8299173" y="3528390"/>
            <a:ext cx="744977" cy="3379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49710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B647E9-0097-4ABD-9993-9790A29446C2}" type="slidenum">
              <a:rPr lang="he-IL" altLang="en-US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8451273" y="6337593"/>
            <a:ext cx="235527" cy="1385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379412" y="3152464"/>
                <a:ext cx="8307388" cy="29637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kern="0" dirty="0"/>
                  <a:t>An attacker that runs in exponential time can always find a collision (i.e., non PPT attacker)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kern="0" dirty="0"/>
                  <a:t>Easy: find collisions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000" kern="0" dirty="0"/>
                  <a:t> time by trying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000" kern="0" dirty="0"/>
                  <a:t> + 1 distinct inputs (compute their hash and locate a collision).</a:t>
                </a:r>
              </a:p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kern="0" dirty="0"/>
                  <a:t>An attacker finds a collision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ker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4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400" kern="0" dirty="0"/>
                  <a:t> probability (negligible probability).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kern="0" dirty="0"/>
                  <a:t>Choose </a:t>
                </a:r>
                <a:r>
                  <a:rPr lang="en-US" altLang="en-US" sz="2000" i="1" kern="0" dirty="0"/>
                  <a:t>x</a:t>
                </a:r>
                <a:r>
                  <a:rPr lang="en-US" altLang="en-US" sz="2000" kern="0" dirty="0"/>
                  <a:t> and </a:t>
                </a:r>
                <a:r>
                  <a:rPr lang="en-US" altLang="en-US" sz="2000" i="1" kern="0" dirty="0"/>
                  <a:t>x’ </a:t>
                </a:r>
                <a:r>
                  <a:rPr lang="en-US" altLang="en-US" sz="2000" kern="0" dirty="0"/>
                  <a:t>at random and check if they produce a collision.</a:t>
                </a: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412" y="3152464"/>
                <a:ext cx="8307388" cy="2963761"/>
              </a:xfrm>
              <a:prstGeom prst="rect">
                <a:avLst/>
              </a:prstGeom>
              <a:blipFill>
                <a:blip r:embed="rId3"/>
                <a:stretch>
                  <a:fillRect l="-153" t="-1282" r="-153" b="-8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561974" y="244475"/>
            <a:ext cx="8277225" cy="83317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defTabSz="449263" eaLnBrk="1" hangingPunct="1">
              <a:buClr>
                <a:srgbClr val="CC99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800" dirty="0"/>
              <a:t>Generic Collision Attacks</a:t>
            </a:r>
            <a:endParaRPr lang="en-GB" altLang="en-US" sz="4600" kern="0" dirty="0">
              <a:solidFill>
                <a:srgbClr val="CC99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 bwMode="auto">
              <a:xfrm>
                <a:off x="1801913" y="1111554"/>
                <a:ext cx="2285679" cy="174915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1913" y="1111554"/>
                <a:ext cx="2285679" cy="174915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 bwMode="auto">
              <a:xfrm>
                <a:off x="5778036" y="1401184"/>
                <a:ext cx="2176460" cy="131505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Range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78036" y="1401184"/>
                <a:ext cx="2176460" cy="131505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19988" y="1744456"/>
                <a:ext cx="533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988" y="1744456"/>
                <a:ext cx="53309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767666" y="2205583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666" y="2205583"/>
                <a:ext cx="5854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41732" y="2094705"/>
                <a:ext cx="1520801" cy="3385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160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732" y="2094705"/>
                <a:ext cx="1520801" cy="338554"/>
              </a:xfrm>
              <a:prstGeom prst="rect">
                <a:avLst/>
              </a:prstGeom>
              <a:blipFill>
                <a:blip r:embed="rId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 bwMode="auto">
          <a:xfrm>
            <a:off x="3216372" y="1945272"/>
            <a:ext cx="2967318" cy="331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3216372" y="2276967"/>
            <a:ext cx="2967318" cy="1147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991288" y="1266796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Hash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288" y="1266796"/>
                <a:ext cx="2048959" cy="369332"/>
              </a:xfrm>
              <a:prstGeom prst="rect">
                <a:avLst/>
              </a:prstGeom>
              <a:blipFill>
                <a:blip r:embed="rId9"/>
                <a:stretch>
                  <a:fillRect l="-267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41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B647E9-0097-4ABD-9993-9790A29446C2}" type="slidenum">
              <a:rPr lang="he-IL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8451273" y="6337593"/>
            <a:ext cx="235527" cy="1385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143885" y="1223542"/>
                <a:ext cx="8307388" cy="2379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800" b="1" dirty="0"/>
                  <a:t>The birthday paradox</a:t>
                </a:r>
                <a:r>
                  <a:rPr lang="en-GB" altLang="en-US" sz="2800" dirty="0"/>
                  <a:t> states that the </a:t>
                </a:r>
                <a:r>
                  <a:rPr lang="en-US" altLang="en-US" sz="2800" kern="0" dirty="0"/>
                  <a:t>expected number 𝑞 of hashes (i.e., hash queries) until a collision is found in </a:t>
                </a:r>
                <a14:m>
                  <m:oMath xmlns:m="http://schemas.openxmlformats.org/officeDocument/2006/math">
                    <m:r>
                      <a:rPr lang="en-US" altLang="en-US" sz="2800" b="0" i="1" kern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sz="2800" b="0" i="1" kern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en-US" sz="2800" kern="0" dirty="0"/>
                  <a:t>) not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en-US" sz="2800" b="0" i="1" kern="0" smtClean="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altLang="en-US" sz="28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1" kern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8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800" b="0" i="0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800" kern="0" dirty="0"/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kern="0" dirty="0"/>
                  <a:t>It is </a:t>
                </a:r>
                <a:br>
                  <a:rPr lang="en-US" altLang="en-US" sz="2400" kern="0" dirty="0"/>
                </a:br>
                <a:endParaRPr lang="en-US" altLang="en-US" sz="2400" kern="0" dirty="0"/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885" y="1223542"/>
                <a:ext cx="8307388" cy="2379242"/>
              </a:xfrm>
              <a:prstGeom prst="rect">
                <a:avLst/>
              </a:prstGeom>
              <a:blipFill>
                <a:blip r:embed="rId3"/>
                <a:stretch>
                  <a:fillRect l="-458" t="-21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561974" y="244475"/>
            <a:ext cx="8277225" cy="83317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defTabSz="449263" eaLnBrk="1" hangingPunct="1">
              <a:buClr>
                <a:srgbClr val="CC99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800" dirty="0"/>
              <a:t>The Birthday Paradox</a:t>
            </a:r>
            <a:endParaRPr lang="en-GB" altLang="en-US" sz="4600" kern="0" dirty="0">
              <a:solidFill>
                <a:srgbClr val="CC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2311B2-32BB-F44A-AD3A-6C5AA4C2E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391" y="2617928"/>
            <a:ext cx="2919609" cy="69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2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6FB0A5-3964-4FD7-86DC-465C5F14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Birthday Attack (‘Paradox’)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8CF2C2-988E-4B56-9DC3-DA6AD11E9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938" y="1046066"/>
                <a:ext cx="8229600" cy="4981575"/>
              </a:xfrm>
            </p:spPr>
            <p:txBody>
              <a:bodyPr/>
              <a:lstStyle/>
              <a:p>
                <a:r>
                  <a:rPr lang="en-US" sz="2400" dirty="0"/>
                  <a:t>Probability of NO birthday-collision:</a:t>
                </a:r>
              </a:p>
              <a:p>
                <a:pPr lvl="1"/>
                <a:r>
                  <a:rPr lang="en-US" sz="2000" dirty="0"/>
                  <a:t>Two persons:   (364/365)</a:t>
                </a:r>
              </a:p>
              <a:p>
                <a:pPr lvl="1"/>
                <a:r>
                  <a:rPr lang="en-US" sz="2000" dirty="0"/>
                  <a:t>Three persons: (364/365)*(363/365)</a:t>
                </a:r>
              </a:p>
              <a:p>
                <a:pPr lvl="1"/>
                <a:r>
                  <a:rPr lang="en-US" sz="20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persons:        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365−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nary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So, for 23 individuals, the probability </a:t>
                </a:r>
              </a:p>
              <a:p>
                <a:pPr marL="344487" lvl="1" indent="0">
                  <a:buNone/>
                </a:pPr>
                <a:r>
                  <a:rPr lang="en-US" sz="2000" dirty="0"/>
                  <a:t>of birthday collision is about 0.5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8CF2C2-988E-4B56-9DC3-DA6AD11E9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1046066"/>
                <a:ext cx="8229600" cy="4981575"/>
              </a:xfrm>
              <a:blipFill>
                <a:blip r:embed="rId2"/>
                <a:stretch>
                  <a:fillRect l="-154" t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4F1EE-F12D-4BB9-AB05-517AD0EB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BC885-442D-4533-A036-89E169523CA2}" type="slidenum">
              <a:rPr lang="he-IL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260CA056-D8BC-486A-9DAA-EF91D4DD3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04022" y="4146857"/>
            <a:ext cx="420856" cy="756888"/>
          </a:xfrm>
          <a:prstGeom prst="rect">
            <a:avLst/>
          </a:prstGeom>
        </p:spPr>
      </p:pic>
      <p:pic>
        <p:nvPicPr>
          <p:cNvPr id="11" name="Picture 10" descr="Shape, circle&#10;&#10;Description automatically generated">
            <a:extLst>
              <a:ext uri="{FF2B5EF4-FFF2-40B4-BE49-F238E27FC236}">
                <a16:creationId xmlns:a16="http://schemas.microsoft.com/office/drawing/2014/main" id="{8CD17F9E-F873-4FBC-9B80-A169131CAA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718806" y="4146857"/>
            <a:ext cx="608538" cy="756888"/>
          </a:xfrm>
          <a:prstGeom prst="rect">
            <a:avLst/>
          </a:prstGeom>
        </p:spPr>
      </p:pic>
      <p:pic>
        <p:nvPicPr>
          <p:cNvPr id="14" name="Picture 13" descr="A close up of a mask&#10;&#10;Description automatically generated">
            <a:extLst>
              <a:ext uri="{FF2B5EF4-FFF2-40B4-BE49-F238E27FC236}">
                <a16:creationId xmlns:a16="http://schemas.microsoft.com/office/drawing/2014/main" id="{827BD79D-51F5-479C-86AE-10818C3C1C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633941" y="4006301"/>
            <a:ext cx="1329372" cy="1038572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8009AFC3-9AB4-487C-AE12-610DD4166C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 flipH="1">
            <a:off x="5329604" y="4091696"/>
            <a:ext cx="551316" cy="810894"/>
          </a:xfrm>
          <a:prstGeom prst="rect">
            <a:avLst/>
          </a:prstGeom>
        </p:spPr>
      </p:pic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3A0C8A49-4D57-4BBD-AE80-53A78DEE59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6303701" y="4006301"/>
            <a:ext cx="833080" cy="1038573"/>
          </a:xfrm>
          <a:prstGeom prst="rect">
            <a:avLst/>
          </a:prstGeom>
        </p:spPr>
      </p:pic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61A35B1A-3688-4AC1-B0CC-825648B52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643021"/>
              </p:ext>
            </p:extLst>
          </p:nvPr>
        </p:nvGraphicFramePr>
        <p:xfrm>
          <a:off x="743919" y="5698331"/>
          <a:ext cx="75879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325">
                  <a:extLst>
                    <a:ext uri="{9D8B030D-6E8A-4147-A177-3AD203B41FA5}">
                      <a16:colId xmlns:a16="http://schemas.microsoft.com/office/drawing/2014/main" val="837122687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3762300944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1031294041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2292879144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650164718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537050525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172741661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3126338310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174616808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35195097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2424169243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499787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136955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63152F6A-A7DF-47B3-A2AE-CC5ADD9F50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9604" y="1497879"/>
            <a:ext cx="3468285" cy="237782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B4EDC9-D85D-49FF-B668-143E64EA4457}"/>
              </a:ext>
            </a:extLst>
          </p:cNvPr>
          <p:cNvCxnSpPr>
            <a:stCxn id="8" idx="2"/>
          </p:cNvCxnSpPr>
          <p:nvPr/>
        </p:nvCxnSpPr>
        <p:spPr bwMode="auto">
          <a:xfrm flipH="1">
            <a:off x="1639116" y="4903745"/>
            <a:ext cx="375334" cy="814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6F3315-1AE4-4FB5-85D5-C6BF059EBD17}"/>
              </a:ext>
            </a:extLst>
          </p:cNvPr>
          <p:cNvCxnSpPr/>
          <p:nvPr/>
        </p:nvCxnSpPr>
        <p:spPr bwMode="auto">
          <a:xfrm>
            <a:off x="3010313" y="4958486"/>
            <a:ext cx="2327867" cy="7401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B995A2-1329-4841-BBF1-EAD298960619}"/>
              </a:ext>
            </a:extLst>
          </p:cNvPr>
          <p:cNvCxnSpPr>
            <a:stCxn id="14" idx="2"/>
          </p:cNvCxnSpPr>
          <p:nvPr/>
        </p:nvCxnSpPr>
        <p:spPr bwMode="auto">
          <a:xfrm flipH="1">
            <a:off x="3103963" y="5044873"/>
            <a:ext cx="1194664" cy="6157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768BD3-9435-4E2B-8A9B-6EC66D9A7AB4}"/>
              </a:ext>
            </a:extLst>
          </p:cNvPr>
          <p:cNvCxnSpPr>
            <a:stCxn id="20" idx="2"/>
          </p:cNvCxnSpPr>
          <p:nvPr/>
        </p:nvCxnSpPr>
        <p:spPr bwMode="auto">
          <a:xfrm flipH="1">
            <a:off x="5319859" y="5044874"/>
            <a:ext cx="1400382" cy="6733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B1D93A-89F3-47C2-BA0F-6714BA26050B}"/>
              </a:ext>
            </a:extLst>
          </p:cNvPr>
          <p:cNvCxnSpPr>
            <a:stCxn id="17" idx="2"/>
          </p:cNvCxnSpPr>
          <p:nvPr/>
        </p:nvCxnSpPr>
        <p:spPr bwMode="auto">
          <a:xfrm>
            <a:off x="5605262" y="4902590"/>
            <a:ext cx="1138521" cy="777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2424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7927-3E4A-A8DE-2029-3815FE48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57739-F6BB-12BE-145A-8E1DBC43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B647E9-0097-4ABD-9993-9790A29446C2}" type="slidenum">
              <a:rPr lang="he-IL" altLang="en-US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B611DD-EBE3-9177-03DB-8599C71999CB}"/>
              </a:ext>
            </a:extLst>
          </p:cNvPr>
          <p:cNvSpPr/>
          <p:nvPr/>
        </p:nvSpPr>
        <p:spPr bwMode="auto">
          <a:xfrm>
            <a:off x="8451273" y="6337593"/>
            <a:ext cx="235527" cy="1385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B0058C7E-E872-9802-B65C-11DF4D8B5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885" y="1223542"/>
                <a:ext cx="8307388" cy="18214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341313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kern="0" dirty="0"/>
                  <a:t>For 80 bit of effective security, use 𝑛=160 ! 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kern="0" dirty="0"/>
                  <a:t>So, to defend against an attacker who can perform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</m:oMath>
                </a14:m>
                <a:r>
                  <a:rPr lang="en-US" altLang="en-US" sz="2400" kern="0" dirty="0"/>
                  <a:t> hashes, set the digest length to be at least 160 bits. </a:t>
                </a:r>
              </a:p>
              <a:p>
                <a:pPr marL="1020763" lvl="2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kern="0" dirty="0"/>
                  <a:t>Thus, the range has a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000" b="0" i="1" kern="0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US" altLang="en-US" sz="2000" i="1" ker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en-US" sz="2000" kern="0" dirty="0"/>
                  <a:t> digests.</a:t>
                </a:r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B0058C7E-E872-9802-B65C-11DF4D8B5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885" y="1223542"/>
                <a:ext cx="8307388" cy="1821462"/>
              </a:xfrm>
              <a:prstGeom prst="rect">
                <a:avLst/>
              </a:prstGeom>
              <a:blipFill>
                <a:blip r:embed="rId3"/>
                <a:stretch>
                  <a:fillRect l="-458" t="-2759" b="-48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DC614ECD-32FE-B458-5C7A-227955E45E4D}"/>
              </a:ext>
            </a:extLst>
          </p:cNvPr>
          <p:cNvSpPr txBox="1">
            <a:spLocks noChangeArrowheads="1"/>
          </p:cNvSpPr>
          <p:nvPr/>
        </p:nvSpPr>
        <p:spPr>
          <a:xfrm>
            <a:off x="561974" y="244475"/>
            <a:ext cx="8277225" cy="83317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defTabSz="449263" eaLnBrk="1" hangingPunct="1">
              <a:buClr>
                <a:srgbClr val="CC99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800" dirty="0"/>
              <a:t>The Birthday Paradox</a:t>
            </a:r>
            <a:endParaRPr lang="en-GB" altLang="en-US" sz="4600" kern="0" dirty="0">
              <a:solidFill>
                <a:srgbClr val="CC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06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Collision-Resistance: Applications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Integrity (of object / file / message )</a:t>
                </a:r>
              </a:p>
              <a:p>
                <a:pPr lvl="1"/>
                <a:r>
                  <a:rPr lang="en-US" dirty="0"/>
                  <a:t>Send </a:t>
                </a:r>
                <a:r>
                  <a:rPr lang="en-US" i="1" dirty="0">
                    <a:latin typeface="Cambria Math" panose="02040503050406030204" pitchFamily="18" charset="0"/>
                  </a:rPr>
                  <a:t>hash(m)</a:t>
                </a:r>
                <a:r>
                  <a:rPr lang="en-US" dirty="0"/>
                  <a:t> securely to validate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Later we will see how a hash function can be used to construct a MAC (called HMAC).</a:t>
                </a:r>
              </a:p>
              <a:p>
                <a:r>
                  <a:rPr lang="en-US" dirty="0"/>
                  <a:t>Hash-then-Sign</a:t>
                </a:r>
              </a:p>
              <a:p>
                <a:pPr lvl="1"/>
                <a:r>
                  <a:rPr lang="en-US" dirty="0"/>
                  <a:t>Instead of signing </a:t>
                </a:r>
                <a:r>
                  <a:rPr lang="en-US" i="1" dirty="0"/>
                  <a:t>m</a:t>
                </a:r>
                <a:r>
                  <a:rPr lang="en-US" dirty="0"/>
                  <a:t> sign </a:t>
                </a:r>
                <a:r>
                  <a:rPr lang="en-US" i="1" dirty="0">
                    <a:latin typeface="Cambria Math" panose="02040503050406030204" pitchFamily="18" charset="0"/>
                  </a:rPr>
                  <a:t>hash(m)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More efficient!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We will explore this in detail once we study digital signatures.</a:t>
                </a:r>
                <a:endParaRPr lang="en-US" dirty="0"/>
              </a:p>
              <a:p>
                <a:r>
                  <a:rPr 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Blockchains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Later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527" r="-1389" b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850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ContiguousUnitedStates.gif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12" y="1889553"/>
            <a:ext cx="6729106" cy="43719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39410"/>
            <a:ext cx="8297862" cy="779462"/>
          </a:xfrm>
        </p:spPr>
        <p:txBody>
          <a:bodyPr/>
          <a:lstStyle/>
          <a:p>
            <a:r>
              <a:rPr lang="en-US" sz="4000" dirty="0"/>
              <a:t>CRHF and Software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8938" y="944423"/>
                <a:ext cx="8229600" cy="2016742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 lvl="1"/>
                <a:r>
                  <a:rPr lang="en-US" sz="2000" dirty="0"/>
                  <a:t>Developer in LA develops a large software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Repository in DC obtains a copy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/>
                  <a:t>User in NY wants to obtain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securely and efficiently</a:t>
                </a:r>
              </a:p>
              <a:p>
                <a:pPr lvl="2"/>
                <a:r>
                  <a:rPr lang="en-US" sz="1600" u="sng" dirty="0"/>
                  <a:t>Don’t </a:t>
                </a:r>
                <a:r>
                  <a:rPr lang="en-US" sz="1600" dirty="0"/>
                  <a:t>send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from LA to </a:t>
                </a:r>
                <a:r>
                  <a:rPr lang="en-US" sz="1600" b="1" dirty="0"/>
                  <a:t>both</a:t>
                </a:r>
                <a:r>
                  <a:rPr lang="en-US" sz="1600" dirty="0"/>
                  <a:t> NY and DC</a:t>
                </a:r>
                <a:endParaRPr lang="en-US" sz="1600" u="sng" dirty="0"/>
              </a:p>
              <a:p>
                <a:pPr lvl="1"/>
                <a:r>
                  <a:rPr lang="en-US" sz="2000" dirty="0"/>
                  <a:t>How?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944423"/>
                <a:ext cx="8229600" cy="2016742"/>
              </a:xfrm>
              <a:blipFill>
                <a:blip r:embed="rId3"/>
                <a:stretch>
                  <a:fillRect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7" name="Oval 6"/>
          <p:cNvSpPr/>
          <p:nvPr/>
        </p:nvSpPr>
        <p:spPr bwMode="auto">
          <a:xfrm>
            <a:off x="1758508" y="4160295"/>
            <a:ext cx="710119" cy="2821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LA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7351455" y="3315336"/>
            <a:ext cx="710119" cy="2821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NY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7068188" y="3917104"/>
            <a:ext cx="731196" cy="3079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DC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Straight Arrow Connector 8"/>
          <p:cNvCxnSpPr>
            <a:stCxn id="7" idx="6"/>
            <a:endCxn id="32" idx="2"/>
          </p:cNvCxnSpPr>
          <p:nvPr/>
        </p:nvCxnSpPr>
        <p:spPr bwMode="auto">
          <a:xfrm flipV="1">
            <a:off x="2468627" y="4071060"/>
            <a:ext cx="4599561" cy="23028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 bwMode="auto">
              <a:xfrm>
                <a:off x="4960667" y="4225016"/>
                <a:ext cx="1014471" cy="205987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0667" y="4225016"/>
                <a:ext cx="1014471" cy="205987"/>
              </a:xfrm>
              <a:prstGeom prst="rect">
                <a:avLst/>
              </a:prstGeom>
              <a:blipFill>
                <a:blip r:embed="rId4"/>
                <a:stretch>
                  <a:fillRect b="-1388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338792" y="448914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8682" y="328776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2348" y="411981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128919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ContiguousUnitedStates.gif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12" y="1889553"/>
            <a:ext cx="6729106" cy="43719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39410"/>
            <a:ext cx="8530942" cy="779462"/>
          </a:xfrm>
        </p:spPr>
        <p:txBody>
          <a:bodyPr/>
          <a:lstStyle/>
          <a:p>
            <a:r>
              <a:rPr lang="en-US" sz="4000"/>
              <a:t>CRHF: secure, efficient SW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8938" y="944423"/>
                <a:ext cx="8229600" cy="2254756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1.  Repository in DC downloads software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from developer in LA</a:t>
                </a:r>
              </a:p>
              <a:p>
                <a:pPr marL="0" indent="0">
                  <a:buNone/>
                </a:pPr>
                <a:r>
                  <a:rPr lang="en-US" sz="2000" dirty="0"/>
                  <a:t>2.  User downloads from (nearby) repository; receives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1800" dirty="0"/>
                  <a:t>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? User should validate! How?</a:t>
                </a:r>
              </a:p>
              <a:p>
                <a:pPr marL="0" indent="0">
                  <a:buNone/>
                </a:pPr>
                <a:r>
                  <a:rPr lang="en-US" sz="2000" dirty="0"/>
                  <a:t>3.  User securely downloads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directly from developer</a:t>
                </a:r>
              </a:p>
              <a:p>
                <a:pPr lvl="1"/>
                <a:r>
                  <a:rPr lang="en-US" sz="1800" dirty="0"/>
                  <a:t>Digest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is short – much less overhead than downloading m</a:t>
                </a:r>
              </a:p>
              <a:p>
                <a:pPr marL="0" indent="0">
                  <a:buNone/>
                </a:pPr>
                <a:r>
                  <a:rPr lang="en-US" sz="2000" dirty="0"/>
                  <a:t>4.  User validates: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’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944423"/>
                <a:ext cx="8229600" cy="2254756"/>
              </a:xfrm>
              <a:blipFill>
                <a:blip r:embed="rId3"/>
                <a:stretch>
                  <a:fillRect l="-770" t="-1676" b="-1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7" name="Oval 6"/>
          <p:cNvSpPr/>
          <p:nvPr/>
        </p:nvSpPr>
        <p:spPr bwMode="auto">
          <a:xfrm>
            <a:off x="1758508" y="4160295"/>
            <a:ext cx="710119" cy="2821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LA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7351455" y="3315336"/>
            <a:ext cx="710119" cy="2821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NY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7068188" y="3917104"/>
            <a:ext cx="731196" cy="3079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DC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Straight Arrow Connector 8"/>
          <p:cNvCxnSpPr>
            <a:stCxn id="7" idx="6"/>
            <a:endCxn id="32" idx="2"/>
          </p:cNvCxnSpPr>
          <p:nvPr/>
        </p:nvCxnSpPr>
        <p:spPr bwMode="auto">
          <a:xfrm flipV="1">
            <a:off x="2468627" y="4071060"/>
            <a:ext cx="4599561" cy="23028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 bwMode="auto">
              <a:xfrm>
                <a:off x="4960667" y="4225016"/>
                <a:ext cx="1014471" cy="205987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0667" y="4225016"/>
                <a:ext cx="1014471" cy="205987"/>
              </a:xfrm>
              <a:prstGeom prst="rect">
                <a:avLst/>
              </a:prstGeom>
              <a:blipFill>
                <a:blip r:embed="rId4"/>
                <a:stretch>
                  <a:fillRect b="-1388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338792" y="448914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8682" y="328776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2348" y="411981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Repository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 bwMode="auto">
              <a:xfrm>
                <a:off x="7747495" y="3743006"/>
                <a:ext cx="1014471" cy="205987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7495" y="3743006"/>
                <a:ext cx="1014471" cy="205987"/>
              </a:xfrm>
              <a:prstGeom prst="rect">
                <a:avLst/>
              </a:prstGeom>
              <a:blipFill>
                <a:blip r:embed="rId5"/>
                <a:stretch>
                  <a:fillRect t="-13889" b="-27778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rapezoid 15"/>
          <p:cNvSpPr/>
          <p:nvPr/>
        </p:nvSpPr>
        <p:spPr bwMode="auto">
          <a:xfrm flipH="1" flipV="1">
            <a:off x="681347" y="4211517"/>
            <a:ext cx="1016261" cy="242095"/>
          </a:xfrm>
          <a:prstGeom prst="trapezoid">
            <a:avLst>
              <a:gd name="adj" fmla="val 10004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84612" y="4132472"/>
                <a:ext cx="4022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12" y="4132472"/>
                <a:ext cx="40222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 bwMode="auto">
              <a:xfrm>
                <a:off x="927324" y="4465868"/>
                <a:ext cx="516802" cy="205912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7324" y="4465868"/>
                <a:ext cx="516802" cy="205912"/>
              </a:xfrm>
              <a:prstGeom prst="rect">
                <a:avLst/>
              </a:prstGeom>
              <a:blipFill>
                <a:blip r:embed="rId7"/>
                <a:stretch>
                  <a:fillRect r="-10345" b="-34286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 bwMode="auto">
          <a:xfrm>
            <a:off x="1758509" y="4146796"/>
            <a:ext cx="710119" cy="2821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LA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7351456" y="3301837"/>
            <a:ext cx="710119" cy="2821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NY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7068189" y="3903605"/>
            <a:ext cx="731196" cy="30791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latin typeface="Arial" pitchFamily="34" charset="0"/>
                <a:cs typeface="Arial" pitchFamily="34" charset="0"/>
              </a:rPr>
              <a:t>DC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" name="Straight Arrow Connector 21"/>
          <p:cNvCxnSpPr>
            <a:stCxn id="19" idx="6"/>
            <a:endCxn id="21" idx="2"/>
          </p:cNvCxnSpPr>
          <p:nvPr/>
        </p:nvCxnSpPr>
        <p:spPr bwMode="auto">
          <a:xfrm flipV="1">
            <a:off x="2468628" y="4057561"/>
            <a:ext cx="4599561" cy="23028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Oval 22"/>
          <p:cNvSpPr/>
          <p:nvPr/>
        </p:nvSpPr>
        <p:spPr bwMode="auto">
          <a:xfrm>
            <a:off x="4632207" y="4196608"/>
            <a:ext cx="308214" cy="2383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1</a:t>
            </a:r>
          </a:p>
        </p:txBody>
      </p:sp>
      <p:cxnSp>
        <p:nvCxnSpPr>
          <p:cNvPr id="26" name="Straight Arrow Connector 25"/>
          <p:cNvCxnSpPr>
            <a:endCxn id="20" idx="2"/>
          </p:cNvCxnSpPr>
          <p:nvPr/>
        </p:nvCxnSpPr>
        <p:spPr bwMode="auto">
          <a:xfrm flipV="1">
            <a:off x="2468627" y="3442888"/>
            <a:ext cx="4882829" cy="83977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Oval 26"/>
          <p:cNvSpPr/>
          <p:nvPr/>
        </p:nvSpPr>
        <p:spPr bwMode="auto">
          <a:xfrm>
            <a:off x="7670067" y="3611666"/>
            <a:ext cx="308214" cy="2383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 bwMode="auto">
              <a:xfrm>
                <a:off x="4960668" y="4211517"/>
                <a:ext cx="1014471" cy="205987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0668" y="4211517"/>
                <a:ext cx="1014471" cy="205987"/>
              </a:xfrm>
              <a:prstGeom prst="rect">
                <a:avLst/>
              </a:prstGeom>
              <a:blipFill>
                <a:blip r:embed="rId8"/>
                <a:stretch>
                  <a:fillRect b="-1388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stCxn id="21" idx="0"/>
            <a:endCxn id="20" idx="4"/>
          </p:cNvCxnSpPr>
          <p:nvPr/>
        </p:nvCxnSpPr>
        <p:spPr bwMode="auto">
          <a:xfrm flipV="1">
            <a:off x="7433787" y="3583939"/>
            <a:ext cx="272729" cy="31966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 bwMode="auto">
              <a:xfrm>
                <a:off x="683137" y="4005530"/>
                <a:ext cx="1014471" cy="205987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137" y="4005530"/>
                <a:ext cx="1014471" cy="205987"/>
              </a:xfrm>
              <a:prstGeom prst="rect">
                <a:avLst/>
              </a:prstGeom>
              <a:blipFill>
                <a:blip r:embed="rId4"/>
                <a:stretch>
                  <a:fillRect b="-1388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 bwMode="auto">
              <a:xfrm>
                <a:off x="4910041" y="3500217"/>
                <a:ext cx="516802" cy="205912"/>
              </a:xfrm>
              <a:prstGeom prst="rect">
                <a:avLst/>
              </a:prstGeom>
              <a:solidFill>
                <a:srgbClr val="CC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041" y="3500217"/>
                <a:ext cx="516802" cy="205912"/>
              </a:xfrm>
              <a:prstGeom prst="rect">
                <a:avLst/>
              </a:prstGeom>
              <a:blipFill>
                <a:blip r:embed="rId9"/>
                <a:stretch>
                  <a:fillRect r="-10345" b="-33333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/>
          <p:cNvSpPr/>
          <p:nvPr/>
        </p:nvSpPr>
        <p:spPr bwMode="auto">
          <a:xfrm>
            <a:off x="4560848" y="3529611"/>
            <a:ext cx="308214" cy="2383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826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5" grpId="0" animBg="1"/>
      <p:bldP spid="23" grpId="0" animBg="1"/>
      <p:bldP spid="27" grpId="0" animBg="1"/>
      <p:bldP spid="28" grpId="0" animBg="1"/>
      <p:bldP spid="33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Other Notions of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66158"/>
            <a:ext cx="8346141" cy="5089585"/>
          </a:xfrm>
        </p:spPr>
        <p:txBody>
          <a:bodyPr/>
          <a:lstStyle/>
          <a:p>
            <a:pPr marL="341313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Collision resistance provides the strongest guarantee.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Gives more freedom to the adversary; the adversary wins if it finds any two inputs with the same digest.</a:t>
            </a:r>
          </a:p>
          <a:p>
            <a:pPr marL="1020763" lvl="2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dirty="0"/>
              <a:t>No conditions on these two inputs other than being in the domain of the hash function.</a:t>
            </a:r>
          </a:p>
          <a:p>
            <a:pPr marL="341313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Other security notions (sufficient for many applications):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Target collision resistance (TCR).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Second preimage resistance.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First preimage resistance.</a:t>
            </a:r>
          </a:p>
          <a:p>
            <a:pPr marL="341313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Birthday paradox (or attack) does not work against these weaker notions.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/>
              <a:t>It is for collision resistance; find </a:t>
            </a:r>
            <a:r>
              <a:rPr lang="en-US" altLang="en-US" sz="2000" b="1" i="1" dirty="0"/>
              <a:t>any</a:t>
            </a:r>
            <a:r>
              <a:rPr lang="en-US" altLang="en-US" sz="2000" dirty="0"/>
              <a:t> two inputs that collide!</a:t>
            </a:r>
          </a:p>
          <a:p>
            <a:pPr marL="341313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81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388938" y="277813"/>
            <a:ext cx="8297862" cy="74084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Target CRHF (TCR Hash Function)</a:t>
            </a:r>
          </a:p>
        </p:txBody>
      </p:sp>
      <p:sp>
        <p:nvSpPr>
          <p:cNvPr id="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6D130C-7E39-4412-B968-294F5537C9B1}" type="slidenum">
              <a:rPr lang="he-IL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1347588" name="Text Box 4"/>
          <p:cNvSpPr txBox="1">
            <a:spLocks noChangeArrowheads="1"/>
          </p:cNvSpPr>
          <p:nvPr/>
        </p:nvSpPr>
        <p:spPr bwMode="auto">
          <a:xfrm>
            <a:off x="426026" y="4246763"/>
            <a:ext cx="6062328" cy="4022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Tahoma" pitchFamily="34" charset="0"/>
              <a:buNone/>
            </a:pPr>
            <a:r>
              <a:rPr lang="en-GB" altLang="en-US" sz="20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Adversary must select target </a:t>
            </a:r>
            <a:r>
              <a:rPr lang="en-GB" altLang="en-US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before </a:t>
            </a:r>
            <a:r>
              <a:rPr lang="en-GB" altLang="en-US" sz="20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knowing key</a:t>
            </a:r>
          </a:p>
        </p:txBody>
      </p:sp>
      <p:sp>
        <p:nvSpPr>
          <p:cNvPr id="62" name="Rounded Rectangle 61"/>
          <p:cNvSpPr/>
          <p:nvPr/>
        </p:nvSpPr>
        <p:spPr bwMode="auto">
          <a:xfrm>
            <a:off x="1355054" y="1266066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 bwMode="auto">
              <a:xfrm>
                <a:off x="671790" y="3124097"/>
                <a:ext cx="2565839" cy="69904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Collision: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dirty="0" err="1">
                    <a:latin typeface="Arial" pitchFamily="34" charset="0"/>
                    <a:cs typeface="Arial" pitchFamily="34" charset="0"/>
                  </a:rPr>
                  <a:t>s.t.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dirty="0">
                    <a:cs typeface="Arial" pitchFamily="34" charset="0"/>
                  </a:rPr>
                  <a:t>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790" y="3124097"/>
                <a:ext cx="2565839" cy="699047"/>
              </a:xfrm>
              <a:prstGeom prst="rect">
                <a:avLst/>
              </a:prstGeom>
              <a:blipFill>
                <a:blip r:embed="rId3"/>
                <a:stretch>
                  <a:fillRect l="-1961" t="-3509" b="-350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Down Arrow 64"/>
          <p:cNvSpPr/>
          <p:nvPr/>
        </p:nvSpPr>
        <p:spPr bwMode="auto">
          <a:xfrm rot="16200000">
            <a:off x="1040528" y="1254702"/>
            <a:ext cx="221100" cy="45315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 bwMode="auto">
              <a:xfrm>
                <a:off x="388938" y="1906779"/>
                <a:ext cx="1161356" cy="440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𝑘</m:t>
                      </m:r>
                      <m:groupChr>
                        <m:groupChrPr>
                          <m:chr m:val="←"/>
                          <m:pos m:val="bot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$</m:t>
                          </m:r>
                        </m:e>
                      </m:groupCh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938" y="1906779"/>
                <a:ext cx="1161356" cy="440200"/>
              </a:xfrm>
              <a:prstGeom prst="rect">
                <a:avLst/>
              </a:prstGeom>
              <a:blipFill>
                <a:blip r:embed="rId4"/>
                <a:stretch>
                  <a:fillRect b="-4864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BF65BF9-4DE2-4575-A380-72087BEBD3D8}"/>
                  </a:ext>
                </a:extLst>
              </p:cNvPr>
              <p:cNvSpPr/>
              <p:nvPr/>
            </p:nvSpPr>
            <p:spPr bwMode="auto">
              <a:xfrm>
                <a:off x="3237630" y="1370733"/>
                <a:ext cx="1560280" cy="190847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BF65BF9-4DE2-4575-A380-72087BEBD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7630" y="1370733"/>
                <a:ext cx="1560280" cy="190847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E3F24E5-CA75-4B6D-A509-B40484F2275A}"/>
                  </a:ext>
                </a:extLst>
              </p:cNvPr>
              <p:cNvSpPr/>
              <p:nvPr/>
            </p:nvSpPr>
            <p:spPr bwMode="auto">
              <a:xfrm>
                <a:off x="6488354" y="1819683"/>
                <a:ext cx="2176460" cy="131505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Range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E3F24E5-CA75-4B6D-A509-B40484F22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8354" y="1819683"/>
                <a:ext cx="2176460" cy="131505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6C04D8-9AA7-40BA-9611-4C50C9CDF80F}"/>
                  </a:ext>
                </a:extLst>
              </p:cNvPr>
              <p:cNvSpPr txBox="1"/>
              <p:nvPr/>
            </p:nvSpPr>
            <p:spPr>
              <a:xfrm>
                <a:off x="3530306" y="2162955"/>
                <a:ext cx="533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6C04D8-9AA7-40BA-9611-4C50C9CD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06" y="2162955"/>
                <a:ext cx="5330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51A55C-0C28-49CF-A2B0-DF252DEC5DB9}"/>
                  </a:ext>
                </a:extLst>
              </p:cNvPr>
              <p:cNvSpPr txBox="1"/>
              <p:nvPr/>
            </p:nvSpPr>
            <p:spPr>
              <a:xfrm>
                <a:off x="3477984" y="2624082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51A55C-0C28-49CF-A2B0-DF252DEC5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984" y="2624082"/>
                <a:ext cx="5854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69CADC-ABA0-4D33-BB15-69D5EDFE701A}"/>
              </a:ext>
            </a:extLst>
          </p:cNvPr>
          <p:cNvCxnSpPr/>
          <p:nvPr/>
        </p:nvCxnSpPr>
        <p:spPr bwMode="auto">
          <a:xfrm>
            <a:off x="3926690" y="2363771"/>
            <a:ext cx="2967318" cy="331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165B8EF-DB92-4F67-9E6D-10BBD914B4FA}"/>
              </a:ext>
            </a:extLst>
          </p:cNvPr>
          <p:cNvCxnSpPr/>
          <p:nvPr/>
        </p:nvCxnSpPr>
        <p:spPr bwMode="auto">
          <a:xfrm flipV="1">
            <a:off x="3926690" y="2695466"/>
            <a:ext cx="2967318" cy="1147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2BFD93-4067-4A9D-8717-7858D89E0F41}"/>
                  </a:ext>
                </a:extLst>
              </p:cNvPr>
              <p:cNvSpPr txBox="1"/>
              <p:nvPr/>
            </p:nvSpPr>
            <p:spPr>
              <a:xfrm>
                <a:off x="4655932" y="1736449"/>
                <a:ext cx="21620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Hash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2BFD93-4067-4A9D-8717-7858D89E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932" y="1736449"/>
                <a:ext cx="2162067" cy="369332"/>
              </a:xfrm>
              <a:prstGeom prst="rect">
                <a:avLst/>
              </a:prstGeom>
              <a:blipFill>
                <a:blip r:embed="rId9"/>
                <a:stretch>
                  <a:fillRect l="-233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 bwMode="auto">
              <a:xfrm>
                <a:off x="6894008" y="2539768"/>
                <a:ext cx="1550951" cy="2953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ℎ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ℎ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4008" y="2539768"/>
                <a:ext cx="1550951" cy="295304"/>
              </a:xfrm>
              <a:prstGeom prst="rect">
                <a:avLst/>
              </a:prstGeom>
              <a:blipFill>
                <a:blip r:embed="rId10"/>
                <a:stretch>
                  <a:fillRect b="-3200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722833-E976-462A-A5B4-FFA02D468A51}"/>
                  </a:ext>
                </a:extLst>
              </p:cNvPr>
              <p:cNvSpPr txBox="1"/>
              <p:nvPr/>
            </p:nvSpPr>
            <p:spPr>
              <a:xfrm>
                <a:off x="426026" y="1282509"/>
                <a:ext cx="49847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722833-E976-462A-A5B4-FFA02D468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26" y="1282509"/>
                <a:ext cx="49847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62">
            <a:extLst>
              <a:ext uri="{FF2B5EF4-FFF2-40B4-BE49-F238E27FC236}">
                <a16:creationId xmlns:a16="http://schemas.microsoft.com/office/drawing/2014/main" id="{8D346C8A-BC5C-420A-A6C2-FF8F476ECE15}"/>
              </a:ext>
            </a:extLst>
          </p:cNvPr>
          <p:cNvSpPr/>
          <p:nvPr/>
        </p:nvSpPr>
        <p:spPr bwMode="auto">
          <a:xfrm>
            <a:off x="1770079" y="1658942"/>
            <a:ext cx="264249" cy="2404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44CFE-F973-481D-B697-5296E344BFB2}"/>
              </a:ext>
            </a:extLst>
          </p:cNvPr>
          <p:cNvSpPr/>
          <p:nvPr/>
        </p:nvSpPr>
        <p:spPr bwMode="auto">
          <a:xfrm>
            <a:off x="1741856" y="1906779"/>
            <a:ext cx="397875" cy="3682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x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ounded Rectangle 61">
            <a:extLst>
              <a:ext uri="{FF2B5EF4-FFF2-40B4-BE49-F238E27FC236}">
                <a16:creationId xmlns:a16="http://schemas.microsoft.com/office/drawing/2014/main" id="{71F63F55-74E8-4DEB-B852-9640C54052D8}"/>
              </a:ext>
            </a:extLst>
          </p:cNvPr>
          <p:cNvSpPr/>
          <p:nvPr/>
        </p:nvSpPr>
        <p:spPr bwMode="auto">
          <a:xfrm>
            <a:off x="1377656" y="2521885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p:sp>
        <p:nvSpPr>
          <p:cNvPr id="7" name="Down Arrow 62">
            <a:extLst>
              <a:ext uri="{FF2B5EF4-FFF2-40B4-BE49-F238E27FC236}">
                <a16:creationId xmlns:a16="http://schemas.microsoft.com/office/drawing/2014/main" id="{3F69C6A8-D3DC-410C-8759-0241E1DD33E4}"/>
              </a:ext>
            </a:extLst>
          </p:cNvPr>
          <p:cNvSpPr/>
          <p:nvPr/>
        </p:nvSpPr>
        <p:spPr bwMode="auto">
          <a:xfrm>
            <a:off x="1770078" y="2267625"/>
            <a:ext cx="264249" cy="2404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Down Arrow 62">
            <a:extLst>
              <a:ext uri="{FF2B5EF4-FFF2-40B4-BE49-F238E27FC236}">
                <a16:creationId xmlns:a16="http://schemas.microsoft.com/office/drawing/2014/main" id="{69E41280-CEBA-4BE7-ABD3-CDED12735C50}"/>
              </a:ext>
            </a:extLst>
          </p:cNvPr>
          <p:cNvSpPr/>
          <p:nvPr/>
        </p:nvSpPr>
        <p:spPr bwMode="auto">
          <a:xfrm>
            <a:off x="1770078" y="2883361"/>
            <a:ext cx="264249" cy="2404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970390E-9948-4E95-82DA-BE842CC712FF}"/>
              </a:ext>
            </a:extLst>
          </p:cNvPr>
          <p:cNvSpPr/>
          <p:nvPr/>
        </p:nvSpPr>
        <p:spPr bwMode="auto">
          <a:xfrm rot="5400000">
            <a:off x="891522" y="2320962"/>
            <a:ext cx="397412" cy="545328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3AA939-5DA4-DC49-B31A-7BED494F37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564" y="5058494"/>
            <a:ext cx="6995478" cy="61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072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4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6FB0A5-3964-4FD7-86DC-465C5F14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TCR and Birthday Paradox?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8CF2C2-988E-4B56-9DC3-DA6AD11E9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63646" y="943006"/>
                <a:ext cx="5587957" cy="3063296"/>
              </a:xfrm>
            </p:spPr>
            <p:txBody>
              <a:bodyPr/>
              <a:lstStyle/>
              <a:p>
                <a:r>
                  <a:rPr lang="en-US" sz="2400" b="1" dirty="0"/>
                  <a:t>First: </a:t>
                </a:r>
                <a:r>
                  <a:rPr lang="en-US" sz="2400" dirty="0"/>
                  <a:t>adversary selects </a:t>
                </a:r>
                <a:r>
                  <a:rPr lang="en-US" sz="2400" b="1" dirty="0"/>
                  <a:t>x</a:t>
                </a:r>
              </a:p>
              <a:p>
                <a:r>
                  <a:rPr lang="en-US" sz="2400" dirty="0"/>
                  <a:t>Probability for NO birthday-collision</a:t>
                </a:r>
                <a:br>
                  <a:rPr lang="en-US" sz="2400" dirty="0"/>
                </a:br>
                <a:r>
                  <a:rPr lang="en-US" sz="2400" b="1" dirty="0"/>
                  <a:t>with x:</a:t>
                </a:r>
              </a:p>
              <a:p>
                <a:pPr lvl="1"/>
                <a:r>
                  <a:rPr lang="en-US" sz="2000" dirty="0"/>
                  <a:t>Two persons:   (364/365)</a:t>
                </a:r>
              </a:p>
              <a:p>
                <a:pPr lvl="1"/>
                <a:r>
                  <a:rPr lang="en-US" sz="2000" dirty="0"/>
                  <a:t>Three persons: (364/365)*(36</a:t>
                </a:r>
                <a:r>
                  <a:rPr lang="en-US" sz="2000" b="1" dirty="0"/>
                  <a:t>4</a:t>
                </a:r>
                <a:r>
                  <a:rPr lang="en-US" sz="2000" dirty="0"/>
                  <a:t>/365)</a:t>
                </a:r>
              </a:p>
              <a:p>
                <a:pPr lvl="1"/>
                <a:r>
                  <a:rPr lang="en-US" sz="20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persons:        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364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364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8CF2C2-988E-4B56-9DC3-DA6AD11E9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3646" y="943006"/>
                <a:ext cx="5587957" cy="3063296"/>
              </a:xfrm>
              <a:blipFill>
                <a:blip r:embed="rId2"/>
                <a:stretch>
                  <a:fillRect l="-454" t="-1653" b="-19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4F1EE-F12D-4BB9-AB05-517AD0EB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BC885-442D-4533-A036-89E169523CA2}" type="slidenum">
              <a:rPr lang="he-IL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260CA056-D8BC-486A-9DAA-EF91D4DD3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04022" y="4146857"/>
            <a:ext cx="420856" cy="756888"/>
          </a:xfrm>
          <a:prstGeom prst="rect">
            <a:avLst/>
          </a:prstGeom>
        </p:spPr>
      </p:pic>
      <p:pic>
        <p:nvPicPr>
          <p:cNvPr id="11" name="Picture 10" descr="Shape, circle&#10;&#10;Description automatically generated">
            <a:extLst>
              <a:ext uri="{FF2B5EF4-FFF2-40B4-BE49-F238E27FC236}">
                <a16:creationId xmlns:a16="http://schemas.microsoft.com/office/drawing/2014/main" id="{8CD17F9E-F873-4FBC-9B80-A169131CAA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718806" y="4146857"/>
            <a:ext cx="608538" cy="756888"/>
          </a:xfrm>
          <a:prstGeom prst="rect">
            <a:avLst/>
          </a:prstGeom>
        </p:spPr>
      </p:pic>
      <p:pic>
        <p:nvPicPr>
          <p:cNvPr id="14" name="Picture 13" descr="A close up of a mask&#10;&#10;Description automatically generated">
            <a:extLst>
              <a:ext uri="{FF2B5EF4-FFF2-40B4-BE49-F238E27FC236}">
                <a16:creationId xmlns:a16="http://schemas.microsoft.com/office/drawing/2014/main" id="{827BD79D-51F5-479C-86AE-10818C3C1C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633941" y="4006301"/>
            <a:ext cx="1329372" cy="1038572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8009AFC3-9AB4-487C-AE12-610DD4166C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 flipH="1">
            <a:off x="5329604" y="4091696"/>
            <a:ext cx="551316" cy="810894"/>
          </a:xfrm>
          <a:prstGeom prst="rect">
            <a:avLst/>
          </a:prstGeom>
        </p:spPr>
      </p:pic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3A0C8A49-4D57-4BBD-AE80-53A78DEE59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6303701" y="4006301"/>
            <a:ext cx="833080" cy="1038573"/>
          </a:xfrm>
          <a:prstGeom prst="rect">
            <a:avLst/>
          </a:prstGeom>
        </p:spPr>
      </p:pic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61A35B1A-3688-4AC1-B0CC-825648B52664}"/>
              </a:ext>
            </a:extLst>
          </p:cNvPr>
          <p:cNvGraphicFramePr>
            <a:graphicFrameLocks noGrp="1"/>
          </p:cNvGraphicFramePr>
          <p:nvPr/>
        </p:nvGraphicFramePr>
        <p:xfrm>
          <a:off x="743919" y="5698331"/>
          <a:ext cx="75879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325">
                  <a:extLst>
                    <a:ext uri="{9D8B030D-6E8A-4147-A177-3AD203B41FA5}">
                      <a16:colId xmlns:a16="http://schemas.microsoft.com/office/drawing/2014/main" val="837122687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3762300944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1031294041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2292879144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650164718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537050525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172741661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3126338310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174616808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35195097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2424169243"/>
                    </a:ext>
                  </a:extLst>
                </a:gridCol>
                <a:gridCol w="632325">
                  <a:extLst>
                    <a:ext uri="{9D8B030D-6E8A-4147-A177-3AD203B41FA5}">
                      <a16:colId xmlns:a16="http://schemas.microsoft.com/office/drawing/2014/main" val="499787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136955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B4EDC9-D85D-49FF-B668-143E64EA4457}"/>
              </a:ext>
            </a:extLst>
          </p:cNvPr>
          <p:cNvCxnSpPr>
            <a:stCxn id="8" idx="2"/>
          </p:cNvCxnSpPr>
          <p:nvPr/>
        </p:nvCxnSpPr>
        <p:spPr bwMode="auto">
          <a:xfrm flipH="1">
            <a:off x="1639116" y="4903745"/>
            <a:ext cx="375334" cy="814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6F3315-1AE4-4FB5-85D5-C6BF059EBD17}"/>
              </a:ext>
            </a:extLst>
          </p:cNvPr>
          <p:cNvCxnSpPr/>
          <p:nvPr/>
        </p:nvCxnSpPr>
        <p:spPr bwMode="auto">
          <a:xfrm>
            <a:off x="3010313" y="4958486"/>
            <a:ext cx="2327867" cy="7401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B995A2-1329-4841-BBF1-EAD298960619}"/>
              </a:ext>
            </a:extLst>
          </p:cNvPr>
          <p:cNvCxnSpPr>
            <a:stCxn id="14" idx="2"/>
          </p:cNvCxnSpPr>
          <p:nvPr/>
        </p:nvCxnSpPr>
        <p:spPr bwMode="auto">
          <a:xfrm flipH="1">
            <a:off x="3103963" y="5044873"/>
            <a:ext cx="1194664" cy="6157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768BD3-9435-4E2B-8A9B-6EC66D9A7AB4}"/>
              </a:ext>
            </a:extLst>
          </p:cNvPr>
          <p:cNvCxnSpPr>
            <a:stCxn id="20" idx="2"/>
          </p:cNvCxnSpPr>
          <p:nvPr/>
        </p:nvCxnSpPr>
        <p:spPr bwMode="auto">
          <a:xfrm flipH="1">
            <a:off x="5319859" y="5044874"/>
            <a:ext cx="1400382" cy="6733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B1D93A-89F3-47C2-BA0F-6714BA26050B}"/>
              </a:ext>
            </a:extLst>
          </p:cNvPr>
          <p:cNvCxnSpPr>
            <a:stCxn id="17" idx="2"/>
          </p:cNvCxnSpPr>
          <p:nvPr/>
        </p:nvCxnSpPr>
        <p:spPr bwMode="auto">
          <a:xfrm>
            <a:off x="5605262" y="4902590"/>
            <a:ext cx="1138521" cy="777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ounded Rectangle 61">
            <a:extLst>
              <a:ext uri="{FF2B5EF4-FFF2-40B4-BE49-F238E27FC236}">
                <a16:creationId xmlns:a16="http://schemas.microsoft.com/office/drawing/2014/main" id="{849865C2-4665-4222-B5F1-52F14BE3DEA3}"/>
              </a:ext>
            </a:extLst>
          </p:cNvPr>
          <p:cNvSpPr/>
          <p:nvPr/>
        </p:nvSpPr>
        <p:spPr bwMode="auto">
          <a:xfrm>
            <a:off x="1315217" y="1236822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p:sp>
        <p:nvSpPr>
          <p:cNvPr id="9" name="Down Arrow 64">
            <a:extLst>
              <a:ext uri="{FF2B5EF4-FFF2-40B4-BE49-F238E27FC236}">
                <a16:creationId xmlns:a16="http://schemas.microsoft.com/office/drawing/2014/main" id="{1589436F-8B13-4F03-AA65-B61454EA5320}"/>
              </a:ext>
            </a:extLst>
          </p:cNvPr>
          <p:cNvSpPr/>
          <p:nvPr/>
        </p:nvSpPr>
        <p:spPr bwMode="auto">
          <a:xfrm rot="16200000">
            <a:off x="1000691" y="1225458"/>
            <a:ext cx="221100" cy="45315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9744BB-978A-4080-9A9A-6464726A70FB}"/>
                  </a:ext>
                </a:extLst>
              </p:cNvPr>
              <p:cNvSpPr/>
              <p:nvPr/>
            </p:nvSpPr>
            <p:spPr bwMode="auto">
              <a:xfrm>
                <a:off x="349101" y="1877535"/>
                <a:ext cx="1161356" cy="440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𝑘</m:t>
                      </m:r>
                      <m:groupChr>
                        <m:groupChrPr>
                          <m:chr m:val="←"/>
                          <m:pos m:val="bot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$</m:t>
                          </m:r>
                        </m:e>
                      </m:groupCh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9744BB-978A-4080-9A9A-6464726A7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101" y="1877535"/>
                <a:ext cx="1161356" cy="440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F493C-2797-4FD9-ADB9-55D74EA3D2E9}"/>
                  </a:ext>
                </a:extLst>
              </p:cNvPr>
              <p:cNvSpPr txBox="1"/>
              <p:nvPr/>
            </p:nvSpPr>
            <p:spPr>
              <a:xfrm>
                <a:off x="386189" y="1253265"/>
                <a:ext cx="49847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F493C-2797-4FD9-ADB9-55D74EA3D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89" y="1253265"/>
                <a:ext cx="49847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62">
            <a:extLst>
              <a:ext uri="{FF2B5EF4-FFF2-40B4-BE49-F238E27FC236}">
                <a16:creationId xmlns:a16="http://schemas.microsoft.com/office/drawing/2014/main" id="{4C2DAC70-7677-4F56-A9BA-6E62A22D6BF3}"/>
              </a:ext>
            </a:extLst>
          </p:cNvPr>
          <p:cNvSpPr/>
          <p:nvPr/>
        </p:nvSpPr>
        <p:spPr bwMode="auto">
          <a:xfrm>
            <a:off x="1730242" y="1629698"/>
            <a:ext cx="264249" cy="2404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44BF8F-3003-4138-B008-F5186A6DAF12}"/>
              </a:ext>
            </a:extLst>
          </p:cNvPr>
          <p:cNvSpPr/>
          <p:nvPr/>
        </p:nvSpPr>
        <p:spPr bwMode="auto">
          <a:xfrm>
            <a:off x="1702019" y="1877535"/>
            <a:ext cx="397875" cy="3682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x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ounded Rectangle 61">
            <a:extLst>
              <a:ext uri="{FF2B5EF4-FFF2-40B4-BE49-F238E27FC236}">
                <a16:creationId xmlns:a16="http://schemas.microsoft.com/office/drawing/2014/main" id="{DDE59BBD-BD9F-409A-9527-8CBBE6917F00}"/>
              </a:ext>
            </a:extLst>
          </p:cNvPr>
          <p:cNvSpPr/>
          <p:nvPr/>
        </p:nvSpPr>
        <p:spPr bwMode="auto">
          <a:xfrm>
            <a:off x="1337819" y="2492641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p:sp>
        <p:nvSpPr>
          <p:cNvPr id="19" name="Down Arrow 62">
            <a:extLst>
              <a:ext uri="{FF2B5EF4-FFF2-40B4-BE49-F238E27FC236}">
                <a16:creationId xmlns:a16="http://schemas.microsoft.com/office/drawing/2014/main" id="{0D37FD38-0350-4345-8135-A06BE8169C57}"/>
              </a:ext>
            </a:extLst>
          </p:cNvPr>
          <p:cNvSpPr/>
          <p:nvPr/>
        </p:nvSpPr>
        <p:spPr bwMode="auto">
          <a:xfrm>
            <a:off x="1730241" y="2238381"/>
            <a:ext cx="264249" cy="2404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Down Arrow 62">
            <a:extLst>
              <a:ext uri="{FF2B5EF4-FFF2-40B4-BE49-F238E27FC236}">
                <a16:creationId xmlns:a16="http://schemas.microsoft.com/office/drawing/2014/main" id="{8DED66EA-4F12-4EBE-96E4-57A3E84C974D}"/>
              </a:ext>
            </a:extLst>
          </p:cNvPr>
          <p:cNvSpPr/>
          <p:nvPr/>
        </p:nvSpPr>
        <p:spPr bwMode="auto">
          <a:xfrm>
            <a:off x="1730241" y="2854117"/>
            <a:ext cx="264249" cy="2404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Arrow: Bent-Up 34">
            <a:extLst>
              <a:ext uri="{FF2B5EF4-FFF2-40B4-BE49-F238E27FC236}">
                <a16:creationId xmlns:a16="http://schemas.microsoft.com/office/drawing/2014/main" id="{DF38B16B-F06B-4B8D-9892-AE639844D68E}"/>
              </a:ext>
            </a:extLst>
          </p:cNvPr>
          <p:cNvSpPr/>
          <p:nvPr/>
        </p:nvSpPr>
        <p:spPr bwMode="auto">
          <a:xfrm rot="5400000">
            <a:off x="851685" y="2291718"/>
            <a:ext cx="397412" cy="545328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21F99D7A-7F7D-4018-A578-9BD70EA821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 flipH="1">
            <a:off x="1504724" y="5520931"/>
            <a:ext cx="394589" cy="3945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E2C3941-2A71-AF44-A3B3-4DF2675839D9}"/>
                  </a:ext>
                </a:extLst>
              </p:cNvPr>
              <p:cNvSpPr/>
              <p:nvPr/>
            </p:nvSpPr>
            <p:spPr bwMode="auto">
              <a:xfrm>
                <a:off x="671790" y="3124097"/>
                <a:ext cx="2565839" cy="69904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Collision: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dirty="0" err="1">
                    <a:latin typeface="Arial" pitchFamily="34" charset="0"/>
                    <a:cs typeface="Arial" pitchFamily="34" charset="0"/>
                  </a:rPr>
                  <a:t>s.t.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dirty="0">
                    <a:cs typeface="Arial" pitchFamily="34" charset="0"/>
                  </a:rPr>
                  <a:t>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E2C3941-2A71-AF44-A3B3-4DF2675839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790" y="3124097"/>
                <a:ext cx="2565839" cy="699047"/>
              </a:xfrm>
              <a:prstGeom prst="rect">
                <a:avLst/>
              </a:prstGeom>
              <a:blipFill>
                <a:blip r:embed="rId18"/>
                <a:stretch>
                  <a:fillRect l="-1961" t="-3509" b="-350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44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8A1F-654C-43F6-A001-8AF914384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(mostly) focus on keyless hash…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15AD-3722-42EC-9889-03240C6A3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there are no CRHFs and theory papers focus on keyed hash</a:t>
            </a:r>
          </a:p>
          <a:p>
            <a:r>
              <a:rPr lang="en-US" dirty="0"/>
              <a:t>But… </a:t>
            </a:r>
          </a:p>
          <a:p>
            <a:pPr lvl="1"/>
            <a:r>
              <a:rPr lang="en-US" sz="2400" dirty="0"/>
              <a:t>It’s a bit less complicated and easier to work with.</a:t>
            </a:r>
          </a:p>
          <a:p>
            <a:pPr lvl="1"/>
            <a:r>
              <a:rPr lang="en-US" sz="2400" dirty="0"/>
              <a:t>No need to consider both ACR (this stands for Any Collision Resistance, which is the same as CRHF) and TCR</a:t>
            </a:r>
          </a:p>
          <a:p>
            <a:pPr lvl="2"/>
            <a:r>
              <a:rPr lang="en-US" dirty="0"/>
              <a:t>Why? </a:t>
            </a:r>
          </a:p>
          <a:p>
            <a:pPr lvl="1"/>
            <a:r>
              <a:rPr lang="en-US" sz="2400" dirty="0"/>
              <a:t>Modifying to CRHF is quite trivial</a:t>
            </a:r>
          </a:p>
          <a:p>
            <a:pPr lvl="2"/>
            <a:r>
              <a:rPr lang="en-US" dirty="0"/>
              <a:t>Just make it keyed!</a:t>
            </a:r>
          </a:p>
          <a:p>
            <a:pPr lvl="1"/>
            <a:r>
              <a:rPr lang="en-US" sz="2400" dirty="0"/>
              <a:t>Usually used in practice: code libraries, standards, 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1E6BC-258B-4100-A150-E8BF285C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554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E5F64-B1B2-438C-9F8A-0A4F709515A3}" type="slidenum">
              <a:rPr lang="he-IL" altLang="en-US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47100" cy="74084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2</a:t>
            </a:r>
            <a:r>
              <a:rPr lang="en-GB" altLang="en-US" baseline="30000" dirty="0"/>
              <a:t>nd</a:t>
            </a:r>
            <a:r>
              <a:rPr lang="en-GB" altLang="en-US" dirty="0"/>
              <a:t>-Preimage-Resistant Hash (SPR)</a:t>
            </a:r>
          </a:p>
        </p:txBody>
      </p:sp>
      <p:sp>
        <p:nvSpPr>
          <p:cNvPr id="5939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36550" y="992621"/>
            <a:ext cx="8591550" cy="343696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marL="341313" indent="-34131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Hard to find collision with a </a:t>
            </a:r>
            <a:r>
              <a:rPr lang="en-GB" altLang="en-US" u="sng" dirty="0"/>
              <a:t>specific random </a:t>
            </a:r>
            <a:r>
              <a:rPr lang="en-GB" altLang="en-US" i="1" u="sng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altLang="en-US" dirty="0"/>
              <a:t>.</a:t>
            </a:r>
          </a:p>
          <a:p>
            <a:pPr marL="668338" lvl="1" indent="-34131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So the attacker’s advantage, probability of finding such a collision, in the following game is negligible. </a:t>
            </a:r>
            <a:br>
              <a:rPr lang="en-GB" altLang="en-US" dirty="0"/>
            </a:br>
            <a:br>
              <a:rPr lang="en-GB" altLang="en-US" dirty="0"/>
            </a:br>
            <a:br>
              <a:rPr lang="en-GB" altLang="en-US" dirty="0"/>
            </a:br>
            <a:br>
              <a:rPr lang="en-GB" altLang="en-US" dirty="0"/>
            </a:br>
            <a:br>
              <a:rPr lang="en-GB" altLang="en-US" dirty="0"/>
            </a:b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 bwMode="auto">
              <a:xfrm>
                <a:off x="2557737" y="2693198"/>
                <a:ext cx="2285679" cy="153096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7737" y="2693198"/>
                <a:ext cx="2285679" cy="15309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 bwMode="auto">
              <a:xfrm>
                <a:off x="6533860" y="2862165"/>
                <a:ext cx="2176460" cy="1173731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Range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3860" y="2862165"/>
                <a:ext cx="2176460" cy="11737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75812" y="3205437"/>
                <a:ext cx="533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812" y="3205437"/>
                <a:ext cx="5330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23490" y="3666564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′∘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490" y="3666564"/>
                <a:ext cx="58541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797556" y="3555686"/>
                <a:ext cx="15208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∘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Arial" pitchFamily="34" charset="0"/>
                        </a:rPr>
                        <m:t>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160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556" y="3555686"/>
                <a:ext cx="1520801" cy="338554"/>
              </a:xfrm>
              <a:prstGeom prst="rect">
                <a:avLst/>
              </a:prstGeom>
              <a:blipFill>
                <a:blip r:embed="rId7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 bwMode="auto">
          <a:xfrm>
            <a:off x="3972196" y="3406253"/>
            <a:ext cx="2967318" cy="331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3972196" y="3737948"/>
            <a:ext cx="2967318" cy="1147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47112" y="2712429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Hash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112" y="2712429"/>
                <a:ext cx="2048959" cy="369332"/>
              </a:xfrm>
              <a:prstGeom prst="rect">
                <a:avLst/>
              </a:prstGeom>
              <a:blipFill>
                <a:blip r:embed="rId8"/>
                <a:stretch>
                  <a:fillRect l="-2454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 bwMode="auto">
          <a:xfrm>
            <a:off x="1009839" y="3275160"/>
            <a:ext cx="1299882" cy="38548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Adversary</a:t>
            </a:r>
          </a:p>
        </p:txBody>
      </p:sp>
      <p:sp>
        <p:nvSpPr>
          <p:cNvPr id="17" name="Down Arrow 16"/>
          <p:cNvSpPr/>
          <p:nvPr/>
        </p:nvSpPr>
        <p:spPr bwMode="auto">
          <a:xfrm>
            <a:off x="1484969" y="3702294"/>
            <a:ext cx="349624" cy="14116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 bwMode="auto">
              <a:xfrm>
                <a:off x="978662" y="2635639"/>
                <a:ext cx="1331059" cy="44612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lvl="1"/>
                <a14:m>
                  <m:oMathPara xmlns:m="http://schemas.openxmlformats.org/officeDocument/2006/math">
                    <m:oMath>
                      <m:r>
                        <a:rPr lang="en-GB" altLang="en-US" sz="2000" i="1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groupChr>
                        <m:groupChrPr>
                          <m:chr m:val="←"/>
                          <m:pos m:val="bot"/>
                          <m:vertJc m:val="bot"/>
                          <m:ctrlPr>
                            <a:rPr lang="en-US" altLang="en-US" sz="20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en-US" sz="20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$</m:t>
                          </m:r>
                        </m:e>
                      </m:groupChr>
                      <m:sSup>
                        <m:sSupPr>
                          <m:ctrlPr>
                            <a:rPr lang="en-US" altLang="en-US" sz="20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en-US" sz="2000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b="0" i="1" kern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en-US" sz="2000" b="0" i="1" kern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altLang="en-US" sz="2400" kern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8662" y="2635639"/>
                <a:ext cx="1331059" cy="446122"/>
              </a:xfrm>
              <a:prstGeom prst="rect">
                <a:avLst/>
              </a:prstGeom>
              <a:blipFill>
                <a:blip r:embed="rId9"/>
                <a:stretch>
                  <a:fillRect b="-52632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Down Arrow 19"/>
          <p:cNvSpPr/>
          <p:nvPr/>
        </p:nvSpPr>
        <p:spPr bwMode="auto">
          <a:xfrm>
            <a:off x="1484969" y="3092678"/>
            <a:ext cx="349624" cy="14116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61801" y="3679936"/>
            <a:ext cx="822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Second </a:t>
            </a:r>
            <a:br>
              <a:rPr lang="en-US" sz="1200"/>
            </a:br>
            <a:r>
              <a:rPr lang="en-US" sz="1200"/>
              <a:t>preimage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2967" y="3275160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First preimage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470139" y="5447118"/>
            <a:ext cx="8203721" cy="1000095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itchFamily="34" charset="0"/>
                <a:cs typeface="Arial" pitchFamily="34" charset="0"/>
              </a:rPr>
              <a:t>Use with care!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itchFamily="34" charset="0"/>
                <a:cs typeface="Arial" pitchFamily="34" charset="0"/>
              </a:rPr>
              <a:t>(think carefully about the security you want to achieve and see if SPR suffices)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94E1B61-2451-7520-621E-BC4D50D14F7C}"/>
                  </a:ext>
                </a:extLst>
              </p:cNvPr>
              <p:cNvSpPr/>
              <p:nvPr/>
            </p:nvSpPr>
            <p:spPr bwMode="auto">
              <a:xfrm>
                <a:off x="381000" y="3876739"/>
                <a:ext cx="2407981" cy="8983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Collision: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b="0" i="1" kern="0" dirty="0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dirty="0" err="1">
                    <a:latin typeface="Arial" pitchFamily="34" charset="0"/>
                    <a:cs typeface="Arial" pitchFamily="34" charset="0"/>
                  </a:rPr>
                  <a:t>s.t.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dirty="0">
                    <a:cs typeface="Arial" pitchFamily="34" charset="0"/>
                  </a:rPr>
                  <a:t>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r>
                  <a:rPr lang="en-US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94E1B61-2451-7520-621E-BC4D50D14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3876739"/>
                <a:ext cx="2407981" cy="898380"/>
              </a:xfrm>
              <a:prstGeom prst="rect">
                <a:avLst/>
              </a:prstGeom>
              <a:blipFill>
                <a:blip r:embed="rId10"/>
                <a:stretch>
                  <a:fillRect l="-2083" t="-2740" r="-3646" b="-137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12363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CRHF/SPR vs.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38" y="911549"/>
            <a:ext cx="8229600" cy="3539191"/>
          </a:xfrm>
        </p:spPr>
        <p:txBody>
          <a:bodyPr/>
          <a:lstStyle/>
          <a:p>
            <a:r>
              <a:rPr lang="en-US" sz="2800" dirty="0"/>
              <a:t>CRHF secure for signing, SW-distribution</a:t>
            </a:r>
          </a:p>
          <a:p>
            <a:r>
              <a:rPr lang="en-US" sz="2800" dirty="0"/>
              <a:t>How about SPR hash (weak-CRHF)? </a:t>
            </a:r>
          </a:p>
          <a:p>
            <a:pPr lvl="1"/>
            <a:r>
              <a:rPr lang="en-US" sz="2400" dirty="0"/>
              <a:t>SW-distribution? </a:t>
            </a:r>
            <a:r>
              <a:rPr lang="en-US" sz="2400" b="1" i="1" dirty="0">
                <a:solidFill>
                  <a:schemeClr val="accent6"/>
                </a:solidFill>
              </a:rPr>
              <a:t>YES</a:t>
            </a:r>
          </a:p>
          <a:p>
            <a:pPr lvl="1"/>
            <a:r>
              <a:rPr lang="en-US" sz="2400" dirty="0"/>
              <a:t>Hash-then-sign? </a:t>
            </a:r>
            <a:r>
              <a:rPr lang="en-US" sz="2400" b="1" i="1" dirty="0">
                <a:solidFill>
                  <a:srgbClr val="FF0000"/>
                </a:solidFill>
              </a:rPr>
              <a:t>NO</a:t>
            </a:r>
          </a:p>
          <a:p>
            <a:r>
              <a:rPr lang="en-US" sz="2800" dirty="0"/>
              <a:t>Why? </a:t>
            </a:r>
          </a:p>
          <a:p>
            <a:pPr lvl="1"/>
            <a:r>
              <a:rPr lang="en-US" sz="2400" dirty="0"/>
              <a:t>Attacker can’t impact SW to be distributed</a:t>
            </a:r>
          </a:p>
          <a:p>
            <a:pPr lvl="1"/>
            <a:r>
              <a:rPr lang="en-US" sz="2400" dirty="0"/>
              <a:t>But… attacker may be able to impact signed msg!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1610682" y="5832020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30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4" y="4839504"/>
            <a:ext cx="76358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30" descr="Connecting the dots (I): snake eyes | tales of wan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6" r="81176"/>
          <a:stretch/>
        </p:blipFill>
        <p:spPr>
          <a:xfrm flipH="1">
            <a:off x="6687671" y="4888506"/>
            <a:ext cx="1434354" cy="11146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21741" y="4922497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Will/Contract/…</a:t>
            </a: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 flipH="1">
            <a:off x="1524000" y="5287758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5" name="TextBox 34"/>
          <p:cNvSpPr txBox="1"/>
          <p:nvPr/>
        </p:nvSpPr>
        <p:spPr>
          <a:xfrm>
            <a:off x="3303312" y="5434535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Sign(h(Will/Contract/…))</a:t>
            </a:r>
          </a:p>
        </p:txBody>
      </p:sp>
    </p:spTree>
    <p:extLst>
      <p:ext uri="{BB962C8B-B14F-4D97-AF65-F5344CB8AC3E}">
        <p14:creationId xmlns:p14="http://schemas.microsoft.com/office/powerpoint/2010/main" val="2358731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477762" cy="779462"/>
          </a:xfrm>
        </p:spPr>
        <p:txBody>
          <a:bodyPr/>
          <a:lstStyle/>
          <a:p>
            <a:r>
              <a:rPr lang="en-US" dirty="0"/>
              <a:t>SPR: Collisions to </a:t>
            </a:r>
            <a:r>
              <a:rPr lang="en-US" b="1" dirty="0"/>
              <a:t>Chosen</a:t>
            </a:r>
            <a:r>
              <a:rPr lang="en-US" dirty="0"/>
              <a:t>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38" y="911549"/>
            <a:ext cx="8229600" cy="3539191"/>
          </a:xfrm>
        </p:spPr>
        <p:txBody>
          <a:bodyPr/>
          <a:lstStyle/>
          <a:p>
            <a:r>
              <a:rPr lang="en-US" sz="2200" dirty="0"/>
              <a:t>Or: Alice and Mal, the corrupt lawyer</a:t>
            </a:r>
          </a:p>
          <a:p>
            <a:r>
              <a:rPr lang="en-US" sz="2200" dirty="0"/>
              <a:t>Mal finds two `colliding wills’, </a:t>
            </a:r>
            <a:r>
              <a:rPr lang="en-US" sz="2200" dirty="0" err="1"/>
              <a:t>GoodW</a:t>
            </a:r>
            <a:r>
              <a:rPr lang="en-US" sz="2200" dirty="0"/>
              <a:t> and </a:t>
            </a:r>
            <a:r>
              <a:rPr lang="en-US" sz="2200" dirty="0" err="1"/>
              <a:t>BadW</a:t>
            </a:r>
            <a:r>
              <a:rPr lang="en-US" sz="2200" dirty="0"/>
              <a:t>: </a:t>
            </a:r>
          </a:p>
          <a:p>
            <a:pPr lvl="1"/>
            <a:r>
              <a:rPr lang="en-US" sz="1800" dirty="0" err="1"/>
              <a:t>GoodW</a:t>
            </a:r>
            <a:r>
              <a:rPr lang="en-US" sz="1800" dirty="0"/>
              <a:t>: contents agreeable to Alice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h(</a:t>
            </a:r>
            <a:r>
              <a:rPr lang="en-US" sz="1800" dirty="0" err="1">
                <a:solidFill>
                  <a:srgbClr val="FF0000"/>
                </a:solidFill>
              </a:rPr>
              <a:t>GoodW</a:t>
            </a:r>
            <a:r>
              <a:rPr lang="en-US" sz="1800" dirty="0">
                <a:solidFill>
                  <a:srgbClr val="FF0000"/>
                </a:solidFill>
              </a:rPr>
              <a:t>)=h(</a:t>
            </a:r>
            <a:r>
              <a:rPr lang="en-US" sz="1800" dirty="0" err="1">
                <a:solidFill>
                  <a:srgbClr val="FF0000"/>
                </a:solidFill>
              </a:rPr>
              <a:t>BadW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sz="1800" dirty="0"/>
              <a:t>Alice Signs good will: Sign(h(</a:t>
            </a:r>
            <a:r>
              <a:rPr lang="en-US" sz="1800" dirty="0" err="1"/>
              <a:t>GoodW</a:t>
            </a:r>
            <a:r>
              <a:rPr lang="en-US" sz="1800" dirty="0"/>
              <a:t>)) </a:t>
            </a:r>
            <a:br>
              <a:rPr lang="en-US" sz="18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r>
              <a:rPr lang="en-US" sz="2200" dirty="0"/>
              <a:t>Later… Mal presents to the court: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1610682" y="3994252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30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4" y="3001736"/>
            <a:ext cx="76358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30" descr="Connecting the dots (I): snake eyes | tales of wan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6" r="81176"/>
          <a:stretch/>
        </p:blipFill>
        <p:spPr>
          <a:xfrm flipH="1">
            <a:off x="6687671" y="3050738"/>
            <a:ext cx="1434354" cy="11146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828502" y="3101467"/>
            <a:ext cx="2916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GoodW</a:t>
            </a:r>
            <a:r>
              <a:rPr lang="en-US"/>
              <a:t>: ‘I leave all to Bob’</a:t>
            </a: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 flipH="1">
            <a:off x="1524000" y="3449990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5" name="TextBox 34"/>
          <p:cNvSpPr txBox="1"/>
          <p:nvPr/>
        </p:nvSpPr>
        <p:spPr>
          <a:xfrm>
            <a:off x="3303312" y="3596767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Sign</a:t>
            </a:r>
            <a:r>
              <a:rPr lang="en-US" baseline="-25000" err="1"/>
              <a:t>A</a:t>
            </a:r>
            <a:r>
              <a:rPr lang="en-US"/>
              <a:t>(h(</a:t>
            </a:r>
            <a:r>
              <a:rPr lang="en-US" err="1"/>
              <a:t>GoodW</a:t>
            </a:r>
            <a:r>
              <a:rPr lang="en-US"/>
              <a:t>))</a:t>
            </a:r>
          </a:p>
        </p:txBody>
      </p:sp>
      <p:pic>
        <p:nvPicPr>
          <p:cNvPr id="12" name="תמונה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45885" y="3286133"/>
            <a:ext cx="683004" cy="683004"/>
          </a:xfrm>
          <a:prstGeom prst="rect">
            <a:avLst/>
          </a:prstGeom>
        </p:spPr>
      </p:pic>
      <p:sp>
        <p:nvSpPr>
          <p:cNvPr id="8" name="Cloud Callout 7"/>
          <p:cNvSpPr/>
          <p:nvPr/>
        </p:nvSpPr>
        <p:spPr bwMode="auto">
          <a:xfrm>
            <a:off x="6997277" y="2241173"/>
            <a:ext cx="1869424" cy="1138518"/>
          </a:xfrm>
          <a:prstGeom prst="cloudCallout">
            <a:avLst>
              <a:gd name="adj1" fmla="val -41091"/>
              <a:gd name="adj2" fmla="val 57776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h(</a:t>
            </a:r>
            <a:r>
              <a:rPr lang="en-US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GoodP</a:t>
            </a:r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)=h(</a:t>
            </a:r>
            <a:r>
              <a:rPr lang="en-US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BadP</a:t>
            </a:r>
            <a:r>
              <a:rPr lang="en-US">
                <a:latin typeface="Arial" pitchFamily="34" charset="0"/>
                <a:cs typeface="Arial" pitchFamily="34" charset="0"/>
              </a:rPr>
              <a:t>)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1610682" y="5845156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18" name="Picture 17" descr="Connecting the dots (I): snake eyes | tales of wan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6" r="81176"/>
          <a:stretch/>
        </p:blipFill>
        <p:spPr>
          <a:xfrm flipH="1">
            <a:off x="6687671" y="4901642"/>
            <a:ext cx="1434354" cy="1114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44900" y="4952371"/>
            <a:ext cx="4463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BadW</a:t>
            </a:r>
            <a:r>
              <a:rPr lang="en-US">
                <a:solidFill>
                  <a:srgbClr val="FF0000"/>
                </a:solidFill>
              </a:rPr>
              <a:t>: ‘I leave all to Mal’, </a:t>
            </a:r>
            <a:r>
              <a:rPr lang="en-US" err="1">
                <a:solidFill>
                  <a:srgbClr val="FF0000"/>
                </a:solidFill>
              </a:rPr>
              <a:t>Sign</a:t>
            </a:r>
            <a:r>
              <a:rPr lang="en-US" baseline="-25000" err="1">
                <a:solidFill>
                  <a:srgbClr val="FF0000"/>
                </a:solidFill>
              </a:rPr>
              <a:t>A</a:t>
            </a:r>
            <a:r>
              <a:rPr lang="en-US">
                <a:solidFill>
                  <a:srgbClr val="FF0000"/>
                </a:solidFill>
              </a:rPr>
              <a:t>(h(</a:t>
            </a:r>
            <a:r>
              <a:rPr lang="en-US" err="1">
                <a:solidFill>
                  <a:srgbClr val="FF0000"/>
                </a:solidFill>
              </a:rPr>
              <a:t>BadW</a:t>
            </a:r>
            <a:r>
              <a:rPr lang="en-US">
                <a:solidFill>
                  <a:srgbClr val="FF0000"/>
                </a:solidFill>
              </a:rPr>
              <a:t>))</a:t>
            </a:r>
          </a:p>
          <a:p>
            <a:r>
              <a:rPr lang="en-US"/>
              <a:t> </a:t>
            </a:r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 flipH="1">
            <a:off x="1524000" y="5300894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" name="TextBox 20"/>
          <p:cNvSpPr txBox="1"/>
          <p:nvPr/>
        </p:nvSpPr>
        <p:spPr>
          <a:xfrm>
            <a:off x="3303312" y="544767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$$$$</a:t>
            </a:r>
          </a:p>
        </p:txBody>
      </p:sp>
      <p:pic>
        <p:nvPicPr>
          <p:cNvPr id="22" name="תמונה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45885" y="5137037"/>
            <a:ext cx="683004" cy="683004"/>
          </a:xfrm>
          <a:prstGeom prst="rect">
            <a:avLst/>
          </a:prstGeom>
        </p:spPr>
      </p:pic>
      <p:pic>
        <p:nvPicPr>
          <p:cNvPr id="9" name="Picture 8" descr="María Luisa Moreno-Torres: “Creo que la UMA no tiene buen ..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63" y="5040726"/>
            <a:ext cx="1147482" cy="9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2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477762" cy="779462"/>
          </a:xfrm>
        </p:spPr>
        <p:txBody>
          <a:bodyPr/>
          <a:lstStyle/>
          <a:p>
            <a:r>
              <a:rPr lang="en-US"/>
              <a:t>SPR: collisions to </a:t>
            </a:r>
            <a:r>
              <a:rPr lang="en-US" b="1"/>
              <a:t>chosen</a:t>
            </a:r>
            <a:r>
              <a:rPr lang="en-US"/>
              <a:t>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38" y="911549"/>
            <a:ext cx="8229600" cy="3539191"/>
          </a:xfrm>
        </p:spPr>
        <p:txBody>
          <a:bodyPr/>
          <a:lstStyle/>
          <a:p>
            <a:r>
              <a:rPr lang="en-US" sz="2400"/>
              <a:t>Or: Alice and Mal, the corrupt lawyer</a:t>
            </a:r>
          </a:p>
          <a:p>
            <a:r>
              <a:rPr lang="en-US" sz="2400"/>
              <a:t>Mal finds two `colliding wills’, </a:t>
            </a:r>
            <a:r>
              <a:rPr lang="en-US" sz="2400" err="1"/>
              <a:t>GoodW</a:t>
            </a:r>
            <a:r>
              <a:rPr lang="en-US" sz="2400"/>
              <a:t> and </a:t>
            </a:r>
            <a:r>
              <a:rPr lang="en-US" sz="2400" err="1"/>
              <a:t>BadW</a:t>
            </a:r>
            <a:r>
              <a:rPr lang="en-US" sz="2400"/>
              <a:t>: </a:t>
            </a:r>
          </a:p>
          <a:p>
            <a:pPr lvl="1"/>
            <a:r>
              <a:rPr lang="en-US" sz="2000" err="1"/>
              <a:t>GoodW</a:t>
            </a:r>
            <a:r>
              <a:rPr lang="en-US" sz="2000"/>
              <a:t>: contents agreeable to Alice</a:t>
            </a:r>
          </a:p>
          <a:p>
            <a:pPr lvl="1"/>
            <a:r>
              <a:rPr lang="en-US" sz="2000">
                <a:solidFill>
                  <a:srgbClr val="FF0000"/>
                </a:solidFill>
              </a:rPr>
              <a:t>h(</a:t>
            </a:r>
            <a:r>
              <a:rPr lang="en-US" sz="2000" err="1">
                <a:solidFill>
                  <a:srgbClr val="FF0000"/>
                </a:solidFill>
              </a:rPr>
              <a:t>GoodW</a:t>
            </a:r>
            <a:r>
              <a:rPr lang="en-US" sz="2000">
                <a:solidFill>
                  <a:srgbClr val="FF0000"/>
                </a:solidFill>
              </a:rPr>
              <a:t>)=h(</a:t>
            </a:r>
            <a:r>
              <a:rPr lang="en-US" sz="2000" err="1">
                <a:solidFill>
                  <a:srgbClr val="FF0000"/>
                </a:solidFill>
              </a:rPr>
              <a:t>BadW</a:t>
            </a:r>
            <a:r>
              <a:rPr lang="en-US" sz="200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sz="2000"/>
              <a:t>Alice Signs good will: </a:t>
            </a:r>
            <a:r>
              <a:rPr lang="en-US" sz="2000" err="1"/>
              <a:t>Sign</a:t>
            </a:r>
            <a:r>
              <a:rPr lang="en-US" sz="2000" baseline="-25000" err="1"/>
              <a:t>A</a:t>
            </a:r>
            <a:r>
              <a:rPr lang="en-US" sz="2000"/>
              <a:t>(h(</a:t>
            </a:r>
            <a:r>
              <a:rPr lang="en-US" sz="2000" err="1"/>
              <a:t>GoodW</a:t>
            </a:r>
            <a:r>
              <a:rPr lang="en-US" sz="2000"/>
              <a:t>)) </a:t>
            </a:r>
            <a:br>
              <a:rPr lang="en-US" sz="2000"/>
            </a:br>
            <a:br>
              <a:rPr lang="en-US" sz="2000"/>
            </a:br>
            <a:br>
              <a:rPr lang="en-US" sz="2000"/>
            </a:br>
            <a:br>
              <a:rPr lang="en-US" sz="2000"/>
            </a:br>
            <a:br>
              <a:rPr lang="en-US" sz="2000"/>
            </a:br>
            <a:endParaRPr lang="en-US" sz="2000"/>
          </a:p>
          <a:p>
            <a:r>
              <a:rPr lang="en-US" sz="2400"/>
              <a:t>Later… Mal presents to the court: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1610682" y="3994252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30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4" y="3001736"/>
            <a:ext cx="76358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30" descr="Connecting the dots (I): snake eyes | tales of wan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6" r="81176"/>
          <a:stretch/>
        </p:blipFill>
        <p:spPr>
          <a:xfrm flipH="1">
            <a:off x="6687671" y="3050738"/>
            <a:ext cx="1434354" cy="11146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828502" y="3101467"/>
            <a:ext cx="2916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GoodW</a:t>
            </a:r>
            <a:r>
              <a:rPr lang="en-US"/>
              <a:t>: ‘I leave all to Bob’</a:t>
            </a: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 flipH="1">
            <a:off x="1524000" y="3449990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5" name="TextBox 34"/>
          <p:cNvSpPr txBox="1"/>
          <p:nvPr/>
        </p:nvSpPr>
        <p:spPr>
          <a:xfrm>
            <a:off x="3303312" y="3596767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Sign</a:t>
            </a:r>
            <a:r>
              <a:rPr lang="en-US" baseline="-25000" err="1"/>
              <a:t>A</a:t>
            </a:r>
            <a:r>
              <a:rPr lang="en-US"/>
              <a:t>(h(</a:t>
            </a:r>
            <a:r>
              <a:rPr lang="en-US" err="1"/>
              <a:t>GoodW</a:t>
            </a:r>
            <a:r>
              <a:rPr lang="en-US"/>
              <a:t>))</a:t>
            </a:r>
          </a:p>
        </p:txBody>
      </p:sp>
      <p:pic>
        <p:nvPicPr>
          <p:cNvPr id="12" name="תמונה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45885" y="3286133"/>
            <a:ext cx="683004" cy="683004"/>
          </a:xfrm>
          <a:prstGeom prst="rect">
            <a:avLst/>
          </a:prstGeom>
        </p:spPr>
      </p:pic>
      <p:sp>
        <p:nvSpPr>
          <p:cNvPr id="8" name="Cloud Callout 7"/>
          <p:cNvSpPr/>
          <p:nvPr/>
        </p:nvSpPr>
        <p:spPr bwMode="auto">
          <a:xfrm>
            <a:off x="6997277" y="2241173"/>
            <a:ext cx="1869424" cy="1138518"/>
          </a:xfrm>
          <a:prstGeom prst="cloudCallout">
            <a:avLst>
              <a:gd name="adj1" fmla="val -41091"/>
              <a:gd name="adj2" fmla="val 57776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h(</a:t>
            </a:r>
            <a:r>
              <a:rPr lang="en-US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GoodP</a:t>
            </a:r>
            <a:r>
              <a:rPr lang="en-US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)=h(</a:t>
            </a:r>
            <a:r>
              <a:rPr lang="en-US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BadP</a:t>
            </a:r>
            <a:r>
              <a:rPr lang="en-US">
                <a:latin typeface="Arial" pitchFamily="34" charset="0"/>
                <a:cs typeface="Arial" pitchFamily="34" charset="0"/>
              </a:rPr>
              <a:t>)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1610682" y="5845156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18" name="Picture 17" descr="Connecting the dots (I): snake eyes | tales of wan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6" r="81176"/>
          <a:stretch/>
        </p:blipFill>
        <p:spPr>
          <a:xfrm flipH="1">
            <a:off x="6687671" y="4901642"/>
            <a:ext cx="1434354" cy="1114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44900" y="4952371"/>
            <a:ext cx="4463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BadW</a:t>
            </a:r>
            <a:r>
              <a:rPr lang="en-US">
                <a:solidFill>
                  <a:srgbClr val="FF0000"/>
                </a:solidFill>
              </a:rPr>
              <a:t>: ‘I leave all to Mal’, </a:t>
            </a:r>
            <a:r>
              <a:rPr lang="en-US" err="1">
                <a:solidFill>
                  <a:srgbClr val="FF0000"/>
                </a:solidFill>
              </a:rPr>
              <a:t>Sign</a:t>
            </a:r>
            <a:r>
              <a:rPr lang="en-US" baseline="-25000" err="1">
                <a:solidFill>
                  <a:srgbClr val="FF0000"/>
                </a:solidFill>
              </a:rPr>
              <a:t>A</a:t>
            </a:r>
            <a:r>
              <a:rPr lang="en-US">
                <a:solidFill>
                  <a:srgbClr val="FF0000"/>
                </a:solidFill>
              </a:rPr>
              <a:t>(h(</a:t>
            </a:r>
            <a:r>
              <a:rPr lang="en-US" err="1">
                <a:solidFill>
                  <a:srgbClr val="FF0000"/>
                </a:solidFill>
              </a:rPr>
              <a:t>BadW</a:t>
            </a:r>
            <a:r>
              <a:rPr lang="en-US">
                <a:solidFill>
                  <a:srgbClr val="FF0000"/>
                </a:solidFill>
              </a:rPr>
              <a:t>))</a:t>
            </a:r>
          </a:p>
          <a:p>
            <a:r>
              <a:rPr lang="en-US"/>
              <a:t> </a:t>
            </a:r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 flipH="1">
            <a:off x="1524000" y="5300894"/>
            <a:ext cx="5076989" cy="4071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1" name="TextBox 20"/>
          <p:cNvSpPr txBox="1"/>
          <p:nvPr/>
        </p:nvSpPr>
        <p:spPr>
          <a:xfrm>
            <a:off x="3303312" y="544767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$$$$</a:t>
            </a:r>
          </a:p>
        </p:txBody>
      </p:sp>
      <p:pic>
        <p:nvPicPr>
          <p:cNvPr id="22" name="תמונה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45885" y="5137037"/>
            <a:ext cx="683004" cy="683004"/>
          </a:xfrm>
          <a:prstGeom prst="rect">
            <a:avLst/>
          </a:prstGeom>
        </p:spPr>
      </p:pic>
      <p:pic>
        <p:nvPicPr>
          <p:cNvPr id="9" name="Picture 8" descr="María Luisa Moreno-Torres: “Creo que la UMA no tiene buen ..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63" y="5040726"/>
            <a:ext cx="1147482" cy="9807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 bwMode="auto">
          <a:xfrm>
            <a:off x="742620" y="2228222"/>
            <a:ext cx="7379405" cy="275550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 such attack realistic? </a:t>
            </a:r>
            <a:b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 SPR is enough ‘in practice’? Yes it is! This attack usually relies on having a specific format for messages, like a fixed prefix chosen by the attacker. 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83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0" grpId="0" animBg="1"/>
      <p:bldP spid="21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69" y="966158"/>
            <a:ext cx="8380272" cy="5089585"/>
          </a:xfrm>
        </p:spPr>
        <p:txBody>
          <a:bodyPr/>
          <a:lstStyle/>
          <a:p>
            <a:pPr marL="0" indent="0" defTabSz="449263" eaLnBrk="1" hangingPunct="1">
              <a:lnSpc>
                <a:spcPct val="110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1)     Let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dirty="0"/>
              <a:t> be a keyed CRHF. Is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’ =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(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(x)) </a:t>
            </a:r>
            <a:r>
              <a:rPr lang="en-GB" altLang="en-US" sz="2000" dirty="0"/>
              <a:t>a CRHF? Why?</a:t>
            </a:r>
          </a:p>
          <a:p>
            <a:pPr marL="0" indent="0" defTabSz="449263" eaLnBrk="1" hangingPunct="1">
              <a:lnSpc>
                <a:spcPct val="110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/>
          </a:p>
          <a:p>
            <a:pPr marL="0" indent="0" defTabSz="449263" eaLnBrk="1" hangingPunct="1">
              <a:lnSpc>
                <a:spcPct val="110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2)      For x parsed as x = </a:t>
            </a:r>
            <a:r>
              <a:rPr lang="en-GB" altLang="en-US" sz="2000" i="1" dirty="0"/>
              <a:t>x</a:t>
            </a:r>
            <a:r>
              <a:rPr lang="en-GB" altLang="en-US" sz="2000" i="1" baseline="-25000" dirty="0"/>
              <a:t>1</a:t>
            </a:r>
            <a:r>
              <a:rPr lang="en-GB" altLang="en-US" sz="2000" i="1" dirty="0"/>
              <a:t>||x</a:t>
            </a:r>
            <a:r>
              <a:rPr lang="en-GB" altLang="en-US" sz="2000" i="1" baseline="-25000" dirty="0"/>
              <a:t>2</a:t>
            </a:r>
            <a:r>
              <a:rPr lang="en-GB" altLang="en-US" sz="2000" i="1" dirty="0"/>
              <a:t>||x</a:t>
            </a:r>
            <a:r>
              <a:rPr lang="en-GB" altLang="en-US" sz="2000" i="1" baseline="-25000" dirty="0"/>
              <a:t>3 , </a:t>
            </a:r>
            <a:r>
              <a:rPr lang="en-GB" altLang="en-US" sz="2000" dirty="0"/>
              <a:t>let </a:t>
            </a:r>
            <a:r>
              <a:rPr lang="en-GB" altLang="en-US" sz="2000" i="1" dirty="0"/>
              <a:t>h(x</a:t>
            </a:r>
            <a:r>
              <a:rPr lang="en-GB" altLang="en-US" sz="2000" i="1" baseline="-25000" dirty="0"/>
              <a:t>1</a:t>
            </a:r>
            <a:r>
              <a:rPr lang="en-GB" altLang="en-US" sz="2000" i="1" dirty="0"/>
              <a:t>||x</a:t>
            </a:r>
            <a:r>
              <a:rPr lang="en-GB" altLang="en-US" sz="2000" i="1" baseline="-25000" dirty="0"/>
              <a:t>2</a:t>
            </a:r>
            <a:r>
              <a:rPr lang="en-GB" altLang="en-US" sz="2000" i="1" dirty="0"/>
              <a:t>||x</a:t>
            </a:r>
            <a:r>
              <a:rPr lang="en-GB" altLang="en-US" sz="2000" i="1" baseline="-25000" dirty="0"/>
              <a:t>3</a:t>
            </a:r>
            <a:r>
              <a:rPr lang="en-GB" altLang="en-US" sz="2000" i="1" dirty="0"/>
              <a:t>) = x</a:t>
            </a:r>
            <a:r>
              <a:rPr lang="en-GB" altLang="en-US" sz="2000" i="1" baseline="-25000" dirty="0"/>
              <a:t>1</a:t>
            </a:r>
            <a:r>
              <a:rPr lang="en-GB" altLang="en-US" sz="2000" i="1" dirty="0"/>
              <a:t> + x</a:t>
            </a:r>
            <a:r>
              <a:rPr lang="en-GB" altLang="en-US" sz="2000" i="1" baseline="-25000" dirty="0"/>
              <a:t>2</a:t>
            </a:r>
            <a:r>
              <a:rPr lang="en-GB" altLang="en-US" sz="2000" i="1" dirty="0"/>
              <a:t> + x</a:t>
            </a:r>
            <a:r>
              <a:rPr lang="en-GB" altLang="en-US" sz="2000" i="1" baseline="-25000" dirty="0"/>
              <a:t>3</a:t>
            </a:r>
            <a:r>
              <a:rPr lang="en-GB" altLang="en-US" sz="2000" i="1" dirty="0"/>
              <a:t> mod 2</a:t>
            </a:r>
            <a:r>
              <a:rPr lang="en-GB" altLang="en-US" sz="2000" i="1" baseline="30000" dirty="0"/>
              <a:t>n</a:t>
            </a:r>
            <a:r>
              <a:rPr lang="en-GB" altLang="en-US" sz="2000" dirty="0"/>
              <a:t>, is h a CRHF? Why? Is it an SPR? Why?</a:t>
            </a:r>
          </a:p>
          <a:p>
            <a:pPr marL="0" indent="0" defTabSz="449263" eaLnBrk="1" hangingPunct="1">
              <a:lnSpc>
                <a:spcPct val="110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/>
          </a:p>
          <a:p>
            <a:pPr marL="0" indent="0" defTabSz="449263" eaLnBrk="1" hangingPunct="1">
              <a:lnSpc>
                <a:spcPct val="110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3)      Let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(m) </a:t>
            </a:r>
            <a:r>
              <a:rPr lang="en-GB" altLang="en-US" sz="2000" dirty="0"/>
              <a:t>be a TCR hash function. Construct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’(m) = 0</a:t>
            </a:r>
            <a:r>
              <a:rPr lang="en-GB" altLang="en-US" sz="2000" i="1" baseline="30000" dirty="0"/>
              <a:t>n</a:t>
            </a:r>
            <a:r>
              <a:rPr lang="en-GB" altLang="en-US" sz="2000" i="1" dirty="0"/>
              <a:t> </a:t>
            </a:r>
            <a:r>
              <a:rPr lang="en-GB" altLang="en-US" sz="2000" dirty="0"/>
              <a:t>if </a:t>
            </a:r>
            <a:r>
              <a:rPr lang="en-GB" altLang="en-US" sz="2000" i="1" dirty="0"/>
              <a:t>m[1</a:t>
            </a:r>
            <a:r>
              <a:rPr lang="en-GB" altLang="en-US" sz="2000" i="1" dirty="0">
                <a:sym typeface="Wingdings" pitchFamily="2" charset="2"/>
              </a:rPr>
              <a:t>: |k|</a:t>
            </a:r>
            <a:r>
              <a:rPr lang="en-GB" altLang="en-US" sz="2000" i="1" dirty="0"/>
              <a:t>] = k </a:t>
            </a:r>
            <a:r>
              <a:rPr lang="en-GB" altLang="en-US" sz="2000" dirty="0"/>
              <a:t>and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(m) </a:t>
            </a:r>
            <a:r>
              <a:rPr lang="en-GB" altLang="en-US" sz="2000" dirty="0"/>
              <a:t>otherwise (recall that the hash function input can be of any length).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Is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’ a </a:t>
            </a:r>
            <a:r>
              <a:rPr lang="en-GB" altLang="en-US" sz="2000" dirty="0"/>
              <a:t>CRHF? Why?</a:t>
            </a:r>
          </a:p>
          <a:p>
            <a:pPr marL="668338" lvl="1" defTabSz="449263" eaLnBrk="1" hangingPunct="1">
              <a:lnSpc>
                <a:spcPct val="11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Is </a:t>
            </a:r>
            <a:r>
              <a:rPr lang="en-GB" altLang="en-US" sz="2000" i="1" dirty="0" err="1"/>
              <a:t>h</a:t>
            </a:r>
            <a:r>
              <a:rPr lang="en-GB" altLang="en-US" sz="2000" i="1" baseline="-25000" dirty="0" err="1"/>
              <a:t>k</a:t>
            </a:r>
            <a:r>
              <a:rPr lang="en-GB" altLang="en-US" sz="2000" i="1" dirty="0"/>
              <a:t>’</a:t>
            </a:r>
            <a:r>
              <a:rPr lang="en-GB" altLang="en-US" sz="2000" dirty="0"/>
              <a:t> a TCR? Why?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17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B647E9-0097-4ABD-9993-9790A29446C2}" type="slidenum">
              <a:rPr lang="he-IL" altLang="en-US"/>
              <a:pPr>
                <a:defRPr/>
              </a:pPr>
              <a:t>29</a:t>
            </a:fld>
            <a:endParaRPr lang="en-US" altLang="en-US" dirty="0"/>
          </a:p>
        </p:txBody>
      </p:sp>
      <p:sp>
        <p:nvSpPr>
          <p:cNvPr id="2" name="Rectangle 1"/>
          <p:cNvSpPr/>
          <p:nvPr/>
        </p:nvSpPr>
        <p:spPr bwMode="auto">
          <a:xfrm>
            <a:off x="8451273" y="5957455"/>
            <a:ext cx="235527" cy="1385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384098" y="3261901"/>
                <a:ext cx="8432894" cy="2866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b="1" dirty="0">
                    <a:solidFill>
                      <a:srgbClr val="0000FF"/>
                    </a:solidFill>
                  </a:rPr>
                  <a:t>One-way function </a:t>
                </a:r>
                <a:r>
                  <a:rPr lang="en-GB" altLang="en-US" sz="2200" dirty="0">
                    <a:solidFill>
                      <a:srgbClr val="0000FF"/>
                    </a:solidFill>
                  </a:rPr>
                  <a:t>or</a:t>
                </a:r>
                <a:r>
                  <a:rPr lang="en-GB" altLang="en-US" sz="2200" b="1" dirty="0">
                    <a:solidFill>
                      <a:srgbClr val="0000FF"/>
                    </a:solidFill>
                  </a:rPr>
                  <a:t> first preimage resistance</a:t>
                </a:r>
                <a:r>
                  <a:rPr lang="en-GB" altLang="en-US" sz="2200" dirty="0">
                    <a:solidFill>
                      <a:srgbClr val="0000FF"/>
                    </a:solidFill>
                  </a:rPr>
                  <a:t>: </a:t>
                </a:r>
                <a:r>
                  <a:rPr lang="en-GB" altLang="en-US" sz="2200" dirty="0"/>
                  <a:t>given </a:t>
                </a:r>
                <a:r>
                  <a:rPr lang="en-GB" altLang="en-US" sz="2200" i="1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h(x)</a:t>
                </a:r>
                <a:r>
                  <a:rPr lang="en-GB" altLang="en-US" sz="2200" i="1" dirty="0"/>
                  <a:t> </a:t>
                </a:r>
                <a:r>
                  <a:rPr lang="en-GB" altLang="en-US" sz="2200" dirty="0"/>
                  <a:t>for a </a:t>
                </a:r>
                <a:r>
                  <a:rPr lang="en-GB" altLang="en-US" sz="2200" u="sng" dirty="0"/>
                  <a:t>random</a:t>
                </a:r>
                <a:r>
                  <a:rPr lang="en-GB" altLang="en-US" sz="2200" dirty="0"/>
                  <a:t> </a:t>
                </a:r>
                <a:r>
                  <a:rPr lang="en-GB" altLang="en-US" sz="2200" i="1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GB" altLang="en-US" sz="220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GB" altLang="en-US" sz="2200" dirty="0"/>
                  <a:t> it is hard to find </a:t>
                </a:r>
                <a:r>
                  <a:rPr lang="en-GB" altLang="en-US" sz="2200" i="1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GB" altLang="en-US" sz="2200" dirty="0"/>
                  <a:t>, </a:t>
                </a:r>
                <a:r>
                  <a:rPr lang="en-GB" altLang="en-US" sz="2200" u="sng" dirty="0"/>
                  <a:t>or any </a:t>
                </a:r>
                <a:r>
                  <a:rPr lang="en-GB" altLang="en-US" sz="2200" i="1" u="sng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x' </a:t>
                </a:r>
                <a:r>
                  <a:rPr lang="en-GB" altLang="en-US" sz="2200" dirty="0" err="1"/>
                  <a:t>s.t.</a:t>
                </a:r>
                <a:r>
                  <a:rPr lang="en-GB" altLang="en-US" sz="2200" i="1" dirty="0"/>
                  <a:t> </a:t>
                </a:r>
                <a:r>
                  <a:rPr lang="en-GB" altLang="en-US" sz="2200" i="1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h(x')=h(x)</a:t>
                </a:r>
                <a:endParaRPr lang="en-GB" altLang="en-US" sz="2200" kern="0" dirty="0">
                  <a:solidFill>
                    <a:srgbClr val="0000FF"/>
                  </a:solidFill>
                </a:endParaRPr>
              </a:p>
              <a:p>
                <a:pPr marL="342900" lvl="1" indent="0" defTabSz="449263" eaLnBrk="1" hangingPunct="1">
                  <a:lnSpc>
                    <a:spcPct val="110000"/>
                  </a:lnSpc>
                  <a:spcBef>
                    <a:spcPts val="500"/>
                  </a:spcBef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kern="0" dirty="0">
                    <a:solidFill>
                      <a:srgbClr val="FF00FF"/>
                    </a:solidFill>
                  </a:rPr>
                  <a:t>Compare to: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kern="0" dirty="0">
                    <a:solidFill>
                      <a:srgbClr val="0000FF"/>
                    </a:solidFill>
                  </a:rPr>
                  <a:t>Collision-Resistance (CRHF): </a:t>
                </a:r>
                <a:r>
                  <a:rPr lang="en-GB" altLang="en-US" sz="2200" kern="0" dirty="0"/>
                  <a:t>hard to find any collision, i.e., any </a:t>
                </a:r>
                <a14:m>
                  <m:oMath xmlns:m="http://schemas.openxmlformats.org/officeDocument/2006/math">
                    <m:r>
                      <a:rPr lang="en-US" altLang="en-US" sz="2200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GB" altLang="en-US" sz="2200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GB" altLang="en-US" sz="2200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altLang="en-US" sz="2200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GB" altLang="en-US" sz="2200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GB" altLang="en-US" sz="2200" i="1" kern="0" dirty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’</m:t>
                        </m:r>
                      </m:e>
                    </m:d>
                  </m:oMath>
                </a14:m>
                <a:r>
                  <a:rPr lang="en-GB" altLang="en-US" sz="2200" i="1" kern="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GB" altLang="en-US" sz="2200" kern="0" dirty="0" err="1"/>
                  <a:t>s.t.</a:t>
                </a:r>
                <a:r>
                  <a:rPr lang="en-GB" altLang="en-US" sz="2200" kern="0" dirty="0"/>
                  <a:t> </a:t>
                </a:r>
                <a:r>
                  <a:rPr lang="en-GB" altLang="en-US" sz="2200" i="1" kern="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h(x')=h(x) and </a:t>
                </a:r>
                <a14:m>
                  <m:oMath xmlns:m="http://schemas.openxmlformats.org/officeDocument/2006/math"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’</m:t>
                    </m:r>
                  </m:oMath>
                </a14:m>
                <a:endParaRPr lang="en-GB" altLang="en-US" sz="2200" i="1" kern="0" dirty="0">
                  <a:solidFill>
                    <a:srgbClr val="006633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kern="0" dirty="0">
                    <a:solidFill>
                      <a:srgbClr val="0000FF"/>
                    </a:solidFill>
                  </a:rPr>
                  <a:t>Second-preimage resistance (SPR): </a:t>
                </a:r>
                <a:r>
                  <a:rPr lang="en-GB" altLang="en-US" sz="2200" kern="0" dirty="0"/>
                  <a:t>hard to find a collision with </a:t>
                </a:r>
                <a:r>
                  <a:rPr lang="en-GB" altLang="en-US" sz="2200" u="sng" kern="0" dirty="0"/>
                  <a:t>random</a:t>
                </a:r>
                <a:r>
                  <a:rPr lang="en-GB" altLang="en-US" sz="2200" kern="0" dirty="0"/>
                  <a:t> </a:t>
                </a:r>
                <a14:m>
                  <m:oMath xmlns:m="http://schemas.openxmlformats.org/officeDocument/2006/math"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GB" altLang="en-US" sz="2200" kern="0" dirty="0"/>
                  <a:t>, i.e.,</a:t>
                </a:r>
                <a14:m>
                  <m:oMath xmlns:m="http://schemas.openxmlformats.org/officeDocument/2006/math">
                    <m:r>
                      <a:rPr lang="en-US" altLang="en-US" sz="2200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’</m:t>
                    </m:r>
                  </m:oMath>
                </a14:m>
                <a:r>
                  <a:rPr lang="en-GB" altLang="en-US" sz="2200" i="1" kern="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GB" altLang="en-US" sz="2200" kern="0" dirty="0" err="1"/>
                  <a:t>s.t.</a:t>
                </a:r>
                <a:r>
                  <a:rPr lang="en-GB" altLang="en-US" sz="2200" kern="0" dirty="0"/>
                  <a:t> </a:t>
                </a:r>
                <a:r>
                  <a:rPr lang="en-GB" altLang="en-US" sz="2200" i="1" kern="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h(x')=h(x) and </a:t>
                </a:r>
                <a14:m>
                  <m:oMath xmlns:m="http://schemas.openxmlformats.org/officeDocument/2006/math"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GB" altLang="en-US" sz="2200" i="1" kern="0" dirty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’</m:t>
                    </m:r>
                  </m:oMath>
                </a14:m>
                <a:endParaRPr lang="en-GB" altLang="en-US" sz="2200" kern="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098" y="3261901"/>
                <a:ext cx="8432894" cy="2866363"/>
              </a:xfrm>
              <a:prstGeom prst="rect">
                <a:avLst/>
              </a:prstGeom>
              <a:blipFill>
                <a:blip r:embed="rId3"/>
                <a:stretch>
                  <a:fillRect t="-881" b="-30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561975" y="244475"/>
            <a:ext cx="7772400" cy="7953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defTabSz="449263" eaLnBrk="1" hangingPunct="1">
              <a:buClr>
                <a:srgbClr val="CC99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000" dirty="0"/>
              <a:t>One-Way Function (OWF)</a:t>
            </a:r>
          </a:p>
        </p:txBody>
      </p:sp>
      <p:pic>
        <p:nvPicPr>
          <p:cNvPr id="5" name="Picture 4" descr="A diagram of a function&#10;&#10;Description automatically generated">
            <a:extLst>
              <a:ext uri="{FF2B5EF4-FFF2-40B4-BE49-F238E27FC236}">
                <a16:creationId xmlns:a16="http://schemas.microsoft.com/office/drawing/2014/main" id="{01F8B2A7-7B64-67F0-387C-A0D581B958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26" y="850079"/>
            <a:ext cx="6553200" cy="24118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54C6E0-907C-53B1-BCEA-D91879FC84EA}"/>
              </a:ext>
            </a:extLst>
          </p:cNvPr>
          <p:cNvSpPr/>
          <p:nvPr/>
        </p:nvSpPr>
        <p:spPr bwMode="auto">
          <a:xfrm>
            <a:off x="4448175" y="2886029"/>
            <a:ext cx="723014" cy="2604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CF96E-6FF8-0445-B007-25EE9D9F4E6F}"/>
              </a:ext>
            </a:extLst>
          </p:cNvPr>
          <p:cNvSpPr txBox="1"/>
          <p:nvPr/>
        </p:nvSpPr>
        <p:spPr>
          <a:xfrm>
            <a:off x="4616634" y="2835324"/>
            <a:ext cx="648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C839C-FB19-49C3-0501-76395A544300}"/>
              </a:ext>
            </a:extLst>
          </p:cNvPr>
          <p:cNvSpPr txBox="1"/>
          <p:nvPr/>
        </p:nvSpPr>
        <p:spPr>
          <a:xfrm>
            <a:off x="2938100" y="2805211"/>
            <a:ext cx="1662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Adversary wins if:</a:t>
            </a:r>
          </a:p>
        </p:txBody>
      </p:sp>
    </p:spTree>
    <p:extLst>
      <p:ext uri="{BB962C8B-B14F-4D97-AF65-F5344CB8AC3E}">
        <p14:creationId xmlns:p14="http://schemas.microsoft.com/office/powerpoint/2010/main" val="1748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39943"/>
            <a:ext cx="8686800" cy="4981575"/>
          </a:xfrm>
        </p:spPr>
        <p:txBody>
          <a:bodyPr/>
          <a:lstStyle/>
          <a:p>
            <a:r>
              <a:rPr lang="en-US" dirty="0"/>
              <a:t>Let </a:t>
            </a:r>
            <a:r>
              <a:rPr lang="en-GB" altLang="en-US" sz="3200" i="1" dirty="0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altLang="en-US" sz="3200" i="1" baseline="-25000" dirty="0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altLang="en-US" sz="3200" i="1" dirty="0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, h</a:t>
            </a:r>
            <a:r>
              <a:rPr lang="en-GB" altLang="en-US" sz="3200" i="1" baseline="-25000" dirty="0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/>
              <a:t> be </a:t>
            </a:r>
            <a:r>
              <a:rPr lang="en-US" u="sng" dirty="0"/>
              <a:t>both</a:t>
            </a:r>
            <a:r>
              <a:rPr lang="en-US" dirty="0"/>
              <a:t> CRHF and OWF</a:t>
            </a:r>
          </a:p>
          <a:p>
            <a:r>
              <a:rPr lang="en-US" dirty="0"/>
              <a:t>Use them to construct:</a:t>
            </a:r>
          </a:p>
          <a:p>
            <a:pPr lvl="1"/>
            <a:r>
              <a:rPr lang="en-GB" altLang="en-US" sz="2800" i="1" dirty="0" err="1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altLang="en-US" sz="2800" i="1" baseline="-25000" dirty="0" err="1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CRHF</a:t>
            </a:r>
            <a:r>
              <a:rPr lang="en-US" dirty="0"/>
              <a:t> - CRHF but </a:t>
            </a:r>
            <a:r>
              <a:rPr lang="en-US" u="sng" dirty="0"/>
              <a:t>not</a:t>
            </a:r>
            <a:r>
              <a:rPr lang="en-US" dirty="0"/>
              <a:t> OWF</a:t>
            </a:r>
          </a:p>
          <a:p>
            <a:pPr lvl="1"/>
            <a:r>
              <a:rPr lang="en-GB" altLang="en-US" sz="2800" i="1" dirty="0" err="1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altLang="en-US" sz="2800" i="1" baseline="-25000" dirty="0" err="1">
                <a:solidFill>
                  <a:srgbClr val="006633"/>
                </a:solidFill>
                <a:latin typeface="Times New Roman" pitchFamily="18" charset="0"/>
                <a:cs typeface="Times New Roman" pitchFamily="18" charset="0"/>
              </a:rPr>
              <a:t>OWF</a:t>
            </a:r>
            <a:r>
              <a:rPr lang="en-US" dirty="0"/>
              <a:t>  - OWF but not CRHF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DA6FC6-FE3D-4F44-AA45-B28E60E0E1EC}" type="slidenum">
              <a:rPr lang="he-IL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759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9943"/>
                <a:ext cx="8686800" cy="4981575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GB" altLang="en-US" sz="3200" i="1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GB" altLang="en-US" sz="3200" i="1" baseline="-2500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GB" altLang="en-US" sz="3200" i="1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, h</a:t>
                </a:r>
                <a:r>
                  <a:rPr lang="en-GB" altLang="en-US" sz="3200" i="1" baseline="-25000" dirty="0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dirty="0"/>
                  <a:t> be </a:t>
                </a:r>
                <a:r>
                  <a:rPr lang="en-US" u="sng" dirty="0"/>
                  <a:t>both</a:t>
                </a:r>
                <a:r>
                  <a:rPr lang="en-US" dirty="0"/>
                  <a:t> CRHF and OWF</a:t>
                </a:r>
              </a:p>
              <a:p>
                <a:r>
                  <a:rPr lang="en-US" dirty="0"/>
                  <a:t>Use them to construct:</a:t>
                </a:r>
              </a:p>
              <a:p>
                <a:pPr lvl="1"/>
                <a:r>
                  <a:rPr lang="en-GB" altLang="en-US" sz="2800" i="1" dirty="0" err="1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GB" altLang="en-US" sz="2800" i="1" baseline="-25000" dirty="0" err="1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CRHF</a:t>
                </a:r>
                <a:r>
                  <a:rPr lang="en-US" dirty="0"/>
                  <a:t> - CRHF but </a:t>
                </a:r>
                <a:r>
                  <a:rPr lang="en-US" u="sng" dirty="0"/>
                  <a:t>not</a:t>
                </a:r>
                <a:r>
                  <a:rPr lang="en-US" dirty="0"/>
                  <a:t> OWF</a:t>
                </a:r>
              </a:p>
              <a:p>
                <a:pPr lvl="1"/>
                <a:r>
                  <a:rPr lang="en-GB" altLang="en-US" sz="2800" i="1" dirty="0" err="1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GB" altLang="en-US" sz="2800" i="1" baseline="-25000" dirty="0" err="1">
                    <a:solidFill>
                      <a:srgbClr val="006633"/>
                    </a:solidFill>
                    <a:latin typeface="Times New Roman" pitchFamily="18" charset="0"/>
                    <a:cs typeface="Times New Roman" pitchFamily="18" charset="0"/>
                  </a:rPr>
                  <a:t>OWF</a:t>
                </a:r>
                <a:r>
                  <a:rPr lang="en-US" dirty="0"/>
                  <a:t>  - OWF but not CRHF</a:t>
                </a:r>
              </a:p>
              <a:p>
                <a:r>
                  <a:rPr lang="en-US" dirty="0"/>
                  <a:t>One possible solution: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  <m:t>ℎ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  <m:t>𝐶𝑅𝐻𝐹</m:t>
                        </m:r>
                      </m:sub>
                    </m:sSub>
                    <m:d>
                      <m:dPr>
                        <m:ctrlPr>
                          <a:rPr lang="en-US" altLang="en-US" sz="24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  <m:t>𝑚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en-US" sz="24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</m:ctrlPr>
                          </m:eqArrPr>
                          <m:e>
                            <m: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  <m: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  </m:t>
                            </m:r>
                            <m: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𝑖𝑓</m:t>
                            </m:r>
                            <m: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24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sz="24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=</m:t>
                            </m:r>
                            <m:r>
                              <a:rPr lang="en-US" altLang="en-US" sz="24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GB" altLang="en-US" sz="2400" i="1" dirty="0">
                                <a:solidFill>
                                  <a:srgbClr val="006633"/>
                                </a:solidFill>
                                <a:latin typeface="Times New Roman" pitchFamily="18" charset="0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m:rPr>
                                <m:nor/>
                              </m:rPr>
                              <a:rPr lang="en-GB" altLang="en-US" sz="2400" i="1" baseline="-25000" dirty="0">
                                <a:solidFill>
                                  <a:srgbClr val="006633"/>
                                </a:solidFill>
                                <a:latin typeface="Times New Roman" pitchFamily="18" charset="0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GB" altLang="en-US" sz="2400" i="1" dirty="0">
                                <a:solidFill>
                                  <a:srgbClr val="006633"/>
                                </a:solidFill>
                                <a:latin typeface="Times New Roman" pitchFamily="18" charset="0"/>
                                <a:cs typeface="Times New Roman" pitchFamily="18" charset="0"/>
                              </a:rPr>
                              <m:t>(m) </m:t>
                            </m:r>
                            <m:r>
                              <m:rPr>
                                <m:nor/>
                              </m:rPr>
                              <a:rPr lang="en-US" altLang="en-US" sz="2400" b="0" i="1" dirty="0" smtClean="0">
                                <a:solidFill>
                                  <a:srgbClr val="006633"/>
                                </a:solidFill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altLang="en-US" sz="2400" i="1" dirty="0">
                                <a:solidFill>
                                  <a:srgbClr val="006633"/>
                                </a:solidFill>
                                <a:latin typeface="Times New Roman" pitchFamily="18" charset="0"/>
                                <a:cs typeface="Times New Roman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  <m:t>ℎ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  <m:t>𝑂𝑊𝐹</m:t>
                        </m:r>
                      </m:sub>
                    </m:sSub>
                    <m:d>
                      <m:dPr>
                        <m:ctrlPr>
                          <a:rPr lang="en-US" altLang="en-US" sz="28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  <m:t>𝑚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006633"/>
                        </a:solidFill>
                        <a:latin typeface="Cambria Math" panose="02040503050406030204" pitchFamily="18" charset="0"/>
                        <a:cs typeface="Times New Roman" pitchFamily="18" charset="0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en-US" sz="2800" b="0" i="1" smtClean="0">
                            <a:solidFill>
                              <a:srgbClr val="006633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𝑖𝑓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sz="2800" b="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=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2800" i="1" smtClean="0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2800" b="0" i="1" smtClean="0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en-US" sz="2800" b="0" i="1" smtClean="0">
                                            <a:solidFill>
                                              <a:srgbClr val="006633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800" b="0" i="1" smtClean="0">
                                            <a:solidFill>
                                              <a:srgbClr val="006633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  <a:sym typeface="Symbol" panose="05050102010706020507" pitchFamily="18" charset="2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en-US" sz="2800" b="0" i="1" smtClean="0">
                                            <a:solidFill>
                                              <a:srgbClr val="006633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  <a:sym typeface="Symbol" panose="05050102010706020507" pitchFamily="18" charset="2"/>
                                          </a:rPr>
                                          <m:t>1..</m:t>
                                        </m:r>
                                        <m:r>
                                          <a:rPr lang="en-US" altLang="en-US" sz="2800" b="0" i="1" smtClean="0">
                                            <a:solidFill>
                                              <a:srgbClr val="006633"/>
                                            </a:solidFill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  <a:sym typeface="Symbol" panose="05050102010706020507" pitchFamily="18" charset="2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en-US" sz="2800" b="0" i="1" smtClean="0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  <m:t>⨁</m:t>
                                    </m:r>
                                    <m:r>
                                      <a:rPr lang="en-US" altLang="en-US" sz="2800" b="0" i="1" smtClean="0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altLang="en-US" sz="2800" b="0" i="1" smtClean="0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en-US" sz="2800" i="1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2800" i="1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  <m:t>𝑚</m:t>
                                    </m:r>
                                    <m:r>
                                      <a:rPr lang="en-US" altLang="en-US" sz="2800" b="0" i="1" smtClean="0">
                                        <a:solidFill>
                                          <a:srgbClr val="006633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  <a:sym typeface="Symbol" panose="05050102010706020507" pitchFamily="18" charset="2"/>
                                      </a:rPr>
                                      <m:t>′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𝑖𝑓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1..</m:t>
                                </m:r>
                                <m:r>
                                  <a:rPr lang="en-US" altLang="en-US" sz="2800" i="1">
                                    <a:solidFill>
                                      <a:srgbClr val="006633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  <a:sym typeface="Symbol" panose="05050102010706020507" pitchFamily="18" charset="2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||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  <m:r>
                              <a:rPr lang="en-US" altLang="en-US" sz="2800" b="0" i="1" smtClean="0">
                                <a:solidFill>
                                  <a:srgbClr val="006633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  <a:sym typeface="Symbol" panose="05050102010706020507" pitchFamily="18" charset="2"/>
                              </a:rPr>
                              <m:t>′</m:t>
                            </m:r>
                          </m:e>
                        </m:eqArr>
                      </m:e>
                    </m:d>
                  </m:oMath>
                </a14:m>
                <a:endParaRPr lang="en-GB" altLang="en-US" sz="2800" i="1" dirty="0">
                  <a:solidFill>
                    <a:srgbClr val="006633"/>
                  </a:solidFill>
                  <a:latin typeface="Times New Roman" pitchFamily="18" charset="0"/>
                  <a:cs typeface="Times New Roman" pitchFamily="18" charset="0"/>
                  <a:sym typeface="Symbol" panose="05050102010706020507" pitchFamily="18" charset="2"/>
                </a:endParaRPr>
              </a:p>
              <a:p>
                <a:pPr marL="344487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9943"/>
                <a:ext cx="8686800" cy="4981575"/>
              </a:xfrm>
              <a:blipFill>
                <a:blip r:embed="rId2"/>
                <a:stretch>
                  <a:fillRect l="-585" t="-1527" b="-73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DA6FC6-FE3D-4F44-AA45-B28E60E0E1EC}" type="slidenum">
              <a:rPr lang="he-IL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660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all of that tell you about 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39943"/>
            <a:ext cx="8686800" cy="4981575"/>
          </a:xfrm>
        </p:spPr>
        <p:txBody>
          <a:bodyPr/>
          <a:lstStyle/>
          <a:p>
            <a:r>
              <a:rPr lang="en-GB" altLang="en-US" sz="2800" i="1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… the relation between CRHF, TCR, SPR, and OWF?</a:t>
            </a:r>
          </a:p>
          <a:p>
            <a:pPr lvl="1"/>
            <a:r>
              <a:rPr lang="en-GB" altLang="en-US" sz="24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CRHF vs. TCR?</a:t>
            </a:r>
          </a:p>
          <a:p>
            <a:pPr lvl="1"/>
            <a:r>
              <a:rPr lang="en-GB" altLang="en-US" sz="24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CRHF vs. SPR?</a:t>
            </a:r>
          </a:p>
          <a:p>
            <a:pPr lvl="1"/>
            <a:r>
              <a:rPr lang="en-GB" altLang="en-US" sz="24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TCR vs. SPR?</a:t>
            </a:r>
          </a:p>
          <a:p>
            <a:pPr lvl="1"/>
            <a:r>
              <a:rPr lang="en-GB" altLang="en-US" sz="24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CRHF vs. OWF?</a:t>
            </a:r>
          </a:p>
          <a:p>
            <a:pPr lvl="1"/>
            <a:r>
              <a:rPr lang="en-GB" altLang="en-US" sz="24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SPR vs. OWF?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DA6FC6-FE3D-4F44-AA45-B28E60E0E1EC}" type="slidenum">
              <a:rPr lang="he-IL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259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B647E9-0097-4ABD-9993-9790A29446C2}" type="slidenum">
              <a:rPr lang="he-IL" altLang="en-US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8451273" y="5957455"/>
            <a:ext cx="235527" cy="1385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188154" y="1340222"/>
                <a:ext cx="8392319" cy="35679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dirty="0"/>
                  <a:t>It is desired property of hash functions. 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dirty="0"/>
                  <a:t>‘If input is sufficiently random, then output is random’</a:t>
                </a:r>
              </a:p>
              <a:p>
                <a:pPr marL="668338" lvl="1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b="1" dirty="0">
                    <a:solidFill>
                      <a:srgbClr val="FF00FF"/>
                    </a:solidFill>
                  </a:rPr>
                  <a:t>Randomness extraction</a:t>
                </a:r>
                <a:r>
                  <a:rPr lang="en-US" altLang="en-US" sz="2800" dirty="0">
                    <a:solidFill>
                      <a:srgbClr val="FF00FF"/>
                    </a:solidFill>
                  </a:rPr>
                  <a:t>: </a:t>
                </a:r>
                <a:r>
                  <a:rPr lang="en-US" altLang="en-US" sz="2800" dirty="0"/>
                  <a:t>if any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𝑚</m:t>
                    </m:r>
                  </m:oMath>
                </a14:m>
                <a:r>
                  <a:rPr lang="en-US" altLang="en-US" sz="2800" dirty="0"/>
                  <a:t> input bits are random </a:t>
                </a:r>
                <a:r>
                  <a:rPr lang="en-US" altLang="en-US" sz="2800" dirty="0">
                    <a:sym typeface="Wingdings" panose="05000000000000000000" pitchFamily="2" charset="2"/>
                  </a:rPr>
                  <a:t></a:t>
                </a:r>
                <a:r>
                  <a:rPr lang="en-US" altLang="en-US" sz="2800" dirty="0"/>
                  <a:t> all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800" dirty="0"/>
                  <a:t> output bits are pseudorandom</a:t>
                </a:r>
              </a:p>
              <a:p>
                <a:pPr marL="1020763" lvl="2" defTabSz="449263" eaLnBrk="1" hangingPunct="1">
                  <a:lnSpc>
                    <a:spcPct val="110000"/>
                  </a:lnSpc>
                  <a:spcBef>
                    <a:spcPts val="50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dirty="0"/>
                  <a:t>For sufficiently large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𝑚</m:t>
                    </m:r>
                  </m:oMath>
                </a14:m>
                <a:r>
                  <a:rPr lang="en-US" altLang="en-US" sz="2800" dirty="0"/>
                  <a:t> </a:t>
                </a: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154" y="1340222"/>
                <a:ext cx="8392319" cy="3567901"/>
              </a:xfrm>
              <a:prstGeom prst="rect">
                <a:avLst/>
              </a:prstGeom>
              <a:blipFill>
                <a:blip r:embed="rId3"/>
                <a:stretch>
                  <a:fillRect t="-1418" b="-35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561975" y="244475"/>
            <a:ext cx="8124824" cy="802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defTabSz="449263" eaLnBrk="1" hangingPunct="1">
              <a:buClr>
                <a:srgbClr val="CC99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000" dirty="0"/>
              <a:t>Randomness Extraction  </a:t>
            </a:r>
          </a:p>
        </p:txBody>
      </p:sp>
    </p:spTree>
    <p:extLst>
      <p:ext uri="{BB962C8B-B14F-4D97-AF65-F5344CB8AC3E}">
        <p14:creationId xmlns:p14="http://schemas.microsoft.com/office/powerpoint/2010/main" val="3084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600" dirty="0">
                <a:sym typeface="Wingdings" panose="05000000000000000000" pitchFamily="2" charset="2"/>
              </a:rPr>
              <a:t>Chapter 3</a:t>
            </a:r>
          </a:p>
          <a:p>
            <a:pPr lvl="1"/>
            <a:r>
              <a:rPr lang="en-US" altLang="he-IL" dirty="0">
                <a:sym typeface="Wingdings" panose="05000000000000000000" pitchFamily="2" charset="2"/>
              </a:rPr>
              <a:t>Section 3.1, </a:t>
            </a:r>
          </a:p>
          <a:p>
            <a:pPr lvl="1"/>
            <a:r>
              <a:rPr lang="en-US" altLang="he-IL" dirty="0">
                <a:sym typeface="Wingdings" panose="05000000000000000000" pitchFamily="2" charset="2"/>
              </a:rPr>
              <a:t>Section 3.2,</a:t>
            </a:r>
          </a:p>
          <a:p>
            <a:pPr lvl="1"/>
            <a:r>
              <a:rPr lang="en-US" altLang="he-IL" dirty="0">
                <a:sym typeface="Wingdings" panose="05000000000000000000" pitchFamily="2" charset="2"/>
              </a:rPr>
              <a:t>Section 3.3, (except 3.3.6, and from 3.3.5 only what we covered in class)</a:t>
            </a:r>
          </a:p>
          <a:p>
            <a:pPr lvl="1"/>
            <a:r>
              <a:rPr lang="en-US" altLang="he-IL" dirty="0">
                <a:sym typeface="Wingdings" panose="05000000000000000000" pitchFamily="2" charset="2"/>
              </a:rPr>
              <a:t>Section 3.4 (except 3.4.2), </a:t>
            </a:r>
          </a:p>
          <a:p>
            <a:pPr lvl="1"/>
            <a:r>
              <a:rPr lang="en-US" altLang="he-IL" dirty="0">
                <a:sym typeface="Wingdings" panose="05000000000000000000" pitchFamily="2" charset="2"/>
              </a:rPr>
              <a:t>Section 3.5 (only its introduction, i.e., text before 3.5.1),</a:t>
            </a:r>
            <a:endParaRPr lang="en-US" alt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9480272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405485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21590</TotalTime>
  <Words>3035</Words>
  <Application>Microsoft Macintosh PowerPoint</Application>
  <PresentationFormat>On-screen Show (4:3)</PresentationFormat>
  <Paragraphs>532</Paragraphs>
  <Slides>35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Cambria Math</vt:lpstr>
      <vt:lpstr>Garamond</vt:lpstr>
      <vt:lpstr>Tahoma</vt:lpstr>
      <vt:lpstr>Times New Roman</vt:lpstr>
      <vt:lpstr>Wingdings</vt:lpstr>
      <vt:lpstr>Edge</vt:lpstr>
      <vt:lpstr>CSE 3400/ CSE 5850 - Introduction to Cryptography &amp; Cybersecurity  / Introduction to Cybersecurity  Lecture 6 Hash Functions – Part I </vt:lpstr>
      <vt:lpstr>Outline</vt:lpstr>
      <vt:lpstr>Hash Functions</vt:lpstr>
      <vt:lpstr>Hash Functions: Simple Examples</vt:lpstr>
      <vt:lpstr>Motivation: Hashing for Efficiency</vt:lpstr>
      <vt:lpstr>Collisions?</vt:lpstr>
      <vt:lpstr>Security Goal: Collision Resistance </vt:lpstr>
      <vt:lpstr>Collision Resistant Hash Function (CRHF)</vt:lpstr>
      <vt:lpstr>Keyless Collision Resistant Hash Function (CRHF)</vt:lpstr>
      <vt:lpstr>Keyless CRHF Do Not Exist!</vt:lpstr>
      <vt:lpstr>Keyed CRHF</vt:lpstr>
      <vt:lpstr>Keyed CRHF - Definition</vt:lpstr>
      <vt:lpstr>PowerPoint Presentation</vt:lpstr>
      <vt:lpstr>PowerPoint Presentation</vt:lpstr>
      <vt:lpstr>The Birthday Attack (‘Paradox’)</vt:lpstr>
      <vt:lpstr>PowerPoint Presentation</vt:lpstr>
      <vt:lpstr>Collision-Resistance: Applications</vt:lpstr>
      <vt:lpstr>CRHF and Software Distribution</vt:lpstr>
      <vt:lpstr>CRHF: secure, efficient SW distribution</vt:lpstr>
      <vt:lpstr>Other Notions of Security</vt:lpstr>
      <vt:lpstr>Target CRHF (TCR Hash Function)</vt:lpstr>
      <vt:lpstr>TCR and Birthday Paradox?</vt:lpstr>
      <vt:lpstr>We (mostly) focus on keyless hash… </vt:lpstr>
      <vt:lpstr>2nd-Preimage-Resistant Hash (SPR)</vt:lpstr>
      <vt:lpstr>CRHF/SPR vs. Applications</vt:lpstr>
      <vt:lpstr>SPR: Collisions to Chosen Messages</vt:lpstr>
      <vt:lpstr>SPR: collisions to chosen message</vt:lpstr>
      <vt:lpstr>Examples</vt:lpstr>
      <vt:lpstr>PowerPoint Presentation</vt:lpstr>
      <vt:lpstr>Exercise</vt:lpstr>
      <vt:lpstr>Exercise</vt:lpstr>
      <vt:lpstr>What does all of that tell you about …</vt:lpstr>
      <vt:lpstr>PowerPoint Presentation</vt:lpstr>
      <vt:lpstr>Covered Material From the Textbook</vt:lpstr>
      <vt:lpstr>PowerPoint Presentation</vt:lpstr>
    </vt:vector>
  </TitlesOfParts>
  <Company>CS dept, Bar Ilan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Hashing</dc:title>
  <dc:creator>Amir Herzberg</dc:creator>
  <cp:lastModifiedBy>Almashaqbeh, Ghada</cp:lastModifiedBy>
  <cp:revision>84</cp:revision>
  <cp:lastPrinted>1601-01-01T00:00:00Z</cp:lastPrinted>
  <dcterms:created xsi:type="dcterms:W3CDTF">2003-03-23T06:19:47Z</dcterms:created>
  <dcterms:modified xsi:type="dcterms:W3CDTF">2026-10-13T13:12:10Z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