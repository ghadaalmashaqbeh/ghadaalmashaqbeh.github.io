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ink/ink1.xml" ContentType="application/inkml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26"/>
  </p:notesMasterIdLst>
  <p:sldIdLst>
    <p:sldId id="590" r:id="rId2"/>
    <p:sldId id="591" r:id="rId3"/>
    <p:sldId id="368" r:id="rId4"/>
    <p:sldId id="369" r:id="rId5"/>
    <p:sldId id="420" r:id="rId6"/>
    <p:sldId id="272" r:id="rId7"/>
    <p:sldId id="269" r:id="rId8"/>
    <p:sldId id="448" r:id="rId9"/>
    <p:sldId id="602" r:id="rId10"/>
    <p:sldId id="275" r:id="rId11"/>
    <p:sldId id="464" r:id="rId12"/>
    <p:sldId id="278" r:id="rId13"/>
    <p:sldId id="603" r:id="rId14"/>
    <p:sldId id="475" r:id="rId15"/>
    <p:sldId id="279" r:id="rId16"/>
    <p:sldId id="280" r:id="rId17"/>
    <p:sldId id="281" r:id="rId18"/>
    <p:sldId id="604" r:id="rId19"/>
    <p:sldId id="466" r:id="rId20"/>
    <p:sldId id="457" r:id="rId21"/>
    <p:sldId id="458" r:id="rId22"/>
    <p:sldId id="461" r:id="rId23"/>
    <p:sldId id="601" r:id="rId24"/>
    <p:sldId id="592" r:id="rId25"/>
  </p:sldIdLst>
  <p:sldSz cx="9144000" cy="6858000" type="screen4x3"/>
  <p:notesSz cx="6778625" cy="9478963"/>
  <p:defaultTextStyle>
    <a:defPPr>
      <a:defRPr lang="en-GB"/>
    </a:defPPr>
    <a:lvl1pPr algn="l" defTabSz="457200" rtl="0" fontAlgn="base">
      <a:spcBef>
        <a:spcPct val="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742950" indent="-285750" algn="l" defTabSz="457200" rtl="0" fontAlgn="base">
      <a:spcBef>
        <a:spcPct val="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1143000" indent="-228600" algn="l" defTabSz="457200" rtl="0" fontAlgn="base">
      <a:spcBef>
        <a:spcPct val="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600200" indent="-228600" algn="l" defTabSz="457200" rtl="0" fontAlgn="base">
      <a:spcBef>
        <a:spcPct val="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2057400" indent="-228600" algn="l" defTabSz="457200" rtl="0" fontAlgn="base">
      <a:spcBef>
        <a:spcPct val="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3884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55422D-8674-4C6F-9783-9A9A3B247F4D}" v="982" dt="2020-09-24T13:57:50.7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78"/>
    <p:restoredTop sz="94659"/>
  </p:normalViewPr>
  <p:slideViewPr>
    <p:cSldViewPr snapToGrid="0">
      <p:cViewPr varScale="1">
        <p:scale>
          <a:sx n="146" d="100"/>
          <a:sy n="146" d="100"/>
        </p:scale>
        <p:origin x="1352" y="176"/>
      </p:cViewPr>
      <p:guideLst>
        <p:guide orient="horz" pos="3884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781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0-09-24T13:54:15.476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AutoShape 1"/>
          <p:cNvSpPr>
            <a:spLocks noChangeArrowheads="1"/>
          </p:cNvSpPr>
          <p:nvPr/>
        </p:nvSpPr>
        <p:spPr bwMode="auto">
          <a:xfrm>
            <a:off x="0" y="0"/>
            <a:ext cx="6778625" cy="9478963"/>
          </a:xfrm>
          <a:prstGeom prst="roundRect">
            <a:avLst>
              <a:gd name="adj" fmla="val 23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en-US"/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hdr"/>
          </p:nvPr>
        </p:nvSpPr>
        <p:spPr bwMode="auto">
          <a:xfrm>
            <a:off x="0" y="0"/>
            <a:ext cx="2936875" cy="471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040" tIns="47520" rIns="95040" bIns="47520" numCol="1" anchor="t" anchorCtr="0" compatLnSpc="1">
            <a:prstTxWarp prst="textNoShape">
              <a:avLst/>
            </a:prstTxWarp>
          </a:bodyPr>
          <a:lstStyle>
            <a:lvl1pPr>
              <a:buSzPct val="45000"/>
              <a:buFont typeface="Wingdings" pitchFamily="2" charset="2"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3840163" y="0"/>
            <a:ext cx="2935287" cy="471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040" tIns="47520" rIns="95040" bIns="47520" numCol="1" anchor="t" anchorCtr="0" compatLnSpc="1">
            <a:prstTxWarp prst="textNoShape">
              <a:avLst/>
            </a:prstTxWarp>
          </a:bodyPr>
          <a:lstStyle>
            <a:lvl1pPr algn="r">
              <a:buSzPct val="45000"/>
              <a:buFont typeface="Wingdings" pitchFamily="2" charset="2"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r>
              <a:rPr lang="en-US"/>
              <a:t>11/13/11</a:t>
            </a:r>
          </a:p>
        </p:txBody>
      </p:sp>
      <p:sp>
        <p:nvSpPr>
          <p:cNvPr id="73733" name="Rectangle 4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1020763" y="711200"/>
            <a:ext cx="4735512" cy="3551238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/>
          </p:nvPr>
        </p:nvSpPr>
        <p:spPr bwMode="auto">
          <a:xfrm>
            <a:off x="677863" y="4500563"/>
            <a:ext cx="5421312" cy="426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040" tIns="47520" rIns="95040" bIns="475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en-US" noProof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/>
          </p:nvPr>
        </p:nvSpPr>
        <p:spPr bwMode="auto">
          <a:xfrm>
            <a:off x="0" y="9004300"/>
            <a:ext cx="2936875" cy="471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040" tIns="47520" rIns="95040" bIns="47520" numCol="1" anchor="b" anchorCtr="0" compatLnSpc="1">
            <a:prstTxWarp prst="textNoShape">
              <a:avLst/>
            </a:prstTxWarp>
          </a:bodyPr>
          <a:lstStyle>
            <a:lvl1pPr>
              <a:buSzPct val="45000"/>
              <a:buFont typeface="Wingdings" pitchFamily="2" charset="2"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r>
              <a:rPr lang="he-IL"/>
              <a:t>(c) Amir Herzberg, http://AmirHerzberg.com, Bar Ilan University</a:t>
            </a:r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/>
          </p:nvPr>
        </p:nvSpPr>
        <p:spPr bwMode="auto">
          <a:xfrm>
            <a:off x="3840163" y="9004300"/>
            <a:ext cx="2935287" cy="471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040" tIns="47520" rIns="95040" bIns="47520" numCol="1" anchor="b" anchorCtr="0" compatLnSpc="1">
            <a:prstTxWarp prst="textNoShape">
              <a:avLst/>
            </a:prstTxWarp>
          </a:bodyPr>
          <a:lstStyle>
            <a:lvl1pPr algn="r">
              <a:buSzPct val="45000"/>
              <a:buFont typeface="Wingdings" panose="05000000000000000000" pitchFamily="2" charset="2"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</a:lstStyle>
          <a:p>
            <a:fld id="{077B0F5D-97A0-433E-874F-EB5F4B0DB2F3}" type="slidenum">
              <a:rPr lang="he-IL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201165423"/>
      </p:ext>
    </p:extLst>
  </p:cSld>
  <p:clrMap bg1="lt1" tx1="dk1" bg2="lt2" tx2="dk2" accent1="accent1" accent2="accent2" accent3="accent3" accent4="accent4" accent5="accent5" accent6="accent6" hlink="hlink" folHlink="folHlink"/>
  <p:hf hdr="0"/>
  <p:notesStyle>
    <a:lvl1pPr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1pPr>
    <a:lvl2pPr marL="742950" indent="-28575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2pPr>
    <a:lvl3pPr marL="11430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3pPr>
    <a:lvl4pPr marL="16002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4pPr>
    <a:lvl5pPr marL="20574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F01017-ADF1-4404-92FB-B874094C14FE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22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7124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45059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F2C770BE-29AC-4C3F-AD71-03AE56B6517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</a:t>
            </a:fld>
            <a:endParaRPr lang="en-US" altLang="he-IL" sz="1300"/>
          </a:p>
        </p:txBody>
      </p:sp>
      <p:sp>
        <p:nvSpPr>
          <p:cNvPr id="45060" name="Text Box 1"/>
          <p:cNvSpPr txBox="1">
            <a:spLocks noChangeArrowheads="1"/>
          </p:cNvSpPr>
          <p:nvPr/>
        </p:nvSpPr>
        <p:spPr bwMode="auto">
          <a:xfrm>
            <a:off x="4143375" y="9120188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B23C3C69-883B-4912-A991-3591F3DE4B50}" type="slidenum">
              <a:rPr lang="he-IL" altLang="he-IL" sz="1300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3</a:t>
            </a:fld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45061" name="Text Box 2"/>
          <p:cNvSpPr txBox="1">
            <a:spLocks noChangeArrowheads="1"/>
          </p:cNvSpPr>
          <p:nvPr/>
        </p:nvSpPr>
        <p:spPr bwMode="auto">
          <a:xfrm>
            <a:off x="0" y="9120188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45062" name="Text Box 3"/>
          <p:cNvSpPr txBox="1">
            <a:spLocks noChangeArrowheads="1"/>
          </p:cNvSpPr>
          <p:nvPr/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45063" name="Text Box 4"/>
          <p:cNvSpPr txBox="1">
            <a:spLocks noChangeArrowheads="1"/>
          </p:cNvSpPr>
          <p:nvPr/>
        </p:nvSpPr>
        <p:spPr bwMode="auto">
          <a:xfrm>
            <a:off x="4143375" y="0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300">
                <a:latin typeface="Arial" panose="020B0604020202020204" pitchFamily="34" charset="0"/>
              </a:rPr>
              <a:t>10/30/11</a:t>
            </a:r>
          </a:p>
        </p:txBody>
      </p:sp>
      <p:sp>
        <p:nvSpPr>
          <p:cNvPr id="45064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7300" y="720725"/>
            <a:ext cx="4800600" cy="360045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45065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74725" y="4560888"/>
            <a:ext cx="5365750" cy="4319587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6985322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45059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F2C770BE-29AC-4C3F-AD71-03AE56B6517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4</a:t>
            </a:fld>
            <a:endParaRPr lang="en-US" altLang="he-IL" sz="1300"/>
          </a:p>
        </p:txBody>
      </p:sp>
      <p:sp>
        <p:nvSpPr>
          <p:cNvPr id="45060" name="Text Box 1"/>
          <p:cNvSpPr txBox="1">
            <a:spLocks noChangeArrowheads="1"/>
          </p:cNvSpPr>
          <p:nvPr/>
        </p:nvSpPr>
        <p:spPr bwMode="auto">
          <a:xfrm>
            <a:off x="4143375" y="9120188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B23C3C69-883B-4912-A991-3591F3DE4B50}" type="slidenum">
              <a:rPr lang="he-IL" altLang="he-IL" sz="1300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4</a:t>
            </a:fld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45061" name="Text Box 2"/>
          <p:cNvSpPr txBox="1">
            <a:spLocks noChangeArrowheads="1"/>
          </p:cNvSpPr>
          <p:nvPr/>
        </p:nvSpPr>
        <p:spPr bwMode="auto">
          <a:xfrm>
            <a:off x="0" y="9120188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45062" name="Text Box 3"/>
          <p:cNvSpPr txBox="1">
            <a:spLocks noChangeArrowheads="1"/>
          </p:cNvSpPr>
          <p:nvPr/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45063" name="Text Box 4"/>
          <p:cNvSpPr txBox="1">
            <a:spLocks noChangeArrowheads="1"/>
          </p:cNvSpPr>
          <p:nvPr/>
        </p:nvSpPr>
        <p:spPr bwMode="auto">
          <a:xfrm>
            <a:off x="4143375" y="0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300">
                <a:latin typeface="Arial" panose="020B0604020202020204" pitchFamily="34" charset="0"/>
              </a:rPr>
              <a:t>10/30/11</a:t>
            </a:r>
          </a:p>
        </p:txBody>
      </p:sp>
      <p:sp>
        <p:nvSpPr>
          <p:cNvPr id="45064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7300" y="720725"/>
            <a:ext cx="4800600" cy="360045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45065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74725" y="4560888"/>
            <a:ext cx="5365750" cy="4319587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3626564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A7AB24D-294E-43B5-A171-136CA35513EA}" type="datetime1">
              <a:rPr lang="en-US" altLang="en-US" smtClean="0">
                <a:latin typeface="Arial" panose="020B0604020202020204" pitchFamily="34" charset="0"/>
                <a:cs typeface="Arial" panose="020B0604020202020204" pitchFamily="34" charset="0"/>
              </a:rPr>
              <a:pPr eaLnBrk="1" hangingPunct="1">
                <a:spcBef>
                  <a:spcPct val="0"/>
                </a:spcBef>
              </a:pPr>
              <a:t>9/24/26</a:t>
            </a:fld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9875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>
                <a:latin typeface="Arial" panose="020B0604020202020204" pitchFamily="34" charset="0"/>
                <a:cs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9876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B4AF251-9FF8-412D-BC95-B9499BDF9097}" type="slidenum">
              <a:rPr lang="he-IL" altLang="en-US">
                <a:latin typeface="Arial" panose="020B0604020202020204" pitchFamily="34" charset="0"/>
                <a:cs typeface="Arial" panose="020B0604020202020204" pitchFamily="34" charset="0"/>
              </a:rPr>
              <a:pPr eaLnBrk="1" hangingPunct="1">
                <a:spcBef>
                  <a:spcPct val="0"/>
                </a:spcBef>
              </a:pPr>
              <a:t>5</a:t>
            </a:fld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987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19175" y="711200"/>
            <a:ext cx="4738688" cy="3554413"/>
          </a:xfrm>
          <a:ln/>
        </p:spPr>
      </p:sp>
      <p:sp>
        <p:nvSpPr>
          <p:cNvPr id="7987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3288" y="4502150"/>
            <a:ext cx="4972050" cy="4265613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716627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83971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83972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AC9CE58-4F76-42F6-AE8C-BB3C3CE69485}" type="slidenum">
              <a:rPr lang="he-IL" altLang="en-US"/>
              <a:pPr eaLnBrk="1" hangingPunct="1">
                <a:spcBef>
                  <a:spcPct val="0"/>
                </a:spcBef>
              </a:pPr>
              <a:t>6</a:t>
            </a:fld>
            <a:endParaRPr lang="en-US" altLang="en-US"/>
          </a:p>
        </p:txBody>
      </p:sp>
      <p:sp>
        <p:nvSpPr>
          <p:cNvPr id="83973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AEFEAA72-16AD-422F-B56B-C8316EE381C3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6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3974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3975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3976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83977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3978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en-US"/>
          </a:p>
        </p:txBody>
      </p:sp>
    </p:spTree>
    <p:extLst>
      <p:ext uri="{BB962C8B-B14F-4D97-AF65-F5344CB8AC3E}">
        <p14:creationId xmlns:p14="http://schemas.microsoft.com/office/powerpoint/2010/main" val="20473212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80899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80900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47D0AA5-B163-4BB3-9941-7D469D3A5240}" type="slidenum">
              <a:rPr lang="he-IL" altLang="en-US"/>
              <a:pPr eaLnBrk="1" hangingPunct="1">
                <a:spcBef>
                  <a:spcPct val="0"/>
                </a:spcBef>
              </a:pPr>
              <a:t>7</a:t>
            </a:fld>
            <a:endParaRPr lang="en-US" altLang="en-US"/>
          </a:p>
        </p:txBody>
      </p:sp>
      <p:sp>
        <p:nvSpPr>
          <p:cNvPr id="80901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B1B3766E-FD1B-43DD-9075-196007BECDDC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7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0902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0903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0904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80905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0906" name="Text Box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Message sent together with </a:t>
            </a:r>
            <a:r>
              <a:rPr lang="en-US" altLang="en-US" i="1">
                <a:cs typeface="Times New Roman" panose="02020603050405020304" pitchFamily="18" charset="0"/>
              </a:rPr>
              <a:t>Tag=MAC</a:t>
            </a:r>
            <a:r>
              <a:rPr lang="en-US" altLang="en-US" i="1" baseline="-25000">
                <a:cs typeface="Times New Roman" panose="02020603050405020304" pitchFamily="18" charset="0"/>
              </a:rPr>
              <a:t>k</a:t>
            </a:r>
            <a:r>
              <a:rPr lang="en-US" altLang="en-US" i="1">
                <a:cs typeface="Times New Roman" panose="02020603050405020304" pitchFamily="18" charset="0"/>
              </a:rPr>
              <a:t>(m)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Received message, tag are valid </a:t>
            </a:r>
            <a:r>
              <a:rPr lang="en-US" altLang="en-US" i="1">
                <a:latin typeface="Arial" panose="020B0604020202020204" pitchFamily="34" charset="0"/>
                <a:cs typeface="Arial" panose="020B0604020202020204" pitchFamily="34" charset="0"/>
              </a:rPr>
              <a:t>iff </a:t>
            </a:r>
            <a:r>
              <a:rPr lang="en-US" altLang="en-US" i="1">
                <a:cs typeface="Times New Roman" panose="02020603050405020304" pitchFamily="18" charset="0"/>
              </a:rPr>
              <a:t>Tag=MAC</a:t>
            </a:r>
            <a:r>
              <a:rPr lang="en-US" altLang="en-US" i="1" baseline="-25000">
                <a:cs typeface="Times New Roman" panose="02020603050405020304" pitchFamily="18" charset="0"/>
              </a:rPr>
              <a:t>k</a:t>
            </a:r>
            <a:r>
              <a:rPr lang="en-US" altLang="en-US" i="1">
                <a:cs typeface="Times New Roman" panose="02020603050405020304" pitchFamily="18" charset="0"/>
              </a:rPr>
              <a:t>(m)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Times New Roman" panose="02020603050405020304" pitchFamily="18" charset="0"/>
              </a:rPr>
              <a:t>Efficient (often even more than shared-key encryption)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Times New Roman" panose="02020603050405020304" pitchFamily="18" charset="0"/>
              </a:rPr>
              <a:t>But: Alice can later deny having sent m to Bob (why?)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14934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80899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80900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47D0AA5-B163-4BB3-9941-7D469D3A5240}" type="slidenum">
              <a:rPr lang="he-IL" altLang="en-US"/>
              <a:pPr eaLnBrk="1" hangingPunct="1">
                <a:spcBef>
                  <a:spcPct val="0"/>
                </a:spcBef>
              </a:pPr>
              <a:t>8</a:t>
            </a:fld>
            <a:endParaRPr lang="en-US" altLang="en-US"/>
          </a:p>
        </p:txBody>
      </p:sp>
      <p:sp>
        <p:nvSpPr>
          <p:cNvPr id="80901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B1B3766E-FD1B-43DD-9075-196007BECDDC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8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0902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0903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0904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80905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0906" name="Text Box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Message sent together with </a:t>
            </a:r>
            <a:r>
              <a:rPr lang="en-US" altLang="en-US" i="1">
                <a:cs typeface="Times New Roman" panose="02020603050405020304" pitchFamily="18" charset="0"/>
              </a:rPr>
              <a:t>Tag=MAC</a:t>
            </a:r>
            <a:r>
              <a:rPr lang="en-US" altLang="en-US" i="1" baseline="-25000">
                <a:cs typeface="Times New Roman" panose="02020603050405020304" pitchFamily="18" charset="0"/>
              </a:rPr>
              <a:t>k</a:t>
            </a:r>
            <a:r>
              <a:rPr lang="en-US" altLang="en-US" i="1">
                <a:cs typeface="Times New Roman" panose="02020603050405020304" pitchFamily="18" charset="0"/>
              </a:rPr>
              <a:t>(m)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Received message, tag are valid </a:t>
            </a:r>
            <a:r>
              <a:rPr lang="en-US" altLang="en-US" i="1">
                <a:latin typeface="Arial" panose="020B0604020202020204" pitchFamily="34" charset="0"/>
                <a:cs typeface="Arial" panose="020B0604020202020204" pitchFamily="34" charset="0"/>
              </a:rPr>
              <a:t>iff </a:t>
            </a:r>
            <a:r>
              <a:rPr lang="en-US" altLang="en-US" i="1">
                <a:cs typeface="Times New Roman" panose="02020603050405020304" pitchFamily="18" charset="0"/>
              </a:rPr>
              <a:t>Tag=MAC</a:t>
            </a:r>
            <a:r>
              <a:rPr lang="en-US" altLang="en-US" i="1" baseline="-25000">
                <a:cs typeface="Times New Roman" panose="02020603050405020304" pitchFamily="18" charset="0"/>
              </a:rPr>
              <a:t>k</a:t>
            </a:r>
            <a:r>
              <a:rPr lang="en-US" altLang="en-US" i="1">
                <a:cs typeface="Times New Roman" panose="02020603050405020304" pitchFamily="18" charset="0"/>
              </a:rPr>
              <a:t>(m)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Times New Roman" panose="02020603050405020304" pitchFamily="18" charset="0"/>
              </a:rPr>
              <a:t>Efficient (often even more than shared-key encryption)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Times New Roman" panose="02020603050405020304" pitchFamily="18" charset="0"/>
              </a:rPr>
              <a:t>But: Alice can later deny having sent m to Bob (why?)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63759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80899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80900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47D0AA5-B163-4BB3-9941-7D469D3A5240}" type="slidenum">
              <a:rPr lang="he-IL" altLang="en-US"/>
              <a:pPr eaLnBrk="1" hangingPunct="1">
                <a:spcBef>
                  <a:spcPct val="0"/>
                </a:spcBef>
              </a:pPr>
              <a:t>9</a:t>
            </a:fld>
            <a:endParaRPr lang="en-US" altLang="en-US"/>
          </a:p>
        </p:txBody>
      </p:sp>
      <p:sp>
        <p:nvSpPr>
          <p:cNvPr id="80901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B1B3766E-FD1B-43DD-9075-196007BECDDC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9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0902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0903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0904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80905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0906" name="Text Box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Message sent together with </a:t>
            </a:r>
            <a:r>
              <a:rPr lang="en-US" altLang="en-US" i="1">
                <a:cs typeface="Times New Roman" panose="02020603050405020304" pitchFamily="18" charset="0"/>
              </a:rPr>
              <a:t>Tag=MAC</a:t>
            </a:r>
            <a:r>
              <a:rPr lang="en-US" altLang="en-US" i="1" baseline="-25000">
                <a:cs typeface="Times New Roman" panose="02020603050405020304" pitchFamily="18" charset="0"/>
              </a:rPr>
              <a:t>k</a:t>
            </a:r>
            <a:r>
              <a:rPr lang="en-US" altLang="en-US" i="1">
                <a:cs typeface="Times New Roman" panose="02020603050405020304" pitchFamily="18" charset="0"/>
              </a:rPr>
              <a:t>(m)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Received message, tag are valid </a:t>
            </a:r>
            <a:r>
              <a:rPr lang="en-US" altLang="en-US" i="1">
                <a:latin typeface="Arial" panose="020B0604020202020204" pitchFamily="34" charset="0"/>
                <a:cs typeface="Arial" panose="020B0604020202020204" pitchFamily="34" charset="0"/>
              </a:rPr>
              <a:t>iff </a:t>
            </a:r>
            <a:r>
              <a:rPr lang="en-US" altLang="en-US" i="1">
                <a:cs typeface="Times New Roman" panose="02020603050405020304" pitchFamily="18" charset="0"/>
              </a:rPr>
              <a:t>Tag=MAC</a:t>
            </a:r>
            <a:r>
              <a:rPr lang="en-US" altLang="en-US" i="1" baseline="-25000">
                <a:cs typeface="Times New Roman" panose="02020603050405020304" pitchFamily="18" charset="0"/>
              </a:rPr>
              <a:t>k</a:t>
            </a:r>
            <a:r>
              <a:rPr lang="en-US" altLang="en-US" i="1">
                <a:cs typeface="Times New Roman" panose="02020603050405020304" pitchFamily="18" charset="0"/>
              </a:rPr>
              <a:t>(m)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Times New Roman" panose="02020603050405020304" pitchFamily="18" charset="0"/>
              </a:rPr>
              <a:t>Efficient (often even more than shared-key encryption)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Times New Roman" panose="02020603050405020304" pitchFamily="18" charset="0"/>
              </a:rPr>
              <a:t>But: Alice can later deny having sent m to Bob (why?)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24493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87043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87044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2DA3E96-4A6E-41D0-9F7E-AF66AA8B07F6}" type="slidenum">
              <a:rPr lang="he-IL" altLang="en-US"/>
              <a:pPr eaLnBrk="1" hangingPunct="1">
                <a:spcBef>
                  <a:spcPct val="0"/>
                </a:spcBef>
              </a:pPr>
              <a:t>10</a:t>
            </a:fld>
            <a:endParaRPr lang="en-US" altLang="en-US"/>
          </a:p>
        </p:txBody>
      </p:sp>
      <p:sp>
        <p:nvSpPr>
          <p:cNvPr id="87045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FB475AC9-4A56-4951-8890-977A7F7B15B1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10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7046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7047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7048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87049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7050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en-US"/>
          </a:p>
        </p:txBody>
      </p:sp>
    </p:spTree>
    <p:extLst>
      <p:ext uri="{BB962C8B-B14F-4D97-AF65-F5344CB8AC3E}">
        <p14:creationId xmlns:p14="http://schemas.microsoft.com/office/powerpoint/2010/main" val="24833505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89091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89092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817D5EF-263E-4619-8E1C-1CF53E59E3E8}" type="slidenum">
              <a:rPr lang="he-IL" altLang="en-US"/>
              <a:pPr eaLnBrk="1" hangingPunct="1">
                <a:spcBef>
                  <a:spcPct val="0"/>
                </a:spcBef>
              </a:pPr>
              <a:t>11</a:t>
            </a:fld>
            <a:endParaRPr lang="en-US" altLang="en-US"/>
          </a:p>
        </p:txBody>
      </p:sp>
      <p:sp>
        <p:nvSpPr>
          <p:cNvPr id="89093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793456BE-3113-4FAA-BA07-8B839EBE0D26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11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9094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9095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9096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89097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9098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en-US"/>
          </a:p>
        </p:txBody>
      </p:sp>
    </p:spTree>
    <p:extLst>
      <p:ext uri="{BB962C8B-B14F-4D97-AF65-F5344CB8AC3E}">
        <p14:creationId xmlns:p14="http://schemas.microsoft.com/office/powerpoint/2010/main" val="17043596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90115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90116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4F65446-8CA9-4C3B-A72F-7F887666EC8F}" type="slidenum">
              <a:rPr lang="he-IL" altLang="en-US"/>
              <a:pPr eaLnBrk="1" hangingPunct="1">
                <a:spcBef>
                  <a:spcPct val="0"/>
                </a:spcBef>
              </a:pPr>
              <a:t>12</a:t>
            </a:fld>
            <a:endParaRPr lang="en-US" altLang="en-US"/>
          </a:p>
        </p:txBody>
      </p:sp>
      <p:sp>
        <p:nvSpPr>
          <p:cNvPr id="90117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69079B8A-67F8-45F2-8F84-66EDC57D1385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12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0118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0119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0120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90121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0122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en-US"/>
          </a:p>
        </p:txBody>
      </p:sp>
    </p:spTree>
    <p:extLst>
      <p:ext uri="{BB962C8B-B14F-4D97-AF65-F5344CB8AC3E}">
        <p14:creationId xmlns:p14="http://schemas.microsoft.com/office/powerpoint/2010/main" val="10325668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90115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90116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4F65446-8CA9-4C3B-A72F-7F887666EC8F}" type="slidenum">
              <a:rPr lang="he-IL" altLang="en-US"/>
              <a:pPr eaLnBrk="1" hangingPunct="1">
                <a:spcBef>
                  <a:spcPct val="0"/>
                </a:spcBef>
              </a:pPr>
              <a:t>13</a:t>
            </a:fld>
            <a:endParaRPr lang="en-US" altLang="en-US"/>
          </a:p>
        </p:txBody>
      </p:sp>
      <p:sp>
        <p:nvSpPr>
          <p:cNvPr id="90117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69079B8A-67F8-45F2-8F84-66EDC57D1385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13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0118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0119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0120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90121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0122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en-US"/>
          </a:p>
        </p:txBody>
      </p:sp>
    </p:spTree>
    <p:extLst>
      <p:ext uri="{BB962C8B-B14F-4D97-AF65-F5344CB8AC3E}">
        <p14:creationId xmlns:p14="http://schemas.microsoft.com/office/powerpoint/2010/main" val="26068995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90115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90116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4F65446-8CA9-4C3B-A72F-7F887666EC8F}" type="slidenum">
              <a:rPr lang="he-IL" altLang="en-US"/>
              <a:pPr eaLnBrk="1" hangingPunct="1">
                <a:spcBef>
                  <a:spcPct val="0"/>
                </a:spcBef>
              </a:pPr>
              <a:t>14</a:t>
            </a:fld>
            <a:endParaRPr lang="en-US" altLang="en-US"/>
          </a:p>
        </p:txBody>
      </p:sp>
      <p:sp>
        <p:nvSpPr>
          <p:cNvPr id="90117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69079B8A-67F8-45F2-8F84-66EDC57D1385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14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0118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0119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0120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90121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0122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en-US"/>
          </a:p>
        </p:txBody>
      </p:sp>
    </p:spTree>
    <p:extLst>
      <p:ext uri="{BB962C8B-B14F-4D97-AF65-F5344CB8AC3E}">
        <p14:creationId xmlns:p14="http://schemas.microsoft.com/office/powerpoint/2010/main" val="38767825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91139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91140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18472E2-37C8-4125-9E52-2D71070AC4E1}" type="slidenum">
              <a:rPr lang="he-IL" altLang="en-US"/>
              <a:pPr eaLnBrk="1" hangingPunct="1">
                <a:spcBef>
                  <a:spcPct val="0"/>
                </a:spcBef>
              </a:pPr>
              <a:t>15</a:t>
            </a:fld>
            <a:endParaRPr lang="en-US" altLang="en-US"/>
          </a:p>
        </p:txBody>
      </p:sp>
      <p:sp>
        <p:nvSpPr>
          <p:cNvPr id="91141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D54A5DED-4BBF-41F8-9174-B6501BCEE8F1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15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1142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1143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1144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91145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19175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1146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en-US"/>
              <a:t>Parallel mode – see</a:t>
            </a:r>
            <a:r>
              <a:rPr lang="en-US" altLang="en-US" baseline="0"/>
              <a:t> [BR02]</a:t>
            </a:r>
            <a:endParaRPr lang="he-IL" altLang="en-US"/>
          </a:p>
        </p:txBody>
      </p:sp>
    </p:spTree>
    <p:extLst>
      <p:ext uri="{BB962C8B-B14F-4D97-AF65-F5344CB8AC3E}">
        <p14:creationId xmlns:p14="http://schemas.microsoft.com/office/powerpoint/2010/main" val="21206654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92163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92164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A611CC6-5764-4617-858D-2F449D643B39}" type="slidenum">
              <a:rPr lang="he-IL" altLang="en-US"/>
              <a:pPr eaLnBrk="1" hangingPunct="1">
                <a:spcBef>
                  <a:spcPct val="0"/>
                </a:spcBef>
              </a:pPr>
              <a:t>16</a:t>
            </a:fld>
            <a:endParaRPr lang="en-US" altLang="en-US"/>
          </a:p>
        </p:txBody>
      </p:sp>
      <p:sp>
        <p:nvSpPr>
          <p:cNvPr id="92165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199A9682-D8C4-4C49-9D02-B5DFFA3346AE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16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2166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2167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2168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92169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170" name="Text Box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>
              <a:spcBef>
                <a:spcPts val="488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Corollary follows from </a:t>
            </a:r>
            <a:r>
              <a:rPr lang="en-US" altLang="en-US" sz="1300">
                <a:latin typeface="Arial" panose="020B0604020202020204" pitchFamily="34" charset="0"/>
                <a:cs typeface="Arial" panose="020B0604020202020204" pitchFamily="34" charset="0"/>
              </a:rPr>
              <a:t>`FIL-PRF is FIL-MAC` theorem</a:t>
            </a:r>
          </a:p>
        </p:txBody>
      </p:sp>
    </p:spTree>
    <p:extLst>
      <p:ext uri="{BB962C8B-B14F-4D97-AF65-F5344CB8AC3E}">
        <p14:creationId xmlns:p14="http://schemas.microsoft.com/office/powerpoint/2010/main" val="27818005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93187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93188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0A49A9B-1821-46BB-996A-2732D53EB8B5}" type="slidenum">
              <a:rPr lang="he-IL" altLang="en-US"/>
              <a:pPr eaLnBrk="1" hangingPunct="1">
                <a:spcBef>
                  <a:spcPct val="0"/>
                </a:spcBef>
              </a:pPr>
              <a:t>17</a:t>
            </a:fld>
            <a:endParaRPr lang="en-US" altLang="en-US"/>
          </a:p>
        </p:txBody>
      </p:sp>
      <p:sp>
        <p:nvSpPr>
          <p:cNvPr id="93189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8E5619B0-4329-4BDF-B6E2-2EFEDBA52D21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17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3190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3191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3192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93193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3194" name="Text Box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KR</a:t>
            </a:r>
          </a:p>
        </p:txBody>
      </p:sp>
    </p:spTree>
    <p:extLst>
      <p:ext uri="{BB962C8B-B14F-4D97-AF65-F5344CB8AC3E}">
        <p14:creationId xmlns:p14="http://schemas.microsoft.com/office/powerpoint/2010/main" val="25579920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18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645029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96259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96260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CA940D3-28FD-4954-9641-5C5733000CA1}" type="slidenum">
              <a:rPr lang="he-IL" altLang="en-US"/>
              <a:pPr eaLnBrk="1" hangingPunct="1">
                <a:spcBef>
                  <a:spcPct val="0"/>
                </a:spcBef>
              </a:pPr>
              <a:t>19</a:t>
            </a:fld>
            <a:endParaRPr lang="en-US" altLang="en-US"/>
          </a:p>
        </p:txBody>
      </p:sp>
      <p:sp>
        <p:nvSpPr>
          <p:cNvPr id="96261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1EE931A8-2C16-4855-9272-911439CA28C0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19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6262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6263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6264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96265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6266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en-US"/>
          </a:p>
        </p:txBody>
      </p:sp>
    </p:spTree>
    <p:extLst>
      <p:ext uri="{BB962C8B-B14F-4D97-AF65-F5344CB8AC3E}">
        <p14:creationId xmlns:p14="http://schemas.microsoft.com/office/powerpoint/2010/main" val="27668319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97283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97284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F717BEE-D5D9-44FA-B07B-7EAD56AE66B9}" type="slidenum">
              <a:rPr lang="he-IL" altLang="en-US"/>
              <a:pPr eaLnBrk="1" hangingPunct="1">
                <a:spcBef>
                  <a:spcPct val="0"/>
                </a:spcBef>
              </a:pPr>
              <a:t>20</a:t>
            </a:fld>
            <a:endParaRPr lang="en-US" altLang="en-US"/>
          </a:p>
        </p:txBody>
      </p:sp>
      <p:sp>
        <p:nvSpPr>
          <p:cNvPr id="97285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0CE340E8-093C-43EA-8357-D90E86EA775D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20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7286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7287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7288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97289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7290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en-US"/>
          </a:p>
        </p:txBody>
      </p:sp>
    </p:spTree>
    <p:extLst>
      <p:ext uri="{BB962C8B-B14F-4D97-AF65-F5344CB8AC3E}">
        <p14:creationId xmlns:p14="http://schemas.microsoft.com/office/powerpoint/2010/main" val="33430951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97283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97284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F717BEE-D5D9-44FA-B07B-7EAD56AE66B9}" type="slidenum">
              <a:rPr lang="he-IL" altLang="en-US"/>
              <a:pPr eaLnBrk="1" hangingPunct="1">
                <a:spcBef>
                  <a:spcPct val="0"/>
                </a:spcBef>
              </a:pPr>
              <a:t>21</a:t>
            </a:fld>
            <a:endParaRPr lang="en-US" altLang="en-US"/>
          </a:p>
        </p:txBody>
      </p:sp>
      <p:sp>
        <p:nvSpPr>
          <p:cNvPr id="97285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0CE340E8-093C-43EA-8357-D90E86EA775D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21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7286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7287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7288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97289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7290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en-US"/>
          </a:p>
        </p:txBody>
      </p:sp>
    </p:spTree>
    <p:extLst>
      <p:ext uri="{BB962C8B-B14F-4D97-AF65-F5344CB8AC3E}">
        <p14:creationId xmlns:p14="http://schemas.microsoft.com/office/powerpoint/2010/main" val="20810547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97283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97284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F717BEE-D5D9-44FA-B07B-7EAD56AE66B9}" type="slidenum">
              <a:rPr lang="he-IL" altLang="en-US"/>
              <a:pPr eaLnBrk="1" hangingPunct="1">
                <a:spcBef>
                  <a:spcPct val="0"/>
                </a:spcBef>
              </a:pPr>
              <a:t>22</a:t>
            </a:fld>
            <a:endParaRPr lang="en-US" altLang="en-US"/>
          </a:p>
        </p:txBody>
      </p:sp>
      <p:sp>
        <p:nvSpPr>
          <p:cNvPr id="97285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0CE340E8-093C-43EA-8357-D90E86EA775D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22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7286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7287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7288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97289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7290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en-US"/>
          </a:p>
        </p:txBody>
      </p:sp>
    </p:spTree>
    <p:extLst>
      <p:ext uri="{BB962C8B-B14F-4D97-AF65-F5344CB8AC3E}">
        <p14:creationId xmlns:p14="http://schemas.microsoft.com/office/powerpoint/2010/main" val="25750488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23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419467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Date Placeholder 3"/>
          <p:cNvSpPr>
            <a:spLocks noGrp="1" noChangeArrowheads="1"/>
          </p:cNvSpPr>
          <p:nvPr>
            <p:ph type="dt" idx="10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he-IL"/>
              <a:t>11/13/11</a:t>
            </a:r>
            <a:endParaRPr 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8E4BCF4-ACCB-42FE-9068-25DD7B32E94B}" type="slidenum">
              <a:rPr lang="en-US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3367037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/>
          <p:cNvSpPr>
            <a:spLocks noGrp="1" noChangeArrowheads="1"/>
          </p:cNvSpPr>
          <p:nvPr>
            <p:ph type="dt" idx="10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he-IL"/>
              <a:t>11/13/11</a:t>
            </a:r>
            <a:endParaRPr 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F993E36-D7DC-4EAE-97D5-8D0CD735E1A1}" type="slidenum">
              <a:rPr lang="en-US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265185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r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 noChangeArrowheads="1"/>
          </p:cNvSpPr>
          <p:nvPr>
            <p:ph type="dt" idx="10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he-IL"/>
              <a:t>11/13/11</a:t>
            </a:r>
            <a:endParaRPr 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AF688C0-775F-4727-BDC6-365C76984699}" type="slidenum">
              <a:rPr lang="en-US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199503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9350"/>
            <a:ext cx="4037013" cy="49799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149350"/>
            <a:ext cx="4038600" cy="49799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0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he-IL"/>
              <a:t>11/13/11</a:t>
            </a:r>
            <a:endParaRPr lang="en-US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4A5E57B-8864-4F68-9F00-092100761D84}" type="slidenum">
              <a:rPr lang="en-US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425009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dt" idx="10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he-IL"/>
              <a:t>11/13/11</a:t>
            </a:r>
            <a:endParaRPr lang="en-US"/>
          </a:p>
        </p:txBody>
      </p:sp>
      <p:sp>
        <p:nvSpPr>
          <p:cNvPr id="8" name="Rectangle 4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9" name="Rectangle 5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4CB7F25-5BB5-4D84-A713-C6B8AF56BF50}" type="slidenum">
              <a:rPr lang="en-US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538429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dt" idx="10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he-IL"/>
              <a:t>11/13/11</a:t>
            </a:r>
            <a:endParaRPr 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AC0CD59-7922-40CE-A470-B7D573D589C7}" type="slidenum">
              <a:rPr lang="en-US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036696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>
            <a:spLocks noGrp="1" noChangeArrowheads="1"/>
          </p:cNvSpPr>
          <p:nvPr>
            <p:ph type="dt" idx="10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he-IL"/>
              <a:t>11/13/11</a:t>
            </a:r>
            <a:endParaRPr lang="en-US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1A363CA-987E-4BCA-88A5-ED014D857E99}" type="slidenum">
              <a:rPr lang="en-US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920019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0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he-IL"/>
              <a:t>11/13/11</a:t>
            </a:r>
            <a:endParaRPr lang="en-US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1FF9E2F-8C49-4D69-B565-53926EE196FB}" type="slidenum">
              <a:rPr lang="en-US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482619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he-IL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0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he-IL"/>
              <a:t>11/13/11</a:t>
            </a:r>
            <a:endParaRPr lang="en-US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6B4984E-2D6C-45C7-B7A6-054D37A7CACA}" type="slidenum">
              <a:rPr lang="en-US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419058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/>
          <p:cNvSpPr>
            <a:spLocks noGrp="1" noChangeArrowheads="1"/>
          </p:cNvSpPr>
          <p:nvPr>
            <p:ph type="dt" idx="10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he-IL"/>
              <a:t>11/13/11</a:t>
            </a:r>
            <a:endParaRPr 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53F64D2-7030-40C4-8513-3AC3DD7763BD}" type="slidenum">
              <a:rPr lang="en-US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444920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11938" y="277813"/>
            <a:ext cx="2073275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8938" y="277813"/>
            <a:ext cx="60706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/>
          <p:cNvSpPr>
            <a:spLocks noGrp="1" noChangeArrowheads="1"/>
          </p:cNvSpPr>
          <p:nvPr>
            <p:ph type="dt" idx="10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he-IL"/>
              <a:t>11/13/11</a:t>
            </a:r>
            <a:endParaRPr 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7A492BA-B527-4592-AF54-CA5EB233B8E7}" type="slidenum">
              <a:rPr lang="en-US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466181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>
            <a:spLocks noGrp="1" noChangeArrowheads="1"/>
          </p:cNvSpPr>
          <p:nvPr>
            <p:ph type="title"/>
          </p:nvPr>
        </p:nvSpPr>
        <p:spPr bwMode="auto">
          <a:xfrm>
            <a:off x="388938" y="277813"/>
            <a:ext cx="8296275" cy="7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the title text format</a:t>
            </a:r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49350"/>
            <a:ext cx="8228013" cy="4979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the outline text format</a:t>
            </a:r>
          </a:p>
          <a:p>
            <a:pPr lvl="1"/>
            <a:r>
              <a:rPr lang="en-GB" altLang="en-US"/>
              <a:t>Second Outline Level</a:t>
            </a:r>
          </a:p>
          <a:p>
            <a:pPr lvl="2"/>
            <a:r>
              <a:rPr lang="en-GB" altLang="en-US"/>
              <a:t>Third Outline Level</a:t>
            </a:r>
          </a:p>
          <a:p>
            <a:pPr lvl="3"/>
            <a:r>
              <a:rPr lang="en-GB" altLang="en-US"/>
              <a:t>Fourth Outline Level</a:t>
            </a:r>
          </a:p>
          <a:p>
            <a:pPr lvl="4"/>
            <a:r>
              <a:rPr lang="en-GB" altLang="en-US"/>
              <a:t>Fifth Outline Level</a:t>
            </a:r>
          </a:p>
          <a:p>
            <a:pPr lvl="4"/>
            <a:r>
              <a:rPr lang="en-GB" altLang="en-US"/>
              <a:t>Sixth Outline Level</a:t>
            </a:r>
          </a:p>
          <a:p>
            <a:pPr lvl="4"/>
            <a:r>
              <a:rPr lang="en-GB" altLang="en-US"/>
              <a:t>Seventh Outline Level</a:t>
            </a:r>
          </a:p>
          <a:p>
            <a:pPr lvl="4"/>
            <a:r>
              <a:rPr lang="en-GB" altLang="en-US"/>
              <a:t>Eighth Outline Level</a:t>
            </a:r>
          </a:p>
          <a:p>
            <a:pPr lvl="4"/>
            <a:r>
              <a:rPr lang="en-GB" altLang="en-US"/>
              <a:t>Ninth Outline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ftr"/>
          </p:nvPr>
        </p:nvSpPr>
        <p:spPr bwMode="auto">
          <a:xfrm>
            <a:off x="3124200" y="6248400"/>
            <a:ext cx="2894013" cy="455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b" anchorCtr="0" compatLnSpc="1">
            <a:prstTxWarp prst="textNoShape">
              <a:avLst/>
            </a:prstTxWarp>
          </a:bodyPr>
          <a:lstStyle>
            <a:lvl1pPr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243638"/>
            <a:ext cx="2132013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b" anchorCtr="0" compatLnSpc="1">
            <a:prstTxWarp prst="textNoShape">
              <a:avLst/>
            </a:prstTxWarp>
          </a:bodyPr>
          <a:lstStyle>
            <a:lvl1pPr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</a:defRPr>
            </a:lvl1pPr>
          </a:lstStyle>
          <a:p>
            <a:fld id="{38E50F55-35D0-4DBE-BE4F-AE49F1F9CF65}" type="slidenum">
              <a:rPr lang="en-US" altLang="he-IL"/>
              <a:pPr/>
              <a:t>‹#›</a:t>
            </a:fld>
            <a:endParaRPr lang="en-US" altLang="he-IL"/>
          </a:p>
        </p:txBody>
      </p:sp>
      <p:sp>
        <p:nvSpPr>
          <p:cNvPr id="1031" name="Freeform 6"/>
          <p:cNvSpPr>
            <a:spLocks noChangeArrowheads="1"/>
          </p:cNvSpPr>
          <p:nvPr/>
        </p:nvSpPr>
        <p:spPr bwMode="auto">
          <a:xfrm>
            <a:off x="381000" y="228600"/>
            <a:ext cx="8229600" cy="609600"/>
          </a:xfrm>
          <a:custGeom>
            <a:avLst/>
            <a:gdLst>
              <a:gd name="T0" fmla="*/ 0 w 1000"/>
              <a:gd name="T1" fmla="*/ 2147483647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80">
            <a:solidFill>
              <a:srgbClr val="CC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/>
          </a:p>
        </p:txBody>
      </p:sp>
      <p:sp>
        <p:nvSpPr>
          <p:cNvPr id="1032" name="Line 7"/>
          <p:cNvSpPr>
            <a:spLocks noChangeShapeType="1"/>
          </p:cNvSpPr>
          <p:nvPr/>
        </p:nvSpPr>
        <p:spPr bwMode="auto">
          <a:xfrm>
            <a:off x="457200" y="6172200"/>
            <a:ext cx="8229600" cy="1588"/>
          </a:xfrm>
          <a:prstGeom prst="line">
            <a:avLst/>
          </a:prstGeom>
          <a:noFill/>
          <a:ln w="19080">
            <a:solidFill>
              <a:srgbClr val="CC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3" r:id="rId1"/>
    <p:sldLayoutId id="2147483804" r:id="rId2"/>
    <p:sldLayoutId id="2147483805" r:id="rId3"/>
    <p:sldLayoutId id="2147483806" r:id="rId4"/>
    <p:sldLayoutId id="2147483807" r:id="rId5"/>
    <p:sldLayoutId id="2147483808" r:id="rId6"/>
    <p:sldLayoutId id="2147483809" r:id="rId7"/>
    <p:sldLayoutId id="2147483810" r:id="rId8"/>
    <p:sldLayoutId id="2147483811" r:id="rId9"/>
    <p:sldLayoutId id="2147483812" r:id="rId10"/>
    <p:sldLayoutId id="2147483813" r:id="rId11"/>
  </p:sldLayoutIdLst>
  <p:hf sldNum="0" hdr="0" ftr="0" dt="0"/>
  <p:txStyles>
    <p:titleStyle>
      <a:lvl1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+mj-lt"/>
          <a:ea typeface="+mj-ea"/>
          <a:cs typeface="+mj-cs"/>
        </a:defRPr>
      </a:lvl1pPr>
      <a:lvl2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2pPr>
      <a:lvl3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3pPr>
      <a:lvl4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4pPr>
      <a:lvl5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5pPr>
      <a:lvl6pPr marL="2514600" indent="-228600" algn="l" defTabSz="457200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6pPr>
      <a:lvl7pPr marL="2971800" indent="-228600" algn="l" defTabSz="457200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7pPr>
      <a:lvl8pPr marL="3429000" indent="-228600" algn="l" defTabSz="457200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8pPr>
      <a:lvl9pPr marL="3886200" indent="-228600" algn="l" defTabSz="457200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9pPr>
    </p:titleStyle>
    <p:bodyStyle>
      <a:lvl1pPr marL="457200" indent="-457200" algn="l" defTabSz="457200" rtl="0" eaLnBrk="0" fontAlgn="base" hangingPunct="0">
        <a:spcBef>
          <a:spcPts val="750"/>
        </a:spcBef>
        <a:spcAft>
          <a:spcPct val="0"/>
        </a:spcAft>
        <a:buClr>
          <a:srgbClr val="000000"/>
        </a:buClr>
        <a:buSzPct val="100000"/>
        <a:buFont typeface="Wingdings" panose="05000000000000000000" pitchFamily="2" charset="2"/>
        <a:buChar char="q"/>
        <a:defRPr sz="3000">
          <a:solidFill>
            <a:srgbClr val="000000"/>
          </a:solidFill>
          <a:latin typeface="+mn-lt"/>
          <a:ea typeface="+mn-ea"/>
          <a:cs typeface="+mn-cs"/>
        </a:defRPr>
      </a:lvl1pPr>
      <a:lvl2pPr marL="914400" indent="-457200" algn="l" defTabSz="457200" rtl="0" eaLnBrk="0" fontAlgn="base" hangingPunct="0">
        <a:spcBef>
          <a:spcPts val="650"/>
        </a:spcBef>
        <a:spcAft>
          <a:spcPct val="0"/>
        </a:spcAft>
        <a:buClr>
          <a:srgbClr val="000000"/>
        </a:buClr>
        <a:buSzPct val="100000"/>
        <a:buFont typeface="Wingdings" panose="05000000000000000000" pitchFamily="2" charset="2"/>
        <a:buChar char="q"/>
        <a:defRPr sz="2600">
          <a:solidFill>
            <a:srgbClr val="000000"/>
          </a:solidFill>
          <a:latin typeface="+mn-lt"/>
          <a:cs typeface="+mn-cs"/>
        </a:defRPr>
      </a:lvl2pPr>
      <a:lvl3pPr marL="1257300" indent="-342900" algn="l" defTabSz="457200" rtl="0" eaLnBrk="0" fontAlgn="base" hangingPunct="0">
        <a:spcBef>
          <a:spcPts val="550"/>
        </a:spcBef>
        <a:spcAft>
          <a:spcPct val="0"/>
        </a:spcAft>
        <a:buClr>
          <a:srgbClr val="000000"/>
        </a:buClr>
        <a:buSzPct val="100000"/>
        <a:buFont typeface="Wingdings" panose="05000000000000000000" pitchFamily="2" charset="2"/>
        <a:buChar char="q"/>
        <a:defRPr sz="2200">
          <a:solidFill>
            <a:srgbClr val="000000"/>
          </a:solidFill>
          <a:latin typeface="+mn-lt"/>
          <a:cs typeface="+mn-cs"/>
        </a:defRPr>
      </a:lvl3pPr>
      <a:lvl4pPr marL="1714500" indent="-3429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Wingdings" panose="05000000000000000000" pitchFamily="2" charset="2"/>
        <a:buChar char="q"/>
        <a:defRPr sz="2000">
          <a:solidFill>
            <a:srgbClr val="000000"/>
          </a:solidFill>
          <a:latin typeface="+mn-lt"/>
          <a:cs typeface="+mn-cs"/>
        </a:defRPr>
      </a:lvl4pPr>
      <a:lvl5pPr marL="2171700" indent="-3429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Wingdings" panose="05000000000000000000" pitchFamily="2" charset="2"/>
        <a:buChar char="q"/>
        <a:defRPr sz="2000">
          <a:solidFill>
            <a:srgbClr val="000000"/>
          </a:solidFill>
          <a:latin typeface="+mn-lt"/>
          <a:cs typeface="+mn-cs"/>
        </a:defRPr>
      </a:lvl5pPr>
      <a:lvl6pPr marL="2514600" indent="-228600" algn="l" defTabSz="457200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6pPr>
      <a:lvl7pPr marL="2971800" indent="-228600" algn="l" defTabSz="457200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7pPr>
      <a:lvl8pPr marL="3429000" indent="-228600" algn="l" defTabSz="457200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8pPr>
      <a:lvl9pPr marL="3886200" indent="-228600" algn="l" defTabSz="457200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7" Type="http://schemas.openxmlformats.org/officeDocument/2006/relationships/image" Target="../media/image8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21226" y="420414"/>
            <a:ext cx="8922774" cy="3254177"/>
          </a:xfrm>
        </p:spPr>
        <p:txBody>
          <a:bodyPr/>
          <a:lstStyle/>
          <a:p>
            <a:pPr algn="ctr"/>
            <a:r>
              <a:rPr lang="en-US" altLang="en-US" sz="2800" dirty="0"/>
              <a:t>CSE 3400/CSE 5850 - Introduction to Cryptography &amp; Cybersecurity </a:t>
            </a:r>
            <a:br>
              <a:rPr lang="en-US" altLang="en-US" sz="2800" dirty="0"/>
            </a:br>
            <a:r>
              <a:rPr lang="en-US" altLang="en-US" sz="2800" dirty="0"/>
              <a:t>/ Introduction to Cybersecurity)</a:t>
            </a:r>
            <a:br>
              <a:rPr lang="en-US" altLang="en-US" sz="2800" dirty="0"/>
            </a:br>
            <a:br>
              <a:rPr lang="en-US" altLang="en-US" sz="4000" dirty="0"/>
            </a:br>
            <a:r>
              <a:rPr lang="en-US" altLang="en-US" sz="4000" dirty="0"/>
              <a:t>Lecture 5</a:t>
            </a:r>
            <a:br>
              <a:rPr lang="en-US" altLang="en-US" sz="4000" dirty="0"/>
            </a:br>
            <a:r>
              <a:rPr lang="en-US" sz="40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  <a:t>Message Authentication Codes</a:t>
            </a:r>
            <a:br>
              <a:rPr lang="en-US" sz="40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</a:br>
            <a:endParaRPr lang="en-US" sz="3600" dirty="0"/>
          </a:p>
        </p:txBody>
      </p:sp>
      <p:sp>
        <p:nvSpPr>
          <p:cNvPr id="2052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1065810" y="3940629"/>
            <a:ext cx="7012379" cy="599747"/>
          </a:xfrm>
        </p:spPr>
        <p:txBody>
          <a:bodyPr/>
          <a:lstStyle/>
          <a:p>
            <a:r>
              <a:rPr lang="en-US" sz="2800" dirty="0" err="1"/>
              <a:t>Ghada</a:t>
            </a:r>
            <a:r>
              <a:rPr lang="en-US" sz="2800" dirty="0"/>
              <a:t> </a:t>
            </a:r>
            <a:r>
              <a:rPr lang="en-US" sz="2800" dirty="0" err="1"/>
              <a:t>Almashaqbeh</a:t>
            </a:r>
            <a:endParaRPr lang="en-US" sz="2800" dirty="0"/>
          </a:p>
          <a:p>
            <a:r>
              <a:rPr lang="en-US" sz="2800" dirty="0">
                <a:solidFill>
                  <a:srgbClr val="0070C0"/>
                </a:solidFill>
              </a:rPr>
              <a:t>UConn</a:t>
            </a:r>
            <a:endParaRPr lang="en-US" sz="2000" dirty="0">
              <a:solidFill>
                <a:srgbClr val="0070C0"/>
              </a:solidFill>
            </a:endParaRPr>
          </a:p>
          <a:p>
            <a:endParaRPr lang="en-US" sz="2800" dirty="0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0870FB93-3BDE-3443-B461-0B38FC66C9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40413" y="5382324"/>
            <a:ext cx="7012379" cy="8331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0" indent="0" algn="ctr" rtl="0" eaLnBrk="0" fontAlgn="base">
              <a:spcBef>
                <a:spcPts val="750"/>
              </a:spcBef>
              <a:spcAft>
                <a:spcPct val="0"/>
              </a:spcAft>
              <a:buNone/>
              <a:tabLst>
                <a:tab pos="341313" algn="l"/>
                <a:tab pos="455613" algn="l"/>
                <a:tab pos="912813" algn="l"/>
                <a:tab pos="1370013" algn="l"/>
                <a:tab pos="1827213" algn="l"/>
                <a:tab pos="2284413" algn="l"/>
                <a:tab pos="2741613" algn="l"/>
                <a:tab pos="3198813" algn="l"/>
                <a:tab pos="3656013" algn="l"/>
                <a:tab pos="4113213" algn="l"/>
                <a:tab pos="4570413" algn="l"/>
                <a:tab pos="5027613" algn="l"/>
                <a:tab pos="5484813" algn="l"/>
                <a:tab pos="5942013" algn="l"/>
                <a:tab pos="6399213" algn="l"/>
                <a:tab pos="6856413" algn="l"/>
                <a:tab pos="7313613" algn="l"/>
                <a:tab pos="7770813" algn="l"/>
                <a:tab pos="8228013" algn="l"/>
                <a:tab pos="8685213" algn="l"/>
                <a:tab pos="9142413" algn="l"/>
              </a:tabLst>
              <a:defRPr lang="en-US" sz="2400">
                <a:solidFill>
                  <a:srgbClr val="000000"/>
                </a:solidFill>
                <a:latin typeface="Arial" pitchFamily="34"/>
                <a:cs typeface="Arial" pitchFamily="34"/>
              </a:defRPr>
            </a:lvl1pPr>
            <a:lvl2pPr marL="4572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4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6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8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hangingPunct="1"/>
            <a:r>
              <a:rPr lang="en-US" sz="1800" kern="0" dirty="0"/>
              <a:t>Adapted from the textbook slides</a:t>
            </a:r>
          </a:p>
        </p:txBody>
      </p:sp>
    </p:spTree>
    <p:extLst>
      <p:ext uri="{BB962C8B-B14F-4D97-AF65-F5344CB8AC3E}">
        <p14:creationId xmlns:p14="http://schemas.microsoft.com/office/powerpoint/2010/main" val="33259426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1B9FA-F0CD-214F-8801-A83CE6EB1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0C1A4-0F85-4E45-9F45-2D6AC6B2B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Motivation.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Message Authentication Codes (MACs) definition.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MAC security definition.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MAC constructions.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Combining message authentication and encryption.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3142B-9D9F-4744-AC12-E2B1DDF953B2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2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025273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5" name="Rectangle 1"/>
          <p:cNvSpPr>
            <a:spLocks noGrp="1" noChangeArrowheads="1"/>
          </p:cNvSpPr>
          <p:nvPr>
            <p:ph type="title"/>
          </p:nvPr>
        </p:nvSpPr>
        <p:spPr>
          <a:xfrm>
            <a:off x="382067" y="233426"/>
            <a:ext cx="829786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800" dirty="0"/>
              <a:t>Encryption Ensures Confidentiality </a:t>
            </a:r>
          </a:p>
        </p:txBody>
      </p:sp>
      <p:sp>
        <p:nvSpPr>
          <p:cNvPr id="2" name="מציין מיקום תוכן 1"/>
          <p:cNvSpPr>
            <a:spLocks noGrp="1"/>
          </p:cNvSpPr>
          <p:nvPr>
            <p:ph idx="1"/>
          </p:nvPr>
        </p:nvSpPr>
        <p:spPr>
          <a:xfrm>
            <a:off x="416198" y="3815758"/>
            <a:ext cx="8476282" cy="2559364"/>
          </a:xfrm>
        </p:spPr>
        <p:txBody>
          <a:bodyPr/>
          <a:lstStyle/>
          <a:p>
            <a:r>
              <a:rPr lang="en-US" dirty="0"/>
              <a:t>Man-in-the-Middle (MitM) attacker</a:t>
            </a:r>
            <a:br>
              <a:rPr lang="en-US" dirty="0"/>
            </a:br>
            <a:r>
              <a:rPr lang="en-US" dirty="0"/>
              <a:t>‘learns nothing’ about message</a:t>
            </a:r>
          </a:p>
        </p:txBody>
      </p:sp>
      <p:sp>
        <p:nvSpPr>
          <p:cNvPr id="4403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345214" y="6243638"/>
            <a:ext cx="339999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</a:t>
            </a:fld>
            <a:endParaRPr lang="en-US" altLang="he-IL" sz="1800" dirty="0"/>
          </a:p>
        </p:txBody>
      </p:sp>
      <p:sp>
        <p:nvSpPr>
          <p:cNvPr id="44039" name="Text Box 5"/>
          <p:cNvSpPr txBox="1">
            <a:spLocks noChangeArrowheads="1"/>
          </p:cNvSpPr>
          <p:nvPr/>
        </p:nvSpPr>
        <p:spPr bwMode="auto">
          <a:xfrm>
            <a:off x="2589548" y="1442524"/>
            <a:ext cx="348470" cy="46384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400" dirty="0">
                <a:solidFill>
                  <a:srgbClr val="FF0000"/>
                </a:solidFill>
                <a:latin typeface="Comic Sans MS" panose="030F0702030302020204" pitchFamily="66" charset="0"/>
              </a:rPr>
              <a:t>k</a:t>
            </a:r>
            <a:endParaRPr lang="en-US" altLang="he-IL" sz="2400" i="1" dirty="0">
              <a:solidFill>
                <a:srgbClr val="FF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44040" name="Rectangle 6"/>
          <p:cNvSpPr>
            <a:spLocks noChangeArrowheads="1"/>
          </p:cNvSpPr>
          <p:nvPr/>
        </p:nvSpPr>
        <p:spPr bwMode="auto">
          <a:xfrm>
            <a:off x="2332774" y="2278919"/>
            <a:ext cx="833437" cy="803275"/>
          </a:xfrm>
          <a:prstGeom prst="rect">
            <a:avLst/>
          </a:pr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44041" name="Text Box 7"/>
          <p:cNvSpPr txBox="1">
            <a:spLocks noChangeArrowheads="1"/>
          </p:cNvSpPr>
          <p:nvPr/>
        </p:nvSpPr>
        <p:spPr bwMode="auto">
          <a:xfrm>
            <a:off x="2575661" y="2490523"/>
            <a:ext cx="342058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>
                <a:solidFill>
                  <a:srgbClr val="FFFFFF"/>
                </a:solidFill>
                <a:latin typeface="Comic Sans MS" panose="030F0702030302020204" pitchFamily="66" charset="0"/>
              </a:rPr>
              <a:t>E</a:t>
            </a:r>
          </a:p>
        </p:txBody>
      </p:sp>
      <p:sp>
        <p:nvSpPr>
          <p:cNvPr id="44042" name="Rectangle 8"/>
          <p:cNvSpPr>
            <a:spLocks noChangeArrowheads="1"/>
          </p:cNvSpPr>
          <p:nvPr/>
        </p:nvSpPr>
        <p:spPr bwMode="auto">
          <a:xfrm>
            <a:off x="5154613" y="2316514"/>
            <a:ext cx="764670" cy="803275"/>
          </a:xfrm>
          <a:prstGeom prst="rect">
            <a:avLst/>
          </a:pr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44043" name="Text Box 9"/>
          <p:cNvSpPr txBox="1">
            <a:spLocks noChangeArrowheads="1"/>
          </p:cNvSpPr>
          <p:nvPr/>
        </p:nvSpPr>
        <p:spPr bwMode="auto">
          <a:xfrm>
            <a:off x="5370617" y="2514335"/>
            <a:ext cx="366104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>
                <a:solidFill>
                  <a:srgbClr val="FFFFFF"/>
                </a:solidFill>
                <a:latin typeface="Comic Sans MS" panose="030F0702030302020204" pitchFamily="66" charset="0"/>
              </a:rPr>
              <a:t>D</a:t>
            </a:r>
          </a:p>
        </p:txBody>
      </p:sp>
      <p:sp>
        <p:nvSpPr>
          <p:cNvPr id="44044" name="Line 10"/>
          <p:cNvSpPr>
            <a:spLocks noChangeShapeType="1"/>
          </p:cNvSpPr>
          <p:nvPr/>
        </p:nvSpPr>
        <p:spPr bwMode="auto">
          <a:xfrm flipV="1">
            <a:off x="3148746" y="2686402"/>
            <a:ext cx="742035" cy="5268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44045" name="Line 11"/>
          <p:cNvSpPr>
            <a:spLocks noChangeShapeType="1"/>
          </p:cNvSpPr>
          <p:nvPr/>
        </p:nvSpPr>
        <p:spPr bwMode="auto">
          <a:xfrm flipH="1">
            <a:off x="2749496" y="1901708"/>
            <a:ext cx="14287" cy="392113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44046" name="Line 12"/>
          <p:cNvSpPr>
            <a:spLocks noChangeShapeType="1"/>
          </p:cNvSpPr>
          <p:nvPr/>
        </p:nvSpPr>
        <p:spPr bwMode="auto">
          <a:xfrm>
            <a:off x="1948094" y="2686401"/>
            <a:ext cx="377537" cy="1587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44047" name="Line 13"/>
          <p:cNvSpPr>
            <a:spLocks noChangeShapeType="1"/>
          </p:cNvSpPr>
          <p:nvPr/>
        </p:nvSpPr>
        <p:spPr bwMode="auto">
          <a:xfrm>
            <a:off x="5927726" y="2699606"/>
            <a:ext cx="674687" cy="1587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pic>
        <p:nvPicPr>
          <p:cNvPr id="44048" name="Picture 1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8324" y="1230772"/>
            <a:ext cx="465137" cy="241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44049" name="Line 15"/>
          <p:cNvSpPr>
            <a:spLocks noChangeShapeType="1"/>
          </p:cNvSpPr>
          <p:nvPr/>
        </p:nvSpPr>
        <p:spPr bwMode="auto">
          <a:xfrm flipH="1">
            <a:off x="5607050" y="1848706"/>
            <a:ext cx="14288" cy="392113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44051" name="Text Box 17"/>
          <p:cNvSpPr txBox="1">
            <a:spLocks noChangeArrowheads="1"/>
          </p:cNvSpPr>
          <p:nvPr/>
        </p:nvSpPr>
        <p:spPr bwMode="auto">
          <a:xfrm>
            <a:off x="571869" y="2445891"/>
            <a:ext cx="983259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 dirty="0">
                <a:solidFill>
                  <a:srgbClr val="FF0000"/>
                </a:solidFill>
                <a:latin typeface="Comic Sans MS" panose="030F0702030302020204" pitchFamily="66" charset="0"/>
              </a:rPr>
              <a:t>m=“Hi”</a:t>
            </a:r>
          </a:p>
        </p:txBody>
      </p:sp>
      <p:sp>
        <p:nvSpPr>
          <p:cNvPr id="44052" name="Text Box 18"/>
          <p:cNvSpPr txBox="1">
            <a:spLocks noChangeArrowheads="1"/>
          </p:cNvSpPr>
          <p:nvPr/>
        </p:nvSpPr>
        <p:spPr bwMode="auto">
          <a:xfrm>
            <a:off x="3148335" y="2778784"/>
            <a:ext cx="1063625" cy="44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>
                <a:solidFill>
                  <a:srgbClr val="FF0000"/>
                </a:solidFill>
                <a:latin typeface="Comic Sans MS" panose="030F0702030302020204" pitchFamily="66" charset="0"/>
              </a:rPr>
              <a:t>c=</a:t>
            </a:r>
            <a:r>
              <a:rPr lang="en-US" altLang="he-IL" sz="2000" err="1">
                <a:solidFill>
                  <a:srgbClr val="FF0000"/>
                </a:solidFill>
                <a:latin typeface="Comic Sans MS" panose="030F0702030302020204" pitchFamily="66" charset="0"/>
              </a:rPr>
              <a:t>E</a:t>
            </a:r>
            <a:r>
              <a:rPr lang="en-US" altLang="he-IL" sz="2000" baseline="-25000" err="1">
                <a:solidFill>
                  <a:srgbClr val="FF0000"/>
                </a:solidFill>
                <a:latin typeface="Comic Sans MS" panose="030F0702030302020204" pitchFamily="66" charset="0"/>
              </a:rPr>
              <a:t>k</a:t>
            </a:r>
            <a:r>
              <a:rPr lang="en-US" altLang="he-IL" sz="2000">
                <a:solidFill>
                  <a:srgbClr val="FF0000"/>
                </a:solidFill>
                <a:latin typeface="Comic Sans MS" panose="030F0702030302020204" pitchFamily="66" charset="0"/>
              </a:rPr>
              <a:t>(m)</a:t>
            </a:r>
          </a:p>
        </p:txBody>
      </p:sp>
      <p:sp>
        <p:nvSpPr>
          <p:cNvPr id="44054" name="Text Box 20"/>
          <p:cNvSpPr txBox="1">
            <a:spLocks noChangeArrowheads="1"/>
          </p:cNvSpPr>
          <p:nvPr/>
        </p:nvSpPr>
        <p:spPr bwMode="auto">
          <a:xfrm>
            <a:off x="5467350" y="1462944"/>
            <a:ext cx="344488" cy="460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400">
                <a:solidFill>
                  <a:srgbClr val="FF0000"/>
                </a:solidFill>
                <a:latin typeface="Comic Sans MS" panose="030F0702030302020204" pitchFamily="66" charset="0"/>
              </a:rPr>
              <a:t>k</a:t>
            </a:r>
          </a:p>
        </p:txBody>
      </p:sp>
      <p:pic>
        <p:nvPicPr>
          <p:cNvPr id="44055" name="Picture 2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8459" y="1156070"/>
            <a:ext cx="763588" cy="1163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44056" name="Picture 2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8513" y="2342534"/>
            <a:ext cx="600075" cy="773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24" name="Text Box 17"/>
          <p:cNvSpPr txBox="1">
            <a:spLocks noChangeArrowheads="1"/>
          </p:cNvSpPr>
          <p:nvPr/>
        </p:nvSpPr>
        <p:spPr bwMode="auto">
          <a:xfrm>
            <a:off x="6685198" y="2486842"/>
            <a:ext cx="380530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>
                <a:solidFill>
                  <a:srgbClr val="FF0000"/>
                </a:solidFill>
                <a:latin typeface="Comic Sans MS" panose="030F0702030302020204" pitchFamily="66" charset="0"/>
              </a:rPr>
              <a:t>m</a:t>
            </a:r>
          </a:p>
        </p:txBody>
      </p:sp>
      <p:pic>
        <p:nvPicPr>
          <p:cNvPr id="3" name="תמונה 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9807" y="2078673"/>
            <a:ext cx="901192" cy="901192"/>
          </a:xfrm>
          <a:prstGeom prst="rect">
            <a:avLst/>
          </a:prstGeom>
        </p:spPr>
      </p:pic>
      <p:sp>
        <p:nvSpPr>
          <p:cNvPr id="26" name="Line 10"/>
          <p:cNvSpPr>
            <a:spLocks noChangeShapeType="1"/>
          </p:cNvSpPr>
          <p:nvPr/>
        </p:nvSpPr>
        <p:spPr bwMode="auto">
          <a:xfrm flipV="1">
            <a:off x="4449207" y="2677922"/>
            <a:ext cx="742035" cy="5268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7" name="Text Box 18"/>
          <p:cNvSpPr txBox="1">
            <a:spLocks noChangeArrowheads="1"/>
          </p:cNvSpPr>
          <p:nvPr/>
        </p:nvSpPr>
        <p:spPr bwMode="auto">
          <a:xfrm>
            <a:off x="4792809" y="2728467"/>
            <a:ext cx="313204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>
                <a:solidFill>
                  <a:srgbClr val="FF0000"/>
                </a:solidFill>
                <a:latin typeface="Comic Sans MS" panose="030F0702030302020204" pitchFamily="66" charset="0"/>
              </a:rPr>
              <a:t>c</a:t>
            </a:r>
          </a:p>
        </p:txBody>
      </p:sp>
      <p:pic>
        <p:nvPicPr>
          <p:cNvPr id="44050" name="Picture 16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4246" y="1304480"/>
            <a:ext cx="465138" cy="241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3596476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5" name="Rectangle 1"/>
          <p:cNvSpPr>
            <a:spLocks noGrp="1" noChangeArrowheads="1"/>
          </p:cNvSpPr>
          <p:nvPr>
            <p:ph type="title"/>
          </p:nvPr>
        </p:nvSpPr>
        <p:spPr>
          <a:xfrm>
            <a:off x="382067" y="233426"/>
            <a:ext cx="829786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800" dirty="0"/>
              <a:t>Integrity and Authentication?</a:t>
            </a:r>
          </a:p>
        </p:txBody>
      </p:sp>
      <p:sp>
        <p:nvSpPr>
          <p:cNvPr id="2" name="מציין מיקום תוכן 1"/>
          <p:cNvSpPr>
            <a:spLocks noGrp="1"/>
          </p:cNvSpPr>
          <p:nvPr>
            <p:ph idx="1"/>
          </p:nvPr>
        </p:nvSpPr>
        <p:spPr>
          <a:xfrm>
            <a:off x="334407" y="3666666"/>
            <a:ext cx="8229600" cy="2862138"/>
          </a:xfrm>
        </p:spPr>
        <p:txBody>
          <a:bodyPr/>
          <a:lstStyle/>
          <a:p>
            <a:r>
              <a:rPr lang="en-US" sz="2600" dirty="0"/>
              <a:t>How can the recipient know that the message was not tampered with and it is the original one sent by the sender?</a:t>
            </a:r>
            <a:r>
              <a:rPr lang="en-US" sz="2200" dirty="0"/>
              <a:t> </a:t>
            </a:r>
            <a:endParaRPr lang="en-US" altLang="en-US" sz="2200" dirty="0"/>
          </a:p>
        </p:txBody>
      </p:sp>
      <p:sp>
        <p:nvSpPr>
          <p:cNvPr id="4403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397766" y="6243638"/>
            <a:ext cx="287447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4</a:t>
            </a:fld>
            <a:endParaRPr lang="en-US" altLang="he-IL" sz="1800" dirty="0"/>
          </a:p>
        </p:txBody>
      </p:sp>
      <p:sp>
        <p:nvSpPr>
          <p:cNvPr id="44039" name="Text Box 5"/>
          <p:cNvSpPr txBox="1">
            <a:spLocks noChangeArrowheads="1"/>
          </p:cNvSpPr>
          <p:nvPr/>
        </p:nvSpPr>
        <p:spPr bwMode="auto">
          <a:xfrm>
            <a:off x="2576365" y="1484790"/>
            <a:ext cx="348470" cy="46384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400" dirty="0">
                <a:solidFill>
                  <a:srgbClr val="FF0000"/>
                </a:solidFill>
                <a:latin typeface="Comic Sans MS" panose="030F0702030302020204" pitchFamily="66" charset="0"/>
              </a:rPr>
              <a:t>k</a:t>
            </a:r>
            <a:endParaRPr lang="en-US" altLang="he-IL" sz="2400" i="1" dirty="0">
              <a:solidFill>
                <a:srgbClr val="FF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44040" name="Rectangle 6"/>
          <p:cNvSpPr>
            <a:spLocks noChangeArrowheads="1"/>
          </p:cNvSpPr>
          <p:nvPr/>
        </p:nvSpPr>
        <p:spPr bwMode="auto">
          <a:xfrm>
            <a:off x="2332774" y="2278919"/>
            <a:ext cx="833437" cy="803275"/>
          </a:xfrm>
          <a:prstGeom prst="rect">
            <a:avLst/>
          </a:pr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44041" name="Text Box 7"/>
          <p:cNvSpPr txBox="1">
            <a:spLocks noChangeArrowheads="1"/>
          </p:cNvSpPr>
          <p:nvPr/>
        </p:nvSpPr>
        <p:spPr bwMode="auto">
          <a:xfrm>
            <a:off x="2575661" y="2490523"/>
            <a:ext cx="342058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>
                <a:solidFill>
                  <a:srgbClr val="FFFFFF"/>
                </a:solidFill>
                <a:latin typeface="Comic Sans MS" panose="030F0702030302020204" pitchFamily="66" charset="0"/>
              </a:rPr>
              <a:t>E</a:t>
            </a:r>
          </a:p>
        </p:txBody>
      </p:sp>
      <p:sp>
        <p:nvSpPr>
          <p:cNvPr id="44042" name="Rectangle 8"/>
          <p:cNvSpPr>
            <a:spLocks noChangeArrowheads="1"/>
          </p:cNvSpPr>
          <p:nvPr/>
        </p:nvSpPr>
        <p:spPr bwMode="auto">
          <a:xfrm>
            <a:off x="5154613" y="2316514"/>
            <a:ext cx="764670" cy="803275"/>
          </a:xfrm>
          <a:prstGeom prst="rect">
            <a:avLst/>
          </a:pr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44043" name="Text Box 9"/>
          <p:cNvSpPr txBox="1">
            <a:spLocks noChangeArrowheads="1"/>
          </p:cNvSpPr>
          <p:nvPr/>
        </p:nvSpPr>
        <p:spPr bwMode="auto">
          <a:xfrm>
            <a:off x="5370617" y="2514335"/>
            <a:ext cx="366104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>
                <a:solidFill>
                  <a:srgbClr val="FFFFFF"/>
                </a:solidFill>
                <a:latin typeface="Comic Sans MS" panose="030F0702030302020204" pitchFamily="66" charset="0"/>
              </a:rPr>
              <a:t>D</a:t>
            </a:r>
          </a:p>
        </p:txBody>
      </p:sp>
      <p:sp>
        <p:nvSpPr>
          <p:cNvPr id="44044" name="Line 10"/>
          <p:cNvSpPr>
            <a:spLocks noChangeShapeType="1"/>
          </p:cNvSpPr>
          <p:nvPr/>
        </p:nvSpPr>
        <p:spPr bwMode="auto">
          <a:xfrm flipV="1">
            <a:off x="3148746" y="2686402"/>
            <a:ext cx="742035" cy="5268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44045" name="Line 11"/>
          <p:cNvSpPr>
            <a:spLocks noChangeShapeType="1"/>
          </p:cNvSpPr>
          <p:nvPr/>
        </p:nvSpPr>
        <p:spPr bwMode="auto">
          <a:xfrm flipH="1">
            <a:off x="2739546" y="1909030"/>
            <a:ext cx="14287" cy="392113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44046" name="Line 12"/>
          <p:cNvSpPr>
            <a:spLocks noChangeShapeType="1"/>
          </p:cNvSpPr>
          <p:nvPr/>
        </p:nvSpPr>
        <p:spPr bwMode="auto">
          <a:xfrm>
            <a:off x="1948094" y="2686401"/>
            <a:ext cx="377537" cy="1587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44047" name="Line 13"/>
          <p:cNvSpPr>
            <a:spLocks noChangeShapeType="1"/>
          </p:cNvSpPr>
          <p:nvPr/>
        </p:nvSpPr>
        <p:spPr bwMode="auto">
          <a:xfrm>
            <a:off x="5927726" y="2699606"/>
            <a:ext cx="674687" cy="1587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pic>
        <p:nvPicPr>
          <p:cNvPr id="44048" name="Picture 1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642" y="1243490"/>
            <a:ext cx="465137" cy="241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44049" name="Line 15"/>
          <p:cNvSpPr>
            <a:spLocks noChangeShapeType="1"/>
          </p:cNvSpPr>
          <p:nvPr/>
        </p:nvSpPr>
        <p:spPr bwMode="auto">
          <a:xfrm flipH="1">
            <a:off x="5607050" y="1848706"/>
            <a:ext cx="14288" cy="392113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44051" name="Text Box 17"/>
          <p:cNvSpPr txBox="1">
            <a:spLocks noChangeArrowheads="1"/>
          </p:cNvSpPr>
          <p:nvPr/>
        </p:nvSpPr>
        <p:spPr bwMode="auto">
          <a:xfrm>
            <a:off x="571868" y="2445891"/>
            <a:ext cx="983259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 dirty="0">
                <a:solidFill>
                  <a:srgbClr val="FF0000"/>
                </a:solidFill>
                <a:latin typeface="Comic Sans MS" panose="030F0702030302020204" pitchFamily="66" charset="0"/>
              </a:rPr>
              <a:t>m=“Hi”</a:t>
            </a:r>
          </a:p>
        </p:txBody>
      </p:sp>
      <p:sp>
        <p:nvSpPr>
          <p:cNvPr id="44052" name="Text Box 18"/>
          <p:cNvSpPr txBox="1">
            <a:spLocks noChangeArrowheads="1"/>
          </p:cNvSpPr>
          <p:nvPr/>
        </p:nvSpPr>
        <p:spPr bwMode="auto">
          <a:xfrm>
            <a:off x="3148335" y="2778784"/>
            <a:ext cx="1063625" cy="44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>
                <a:solidFill>
                  <a:srgbClr val="FF0000"/>
                </a:solidFill>
                <a:latin typeface="Comic Sans MS" panose="030F0702030302020204" pitchFamily="66" charset="0"/>
              </a:rPr>
              <a:t>c=</a:t>
            </a:r>
            <a:r>
              <a:rPr lang="en-US" altLang="he-IL" sz="2000" err="1">
                <a:solidFill>
                  <a:srgbClr val="FF0000"/>
                </a:solidFill>
                <a:latin typeface="Comic Sans MS" panose="030F0702030302020204" pitchFamily="66" charset="0"/>
              </a:rPr>
              <a:t>E</a:t>
            </a:r>
            <a:r>
              <a:rPr lang="en-US" altLang="he-IL" sz="2000" baseline="-25000" err="1">
                <a:solidFill>
                  <a:srgbClr val="FF0000"/>
                </a:solidFill>
                <a:latin typeface="Comic Sans MS" panose="030F0702030302020204" pitchFamily="66" charset="0"/>
              </a:rPr>
              <a:t>k</a:t>
            </a:r>
            <a:r>
              <a:rPr lang="en-US" altLang="he-IL" sz="2000">
                <a:solidFill>
                  <a:srgbClr val="FF0000"/>
                </a:solidFill>
                <a:latin typeface="Comic Sans MS" panose="030F0702030302020204" pitchFamily="66" charset="0"/>
              </a:rPr>
              <a:t>(m)</a:t>
            </a:r>
          </a:p>
        </p:txBody>
      </p:sp>
      <p:sp>
        <p:nvSpPr>
          <p:cNvPr id="44054" name="Text Box 20"/>
          <p:cNvSpPr txBox="1">
            <a:spLocks noChangeArrowheads="1"/>
          </p:cNvSpPr>
          <p:nvPr/>
        </p:nvSpPr>
        <p:spPr bwMode="auto">
          <a:xfrm>
            <a:off x="5467350" y="1462944"/>
            <a:ext cx="344488" cy="460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400">
                <a:solidFill>
                  <a:srgbClr val="FF0000"/>
                </a:solidFill>
                <a:latin typeface="Comic Sans MS" panose="030F0702030302020204" pitchFamily="66" charset="0"/>
              </a:rPr>
              <a:t>k</a:t>
            </a:r>
          </a:p>
        </p:txBody>
      </p:sp>
      <p:pic>
        <p:nvPicPr>
          <p:cNvPr id="44055" name="Picture 2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8459" y="1156070"/>
            <a:ext cx="763588" cy="1163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44056" name="Picture 2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8513" y="2342534"/>
            <a:ext cx="600075" cy="773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24" name="Text Box 17"/>
          <p:cNvSpPr txBox="1">
            <a:spLocks noChangeArrowheads="1"/>
          </p:cNvSpPr>
          <p:nvPr/>
        </p:nvSpPr>
        <p:spPr bwMode="auto">
          <a:xfrm>
            <a:off x="5916096" y="2778719"/>
            <a:ext cx="1202871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>
                <a:solidFill>
                  <a:srgbClr val="FF0000"/>
                </a:solidFill>
                <a:latin typeface="Comic Sans MS" panose="030F0702030302020204" pitchFamily="66" charset="0"/>
              </a:rPr>
              <a:t>m‘=</a:t>
            </a:r>
            <a:r>
              <a:rPr lang="en-US" altLang="he-IL" sz="2000" err="1">
                <a:solidFill>
                  <a:srgbClr val="FF0000"/>
                </a:solidFill>
                <a:latin typeface="Comic Sans MS" panose="030F0702030302020204" pitchFamily="66" charset="0"/>
              </a:rPr>
              <a:t>D</a:t>
            </a:r>
            <a:r>
              <a:rPr lang="en-US" altLang="he-IL" sz="2000" baseline="-25000" err="1">
                <a:solidFill>
                  <a:srgbClr val="FF0000"/>
                </a:solidFill>
                <a:latin typeface="Comic Sans MS" panose="030F0702030302020204" pitchFamily="66" charset="0"/>
              </a:rPr>
              <a:t>k</a:t>
            </a:r>
            <a:r>
              <a:rPr lang="en-US" altLang="he-IL" sz="2000">
                <a:solidFill>
                  <a:srgbClr val="FF0000"/>
                </a:solidFill>
                <a:latin typeface="Comic Sans MS" panose="030F0702030302020204" pitchFamily="66" charset="0"/>
              </a:rPr>
              <a:t>(c’)</a:t>
            </a:r>
          </a:p>
        </p:txBody>
      </p:sp>
      <p:pic>
        <p:nvPicPr>
          <p:cNvPr id="3" name="תמונה 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9807" y="2078673"/>
            <a:ext cx="901192" cy="901192"/>
          </a:xfrm>
          <a:prstGeom prst="rect">
            <a:avLst/>
          </a:prstGeom>
        </p:spPr>
      </p:pic>
      <p:sp>
        <p:nvSpPr>
          <p:cNvPr id="26" name="Line 10"/>
          <p:cNvSpPr>
            <a:spLocks noChangeShapeType="1"/>
          </p:cNvSpPr>
          <p:nvPr/>
        </p:nvSpPr>
        <p:spPr bwMode="auto">
          <a:xfrm flipV="1">
            <a:off x="4449207" y="2677922"/>
            <a:ext cx="742035" cy="5268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7" name="Text Box 18"/>
          <p:cNvSpPr txBox="1">
            <a:spLocks noChangeArrowheads="1"/>
          </p:cNvSpPr>
          <p:nvPr/>
        </p:nvSpPr>
        <p:spPr bwMode="auto">
          <a:xfrm>
            <a:off x="4743116" y="2728467"/>
            <a:ext cx="412590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>
                <a:solidFill>
                  <a:srgbClr val="FF0000"/>
                </a:solidFill>
                <a:latin typeface="Comic Sans MS" panose="030F0702030302020204" pitchFamily="66" charset="0"/>
              </a:rPr>
              <a:t>c'</a:t>
            </a:r>
          </a:p>
        </p:txBody>
      </p:sp>
      <p:sp>
        <p:nvSpPr>
          <p:cNvPr id="28" name="Text Box 17"/>
          <p:cNvSpPr txBox="1">
            <a:spLocks noChangeArrowheads="1"/>
          </p:cNvSpPr>
          <p:nvPr/>
        </p:nvSpPr>
        <p:spPr bwMode="auto">
          <a:xfrm>
            <a:off x="6303087" y="3130758"/>
            <a:ext cx="1196459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 dirty="0">
                <a:solidFill>
                  <a:srgbClr val="FF0000"/>
                </a:solidFill>
                <a:latin typeface="Comic Sans MS" panose="030F0702030302020204" pitchFamily="66" charset="0"/>
              </a:rPr>
              <a:t>m’=“Bye”</a:t>
            </a:r>
          </a:p>
        </p:txBody>
      </p:sp>
      <p:pic>
        <p:nvPicPr>
          <p:cNvPr id="44050" name="Picture 16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0958" y="1236318"/>
            <a:ext cx="465138" cy="241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4638243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9" name="Rectangle 2"/>
          <p:cNvSpPr>
            <a:spLocks noGrp="1" noChangeArrowheads="1"/>
          </p:cNvSpPr>
          <p:nvPr>
            <p:ph type="title"/>
          </p:nvPr>
        </p:nvSpPr>
        <p:spPr>
          <a:xfrm>
            <a:off x="388938" y="277813"/>
            <a:ext cx="8503542" cy="777875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sz="4400"/>
              <a:t>Does Encryption Prevent Forgery?</a:t>
            </a:r>
          </a:p>
        </p:txBody>
      </p:sp>
      <p:sp>
        <p:nvSpPr>
          <p:cNvPr id="21510" name="Rectangle 3"/>
          <p:cNvSpPr>
            <a:spLocks noGrp="1" noChangeArrowheads="1"/>
          </p:cNvSpPr>
          <p:nvPr>
            <p:ph idx="1"/>
          </p:nvPr>
        </p:nvSpPr>
        <p:spPr>
          <a:xfrm>
            <a:off x="457993" y="1055688"/>
            <a:ext cx="8228013" cy="5418684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sz="2400" dirty="0"/>
              <a:t>Cannot be guaranteed.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200" dirty="0"/>
              <a:t>Several secure encryption schemes are malleable (an attacker might be able to alter the ciphertext, and hence, the decrypted plaintext will be different).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400" dirty="0"/>
              <a:t>Bitwise stream ciphers (&amp; OTP) are malleable.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200" dirty="0"/>
              <a:t>Given c=</a:t>
            </a:r>
            <a:r>
              <a:rPr lang="en-US" altLang="en-US" sz="2200" dirty="0" err="1"/>
              <a:t>m</a:t>
            </a:r>
            <a:r>
              <a:rPr lang="en-US" altLang="en-US" sz="2200" dirty="0" err="1">
                <a:sym typeface="Symbol" panose="05050102010706020507" pitchFamily="18" charset="2"/>
              </a:rPr>
              <a:t>k</a:t>
            </a:r>
            <a:r>
              <a:rPr lang="en-US" altLang="en-US" sz="2200" dirty="0">
                <a:sym typeface="Symbol" panose="05050102010706020507" pitchFamily="18" charset="2"/>
              </a:rPr>
              <a:t>, attacker can send </a:t>
            </a:r>
            <a:r>
              <a:rPr lang="en-US" altLang="en-US" sz="2200" dirty="0" err="1"/>
              <a:t>c</a:t>
            </a:r>
            <a:r>
              <a:rPr lang="en-US" altLang="en-US" sz="2200" dirty="0" err="1">
                <a:sym typeface="Symbol" panose="05050102010706020507" pitchFamily="18" charset="2"/>
              </a:rPr>
              <a:t>mask</a:t>
            </a:r>
            <a:r>
              <a:rPr lang="en-US" altLang="en-US" sz="2200" dirty="0">
                <a:sym typeface="Symbol" panose="05050102010706020507" pitchFamily="18" charset="2"/>
              </a:rPr>
              <a:t>, to invert any bit in decrypted message.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400" dirty="0"/>
              <a:t>Example, send “Pay Bob $100” encrypted using OTP. 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200" dirty="0"/>
              <a:t>Eve can change it to “Pay Eve $100” (note that this is a KPA attacker). How?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en-US" sz="1800" dirty="0"/>
              <a:t>Take the ciphertext of the letter “B” above, denote it as c[4].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en-US" sz="1800" dirty="0">
                <a:sym typeface="Symbol" panose="05050102010706020507" pitchFamily="18" charset="2"/>
              </a:rPr>
              <a:t>Note that c[4] </a:t>
            </a:r>
            <a:r>
              <a:rPr lang="en-US" altLang="en-US" sz="1800" dirty="0"/>
              <a:t>= k[4] </a:t>
            </a:r>
            <a:r>
              <a:rPr lang="en-US" altLang="en-US" sz="1800" dirty="0">
                <a:sym typeface="Symbol" panose="05050102010706020507" pitchFamily="18" charset="2"/>
              </a:rPr>
              <a:t> “B” (note that we do know the key!)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en-US" sz="1800" dirty="0">
                <a:sym typeface="Symbol" panose="05050102010706020507" pitchFamily="18" charset="2"/>
              </a:rPr>
              <a:t>Compute a mask that does the following: c[4]  mask </a:t>
            </a:r>
            <a:r>
              <a:rPr lang="en-US" altLang="en-US" sz="1800" dirty="0"/>
              <a:t>= k[4] </a:t>
            </a:r>
            <a:r>
              <a:rPr lang="en-US" altLang="en-US" sz="1800" dirty="0">
                <a:sym typeface="Symbol" panose="05050102010706020507" pitchFamily="18" charset="2"/>
              </a:rPr>
              <a:t> “E” (this boils down to computing “B”  mask </a:t>
            </a:r>
            <a:r>
              <a:rPr lang="en-US" altLang="en-US" sz="1800" dirty="0"/>
              <a:t>= </a:t>
            </a:r>
            <a:r>
              <a:rPr lang="en-US" altLang="en-US" sz="1800" dirty="0">
                <a:sym typeface="Symbol" panose="05050102010706020507" pitchFamily="18" charset="2"/>
              </a:rPr>
              <a:t>“E” )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en-US" sz="1800" dirty="0">
                <a:sym typeface="Symbol" panose="05050102010706020507" pitchFamily="18" charset="2"/>
              </a:rPr>
              <a:t>Repeat that for the rest of the letters.</a:t>
            </a:r>
          </a:p>
          <a:p>
            <a:pPr lvl="2" eaLnBrk="1" hangingPunct="1">
              <a:lnSpc>
                <a:spcPct val="90000"/>
              </a:lnSpc>
            </a:pPr>
            <a:endParaRPr lang="en-US" altLang="en-US" sz="1800" dirty="0"/>
          </a:p>
          <a:p>
            <a:pPr marL="457200" lvl="1" indent="0" eaLnBrk="1" hangingPunct="1">
              <a:lnSpc>
                <a:spcPct val="90000"/>
              </a:lnSpc>
              <a:buNone/>
            </a:pPr>
            <a:endParaRPr lang="en-US" altLang="en-US" sz="2200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2707738-BD09-7446-BC0E-D06A2EFD2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97766" y="6243638"/>
            <a:ext cx="287447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5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182499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5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5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5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5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15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15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15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15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15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15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5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533399" y="304800"/>
            <a:ext cx="8526517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dirty="0"/>
              <a:t>Message Authentication Codes (MACs)</a:t>
            </a:r>
          </a:p>
        </p:txBody>
      </p:sp>
      <p:sp>
        <p:nvSpPr>
          <p:cNvPr id="25606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685800" y="1268413"/>
            <a:ext cx="7772400" cy="1186233"/>
          </a:xfrm>
        </p:spPr>
        <p:txBody>
          <a:bodyPr/>
          <a:lstStyle/>
          <a:p>
            <a:pPr marL="341313" indent="-341313" eaLnBrk="1" hangingPunct="1"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400" dirty="0"/>
              <a:t>A MAC allows a recipient to </a:t>
            </a:r>
            <a:r>
              <a:rPr lang="en-US" altLang="en-US" sz="2400" b="1" i="1" dirty="0"/>
              <a:t>validate</a:t>
            </a:r>
            <a:r>
              <a:rPr lang="en-US" altLang="en-US" sz="2400" dirty="0"/>
              <a:t> that a message was </a:t>
            </a:r>
            <a:r>
              <a:rPr lang="en-US" altLang="en-US" sz="2400" b="1" i="1" dirty="0"/>
              <a:t>not tampered </a:t>
            </a:r>
            <a:r>
              <a:rPr lang="en-US" altLang="en-US" sz="2400" dirty="0"/>
              <a:t>with and that it was sent by a </a:t>
            </a:r>
            <a:r>
              <a:rPr lang="en-US" altLang="en-US" sz="2400" b="1" i="1" dirty="0"/>
              <a:t>key holder</a:t>
            </a:r>
          </a:p>
        </p:txBody>
      </p:sp>
      <p:sp>
        <p:nvSpPr>
          <p:cNvPr id="25609" name="Rectangle 5"/>
          <p:cNvSpPr>
            <a:spLocks noChangeArrowheads="1"/>
          </p:cNvSpPr>
          <p:nvPr/>
        </p:nvSpPr>
        <p:spPr bwMode="auto">
          <a:xfrm>
            <a:off x="1093292" y="5408613"/>
            <a:ext cx="889000" cy="314325"/>
          </a:xfrm>
          <a:prstGeom prst="rect">
            <a:avLst/>
          </a:pr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</a:t>
            </a:r>
            <a:r>
              <a:rPr lang="en-US" alt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sp>
        <p:nvSpPr>
          <p:cNvPr id="25610" name="Rectangle 6"/>
          <p:cNvSpPr>
            <a:spLocks noChangeArrowheads="1"/>
          </p:cNvSpPr>
          <p:nvPr/>
        </p:nvSpPr>
        <p:spPr bwMode="auto">
          <a:xfrm>
            <a:off x="5302250" y="5094288"/>
            <a:ext cx="889000" cy="314325"/>
          </a:xfrm>
          <a:prstGeom prst="rect">
            <a:avLst/>
          </a:pr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</a:t>
            </a:r>
            <a:r>
              <a:rPr lang="en-US" alt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sp>
        <p:nvSpPr>
          <p:cNvPr id="25611" name="Line 7"/>
          <p:cNvSpPr>
            <a:spLocks noChangeShapeType="1"/>
          </p:cNvSpPr>
          <p:nvPr/>
        </p:nvSpPr>
        <p:spPr bwMode="auto">
          <a:xfrm flipV="1">
            <a:off x="2411760" y="4635499"/>
            <a:ext cx="2734915" cy="17636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5612" name="Text Box 8"/>
          <p:cNvSpPr txBox="1">
            <a:spLocks noChangeArrowheads="1"/>
          </p:cNvSpPr>
          <p:nvPr/>
        </p:nvSpPr>
        <p:spPr bwMode="auto">
          <a:xfrm>
            <a:off x="1948806" y="4679868"/>
            <a:ext cx="3055242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m=“Hi”, </a:t>
            </a:r>
            <a:r>
              <a:rPr lang="en-US" alt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MAC</a:t>
            </a:r>
            <a:r>
              <a:rPr lang="en-US" altLang="en-US" sz="24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</a:t>
            </a:r>
          </a:p>
        </p:txBody>
      </p:sp>
      <p:sp>
        <p:nvSpPr>
          <p:cNvPr id="25615" name="AutoShape 11"/>
          <p:cNvSpPr>
            <a:spLocks noChangeArrowheads="1"/>
          </p:cNvSpPr>
          <p:nvPr/>
        </p:nvSpPr>
        <p:spPr bwMode="auto">
          <a:xfrm>
            <a:off x="3846786" y="2222501"/>
            <a:ext cx="5297214" cy="1455366"/>
          </a:xfrm>
          <a:prstGeom prst="wedgeEllipseCallout">
            <a:avLst>
              <a:gd name="adj1" fmla="val -13016"/>
              <a:gd name="adj2" fmla="val 76583"/>
            </a:avLst>
          </a:pr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 MAC 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 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Sponge and I know </a:t>
            </a: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k. 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 he sent </a:t>
            </a: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m.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en-US" sz="20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7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5064" y="3961421"/>
            <a:ext cx="763587" cy="1163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1" name="Picture 22">
            <a:extLst>
              <a:ext uri="{FF2B5EF4-FFF2-40B4-BE49-F238E27FC236}">
                <a16:creationId xmlns:a16="http://schemas.microsoft.com/office/drawing/2014/main" id="{4BD7922A-29C1-F24A-8DDA-3994B1064B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8223" y="4293311"/>
            <a:ext cx="600075" cy="773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C7D386A9-45CA-4D45-8A93-79B66546F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97766" y="6243638"/>
            <a:ext cx="287447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6</a:t>
            </a:fld>
            <a:endParaRPr lang="en-US" altLang="he-IL" sz="1800" dirty="0"/>
          </a:p>
        </p:txBody>
      </p:sp>
      <p:sp>
        <p:nvSpPr>
          <p:cNvPr id="2" name="Folded Corner 1">
            <a:extLst>
              <a:ext uri="{FF2B5EF4-FFF2-40B4-BE49-F238E27FC236}">
                <a16:creationId xmlns:a16="http://schemas.microsoft.com/office/drawing/2014/main" id="{BFB71238-4CB3-DD48-81D1-2BC54C23EECD}"/>
              </a:ext>
            </a:extLst>
          </p:cNvPr>
          <p:cNvSpPr/>
          <p:nvPr/>
        </p:nvSpPr>
        <p:spPr bwMode="auto">
          <a:xfrm>
            <a:off x="409903" y="2711669"/>
            <a:ext cx="2259725" cy="717331"/>
          </a:xfrm>
          <a:prstGeom prst="foldedCorner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It is a symmetric key setup!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3737" y="243681"/>
            <a:ext cx="8484476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dirty="0"/>
              <a:t>Message Authentication Codes (MACs)</a:t>
            </a:r>
          </a:p>
        </p:txBody>
      </p:sp>
      <p:sp>
        <p:nvSpPr>
          <p:cNvPr id="2253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52425" y="1039813"/>
            <a:ext cx="7883526" cy="3015276"/>
          </a:xfrm>
        </p:spPr>
        <p:txBody>
          <a:bodyPr/>
          <a:lstStyle/>
          <a:p>
            <a:pPr marL="341313" indent="-341313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600" dirty="0"/>
              <a:t>Use shared key </a:t>
            </a:r>
            <a:r>
              <a:rPr lang="en-US" altLang="en-US" sz="2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600" i="1" dirty="0"/>
              <a:t> </a:t>
            </a:r>
            <a:r>
              <a:rPr lang="en-US" altLang="en-US" sz="2600" dirty="0"/>
              <a:t>to authenticate messages</a:t>
            </a:r>
          </a:p>
          <a:p>
            <a:pPr marL="284163" indent="-284163" eaLnBrk="1" hangingPunct="1">
              <a:lnSpc>
                <a:spcPct val="90000"/>
              </a:lnSpc>
              <a:spcBef>
                <a:spcPts val="55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600" dirty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Pair </a:t>
            </a:r>
            <a:r>
              <a:rPr lang="en-US" altLang="en-US" sz="2600" i="1" dirty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(tag , m) </a:t>
            </a:r>
            <a:r>
              <a:rPr lang="en-US" altLang="en-US" sz="2600" dirty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 </a:t>
            </a:r>
            <a:r>
              <a:rPr lang="en-US" altLang="en-US" sz="2600" u="sng" dirty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</a:t>
            </a:r>
            <a:r>
              <a:rPr lang="en-US" altLang="en-US" sz="2600" i="1" dirty="0">
                <a:solidFill>
                  <a:srgbClr val="FF00FF"/>
                </a:solidFill>
              </a:rPr>
              <a:t> </a:t>
            </a:r>
            <a:r>
              <a:rPr lang="en-US" altLang="en-US" sz="2600" i="1" dirty="0" err="1">
                <a:solidFill>
                  <a:srgbClr val="FF00FF"/>
                </a:solidFill>
              </a:rPr>
              <a:t>iff</a:t>
            </a:r>
            <a:r>
              <a:rPr lang="en-US" altLang="en-US" sz="2600" i="1" dirty="0">
                <a:solidFill>
                  <a:srgbClr val="FF00FF"/>
                </a:solidFill>
              </a:rPr>
              <a:t> </a:t>
            </a:r>
            <a:r>
              <a:rPr lang="en-US" altLang="en-US" sz="2600" i="1" dirty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tag=</a:t>
            </a:r>
            <a:r>
              <a:rPr lang="en-US" altLang="en-US" sz="2600" i="1" dirty="0" err="1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MAC</a:t>
            </a:r>
            <a:r>
              <a:rPr lang="en-US" altLang="en-US" sz="2600" i="1" baseline="-25000" dirty="0" err="1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600" i="1" dirty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(m)</a:t>
            </a:r>
          </a:p>
          <a:p>
            <a:pPr marL="341313" indent="-341313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400" dirty="0"/>
              <a:t>Very efficient</a:t>
            </a:r>
          </a:p>
          <a:p>
            <a:pPr marL="341313" indent="-341313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400" dirty="0"/>
              <a:t>Does not support non-repudiation!</a:t>
            </a:r>
          </a:p>
          <a:p>
            <a:pPr marL="798513" lvl="1" indent="-341313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1900" dirty="0"/>
              <a:t>Sponge may say that the key k has </a:t>
            </a:r>
          </a:p>
          <a:p>
            <a:pPr marL="457200" lvl="1" indent="0" eaLnBrk="1" hangingPunct="1">
              <a:lnSpc>
                <a:spcPct val="90000"/>
              </a:lnSpc>
              <a:buClr>
                <a:srgbClr val="CC9900"/>
              </a:buClr>
              <a:buSzPct val="65000"/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1900" dirty="0"/>
              <a:t>been stolen, and so someone else sent </a:t>
            </a:r>
          </a:p>
          <a:p>
            <a:pPr marL="457200" lvl="1" indent="0" eaLnBrk="1" hangingPunct="1">
              <a:lnSpc>
                <a:spcPct val="90000"/>
              </a:lnSpc>
              <a:buClr>
                <a:srgbClr val="CC9900"/>
              </a:buClr>
              <a:buSzPct val="65000"/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1900" dirty="0"/>
              <a:t>the message.</a:t>
            </a:r>
          </a:p>
        </p:txBody>
      </p:sp>
      <p:sp>
        <p:nvSpPr>
          <p:cNvPr id="22535" name="Rectangle 3"/>
          <p:cNvSpPr>
            <a:spLocks noChangeArrowheads="1"/>
          </p:cNvSpPr>
          <p:nvPr/>
        </p:nvSpPr>
        <p:spPr bwMode="auto">
          <a:xfrm>
            <a:off x="7439025" y="5057777"/>
            <a:ext cx="5508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latin typeface="Times New Roman" panose="02020603050405020304" pitchFamily="18" charset="0"/>
              </a:rPr>
              <a:t>Alice</a:t>
            </a:r>
          </a:p>
        </p:txBody>
      </p:sp>
      <p:sp>
        <p:nvSpPr>
          <p:cNvPr id="22538" name="Freeform 6"/>
          <p:cNvSpPr>
            <a:spLocks noChangeArrowheads="1"/>
          </p:cNvSpPr>
          <p:nvPr/>
        </p:nvSpPr>
        <p:spPr bwMode="auto">
          <a:xfrm>
            <a:off x="4125913" y="4011613"/>
            <a:ext cx="1379537" cy="1223962"/>
          </a:xfrm>
          <a:custGeom>
            <a:avLst/>
            <a:gdLst>
              <a:gd name="T0" fmla="*/ 2147483647 w 8955"/>
              <a:gd name="T1" fmla="*/ 2147483647 h 7937"/>
              <a:gd name="T2" fmla="*/ 2147483647 w 8955"/>
              <a:gd name="T3" fmla="*/ 2147483647 h 7937"/>
              <a:gd name="T4" fmla="*/ 2147483647 w 8955"/>
              <a:gd name="T5" fmla="*/ 2147483647 h 7937"/>
              <a:gd name="T6" fmla="*/ 2147483647 w 8955"/>
              <a:gd name="T7" fmla="*/ 2147483647 h 7937"/>
              <a:gd name="T8" fmla="*/ 2147483647 w 8955"/>
              <a:gd name="T9" fmla="*/ 2147483647 h 7937"/>
              <a:gd name="T10" fmla="*/ 2147483647 w 8955"/>
              <a:gd name="T11" fmla="*/ 2147483647 h 7937"/>
              <a:gd name="T12" fmla="*/ 2147483647 w 8955"/>
              <a:gd name="T13" fmla="*/ 2147483647 h 7937"/>
              <a:gd name="T14" fmla="*/ 2147483647 w 8955"/>
              <a:gd name="T15" fmla="*/ 2147483647 h 7937"/>
              <a:gd name="T16" fmla="*/ 2147483647 w 8955"/>
              <a:gd name="T17" fmla="*/ 2147483647 h 7937"/>
              <a:gd name="T18" fmla="*/ 2147483647 w 8955"/>
              <a:gd name="T19" fmla="*/ 2147483647 h 7937"/>
              <a:gd name="T20" fmla="*/ 2147483647 w 8955"/>
              <a:gd name="T21" fmla="*/ 2147483647 h 7937"/>
              <a:gd name="T22" fmla="*/ 2147483647 w 8955"/>
              <a:gd name="T23" fmla="*/ 2147483647 h 7937"/>
              <a:gd name="T24" fmla="*/ 2147483647 w 8955"/>
              <a:gd name="T25" fmla="*/ 2147483647 h 7937"/>
              <a:gd name="T26" fmla="*/ 2147483647 w 8955"/>
              <a:gd name="T27" fmla="*/ 2147483647 h 7937"/>
              <a:gd name="T28" fmla="*/ 2147483647 w 8955"/>
              <a:gd name="T29" fmla="*/ 2147483647 h 7937"/>
              <a:gd name="T30" fmla="*/ 2147483647 w 8955"/>
              <a:gd name="T31" fmla="*/ 2147483647 h 7937"/>
              <a:gd name="T32" fmla="*/ 2147483647 w 8955"/>
              <a:gd name="T33" fmla="*/ 2147483647 h 7937"/>
              <a:gd name="T34" fmla="*/ 2147483647 w 8955"/>
              <a:gd name="T35" fmla="*/ 2147483647 h 7937"/>
              <a:gd name="T36" fmla="*/ 2147483647 w 8955"/>
              <a:gd name="T37" fmla="*/ 2147483647 h 7937"/>
              <a:gd name="T38" fmla="*/ 2147483647 w 8955"/>
              <a:gd name="T39" fmla="*/ 2147483647 h 7937"/>
              <a:gd name="T40" fmla="*/ 2147483647 w 8955"/>
              <a:gd name="T41" fmla="*/ 2147483647 h 7937"/>
              <a:gd name="T42" fmla="*/ 2147483647 w 8955"/>
              <a:gd name="T43" fmla="*/ 2147483647 h 7937"/>
              <a:gd name="T44" fmla="*/ 2147483647 w 8955"/>
              <a:gd name="T45" fmla="*/ 2147483647 h 7937"/>
              <a:gd name="T46" fmla="*/ 2147483647 w 8955"/>
              <a:gd name="T47" fmla="*/ 2147483647 h 7937"/>
              <a:gd name="T48" fmla="*/ 2147483647 w 8955"/>
              <a:gd name="T49" fmla="*/ 2147483647 h 7937"/>
              <a:gd name="T50" fmla="*/ 2147483647 w 8955"/>
              <a:gd name="T51" fmla="*/ 2147483647 h 7937"/>
              <a:gd name="T52" fmla="*/ 2147483647 w 8955"/>
              <a:gd name="T53" fmla="*/ 2147483647 h 7937"/>
              <a:gd name="T54" fmla="*/ 2147483647 w 8955"/>
              <a:gd name="T55" fmla="*/ 2147483647 h 7937"/>
              <a:gd name="T56" fmla="*/ 2147483647 w 8955"/>
              <a:gd name="T57" fmla="*/ 2147483647 h 7937"/>
              <a:gd name="T58" fmla="*/ 2147483647 w 8955"/>
              <a:gd name="T59" fmla="*/ 2147483647 h 7937"/>
              <a:gd name="T60" fmla="*/ 2147483647 w 8955"/>
              <a:gd name="T61" fmla="*/ 2147483647 h 7937"/>
              <a:gd name="T62" fmla="*/ 2147483647 w 8955"/>
              <a:gd name="T63" fmla="*/ 2147483647 h 7937"/>
              <a:gd name="T64" fmla="*/ 2147483647 w 8955"/>
              <a:gd name="T65" fmla="*/ 2147483647 h 7937"/>
              <a:gd name="T66" fmla="*/ 2147483647 w 8955"/>
              <a:gd name="T67" fmla="*/ 2147483647 h 7937"/>
              <a:gd name="T68" fmla="*/ 2147483647 w 8955"/>
              <a:gd name="T69" fmla="*/ 2147483647 h 7937"/>
              <a:gd name="T70" fmla="*/ 2147483647 w 8955"/>
              <a:gd name="T71" fmla="*/ 2147483647 h 7937"/>
              <a:gd name="T72" fmla="*/ 2147483647 w 8955"/>
              <a:gd name="T73" fmla="*/ 2147483647 h 7937"/>
              <a:gd name="T74" fmla="*/ 2147483647 w 8955"/>
              <a:gd name="T75" fmla="*/ 2147483647 h 7937"/>
              <a:gd name="T76" fmla="*/ 2147483647 w 8955"/>
              <a:gd name="T77" fmla="*/ 2147483647 h 7937"/>
              <a:gd name="T78" fmla="*/ 2147483647 w 8955"/>
              <a:gd name="T79" fmla="*/ 2147483647 h 7937"/>
              <a:gd name="T80" fmla="*/ 2147483647 w 8955"/>
              <a:gd name="T81" fmla="*/ 2147483647 h 7937"/>
              <a:gd name="T82" fmla="*/ 2147483647 w 8955"/>
              <a:gd name="T83" fmla="*/ 2147483647 h 7937"/>
              <a:gd name="T84" fmla="*/ 2147483647 w 8955"/>
              <a:gd name="T85" fmla="*/ 2147483647 h 7937"/>
              <a:gd name="T86" fmla="*/ 0 w 8955"/>
              <a:gd name="T87" fmla="*/ 2147483647 h 7937"/>
              <a:gd name="T88" fmla="*/ 2147483647 w 8955"/>
              <a:gd name="T89" fmla="*/ 2147483647 h 7937"/>
              <a:gd name="T90" fmla="*/ 2147483647 w 8955"/>
              <a:gd name="T91" fmla="*/ 2147483647 h 7937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</a:gdLst>
            <a:ahLst/>
            <a:cxnLst>
              <a:cxn ang="T92">
                <a:pos x="T0" y="T1"/>
              </a:cxn>
              <a:cxn ang="T93">
                <a:pos x="T2" y="T3"/>
              </a:cxn>
              <a:cxn ang="T94">
                <a:pos x="T4" y="T5"/>
              </a:cxn>
              <a:cxn ang="T95">
                <a:pos x="T6" y="T7"/>
              </a:cxn>
              <a:cxn ang="T96">
                <a:pos x="T8" y="T9"/>
              </a:cxn>
              <a:cxn ang="T97">
                <a:pos x="T10" y="T11"/>
              </a:cxn>
              <a:cxn ang="T98">
                <a:pos x="T12" y="T13"/>
              </a:cxn>
              <a:cxn ang="T99">
                <a:pos x="T14" y="T15"/>
              </a:cxn>
              <a:cxn ang="T100">
                <a:pos x="T16" y="T17"/>
              </a:cxn>
              <a:cxn ang="T101">
                <a:pos x="T18" y="T19"/>
              </a:cxn>
              <a:cxn ang="T102">
                <a:pos x="T20" y="T21"/>
              </a:cxn>
              <a:cxn ang="T103">
                <a:pos x="T22" y="T23"/>
              </a:cxn>
              <a:cxn ang="T104">
                <a:pos x="T24" y="T25"/>
              </a:cxn>
              <a:cxn ang="T105">
                <a:pos x="T26" y="T27"/>
              </a:cxn>
              <a:cxn ang="T106">
                <a:pos x="T28" y="T29"/>
              </a:cxn>
              <a:cxn ang="T107">
                <a:pos x="T30" y="T31"/>
              </a:cxn>
              <a:cxn ang="T108">
                <a:pos x="T32" y="T33"/>
              </a:cxn>
              <a:cxn ang="T109">
                <a:pos x="T34" y="T35"/>
              </a:cxn>
              <a:cxn ang="T110">
                <a:pos x="T36" y="T37"/>
              </a:cxn>
              <a:cxn ang="T111">
                <a:pos x="T38" y="T39"/>
              </a:cxn>
              <a:cxn ang="T112">
                <a:pos x="T40" y="T41"/>
              </a:cxn>
              <a:cxn ang="T113">
                <a:pos x="T42" y="T43"/>
              </a:cxn>
              <a:cxn ang="T114">
                <a:pos x="T44" y="T45"/>
              </a:cxn>
              <a:cxn ang="T115">
                <a:pos x="T46" y="T47"/>
              </a:cxn>
              <a:cxn ang="T116">
                <a:pos x="T48" y="T49"/>
              </a:cxn>
              <a:cxn ang="T117">
                <a:pos x="T50" y="T51"/>
              </a:cxn>
              <a:cxn ang="T118">
                <a:pos x="T52" y="T53"/>
              </a:cxn>
              <a:cxn ang="T119">
                <a:pos x="T54" y="T55"/>
              </a:cxn>
              <a:cxn ang="T120">
                <a:pos x="T56" y="T57"/>
              </a:cxn>
              <a:cxn ang="T121">
                <a:pos x="T58" y="T59"/>
              </a:cxn>
              <a:cxn ang="T122">
                <a:pos x="T60" y="T61"/>
              </a:cxn>
              <a:cxn ang="T123">
                <a:pos x="T62" y="T63"/>
              </a:cxn>
              <a:cxn ang="T124">
                <a:pos x="T64" y="T65"/>
              </a:cxn>
              <a:cxn ang="T125">
                <a:pos x="T66" y="T67"/>
              </a:cxn>
              <a:cxn ang="T126">
                <a:pos x="T68" y="T69"/>
              </a:cxn>
              <a:cxn ang="T127">
                <a:pos x="T70" y="T71"/>
              </a:cxn>
              <a:cxn ang="T128">
                <a:pos x="T72" y="T73"/>
              </a:cxn>
              <a:cxn ang="T129">
                <a:pos x="T74" y="T75"/>
              </a:cxn>
              <a:cxn ang="T130">
                <a:pos x="T76" y="T77"/>
              </a:cxn>
              <a:cxn ang="T131">
                <a:pos x="T78" y="T79"/>
              </a:cxn>
              <a:cxn ang="T132">
                <a:pos x="T80" y="T81"/>
              </a:cxn>
              <a:cxn ang="T133">
                <a:pos x="T82" y="T83"/>
              </a:cxn>
              <a:cxn ang="T134">
                <a:pos x="T84" y="T85"/>
              </a:cxn>
              <a:cxn ang="T135">
                <a:pos x="T86" y="T87"/>
              </a:cxn>
              <a:cxn ang="T136">
                <a:pos x="T88" y="T89"/>
              </a:cxn>
              <a:cxn ang="T137">
                <a:pos x="T90" y="T91"/>
              </a:cxn>
            </a:cxnLst>
            <a:rect l="0" t="0" r="r" b="b"/>
            <a:pathLst>
              <a:path w="8955" h="7937">
                <a:moveTo>
                  <a:pt x="24" y="7886"/>
                </a:moveTo>
                <a:lnTo>
                  <a:pt x="1033" y="7846"/>
                </a:lnTo>
                <a:lnTo>
                  <a:pt x="1533" y="7822"/>
                </a:lnTo>
                <a:lnTo>
                  <a:pt x="2028" y="7793"/>
                </a:lnTo>
                <a:lnTo>
                  <a:pt x="2515" y="7756"/>
                </a:lnTo>
                <a:lnTo>
                  <a:pt x="2992" y="7710"/>
                </a:lnTo>
                <a:lnTo>
                  <a:pt x="3459" y="7654"/>
                </a:lnTo>
                <a:lnTo>
                  <a:pt x="3914" y="7585"/>
                </a:lnTo>
                <a:lnTo>
                  <a:pt x="4353" y="7501"/>
                </a:lnTo>
                <a:lnTo>
                  <a:pt x="4777" y="7402"/>
                </a:lnTo>
                <a:lnTo>
                  <a:pt x="5182" y="7285"/>
                </a:lnTo>
                <a:lnTo>
                  <a:pt x="5567" y="7149"/>
                </a:lnTo>
                <a:lnTo>
                  <a:pt x="5931" y="6992"/>
                </a:lnTo>
                <a:lnTo>
                  <a:pt x="6103" y="6904"/>
                </a:lnTo>
                <a:lnTo>
                  <a:pt x="6269" y="6812"/>
                </a:lnTo>
                <a:lnTo>
                  <a:pt x="6430" y="6712"/>
                </a:lnTo>
                <a:lnTo>
                  <a:pt x="6584" y="6606"/>
                </a:lnTo>
                <a:lnTo>
                  <a:pt x="6731" y="6494"/>
                </a:lnTo>
                <a:lnTo>
                  <a:pt x="6871" y="6374"/>
                </a:lnTo>
                <a:lnTo>
                  <a:pt x="7004" y="6245"/>
                </a:lnTo>
                <a:lnTo>
                  <a:pt x="7130" y="6099"/>
                </a:lnTo>
                <a:lnTo>
                  <a:pt x="7248" y="5940"/>
                </a:lnTo>
                <a:lnTo>
                  <a:pt x="7362" y="5770"/>
                </a:lnTo>
                <a:lnTo>
                  <a:pt x="7468" y="5586"/>
                </a:lnTo>
                <a:lnTo>
                  <a:pt x="7568" y="5392"/>
                </a:lnTo>
                <a:lnTo>
                  <a:pt x="7664" y="5188"/>
                </a:lnTo>
                <a:lnTo>
                  <a:pt x="7752" y="4976"/>
                </a:lnTo>
                <a:lnTo>
                  <a:pt x="7837" y="4755"/>
                </a:lnTo>
                <a:lnTo>
                  <a:pt x="7916" y="4529"/>
                </a:lnTo>
                <a:lnTo>
                  <a:pt x="8059" y="4060"/>
                </a:lnTo>
                <a:lnTo>
                  <a:pt x="8184" y="3578"/>
                </a:lnTo>
                <a:lnTo>
                  <a:pt x="8293" y="3090"/>
                </a:lnTo>
                <a:lnTo>
                  <a:pt x="8388" y="2606"/>
                </a:lnTo>
                <a:lnTo>
                  <a:pt x="8471" y="2132"/>
                </a:lnTo>
                <a:lnTo>
                  <a:pt x="8508" y="1902"/>
                </a:lnTo>
                <a:lnTo>
                  <a:pt x="8543" y="1679"/>
                </a:lnTo>
                <a:lnTo>
                  <a:pt x="8575" y="1462"/>
                </a:lnTo>
                <a:lnTo>
                  <a:pt x="8606" y="1253"/>
                </a:lnTo>
                <a:lnTo>
                  <a:pt x="8635" y="1053"/>
                </a:lnTo>
                <a:lnTo>
                  <a:pt x="8662" y="863"/>
                </a:lnTo>
                <a:lnTo>
                  <a:pt x="8688" y="685"/>
                </a:lnTo>
                <a:lnTo>
                  <a:pt x="8713" y="519"/>
                </a:lnTo>
                <a:lnTo>
                  <a:pt x="8746" y="324"/>
                </a:lnTo>
                <a:cubicBezTo>
                  <a:pt x="8749" y="310"/>
                  <a:pt x="8761" y="301"/>
                  <a:pt x="8775" y="303"/>
                </a:cubicBezTo>
                <a:cubicBezTo>
                  <a:pt x="8789" y="306"/>
                  <a:pt x="8798" y="319"/>
                  <a:pt x="8795" y="332"/>
                </a:cubicBezTo>
                <a:lnTo>
                  <a:pt x="8762" y="526"/>
                </a:lnTo>
                <a:lnTo>
                  <a:pt x="8737" y="692"/>
                </a:lnTo>
                <a:lnTo>
                  <a:pt x="8711" y="870"/>
                </a:lnTo>
                <a:lnTo>
                  <a:pt x="8684" y="1060"/>
                </a:lnTo>
                <a:lnTo>
                  <a:pt x="8655" y="1260"/>
                </a:lnTo>
                <a:lnTo>
                  <a:pt x="8624" y="1469"/>
                </a:lnTo>
                <a:lnTo>
                  <a:pt x="8592" y="1686"/>
                </a:lnTo>
                <a:lnTo>
                  <a:pt x="8557" y="1910"/>
                </a:lnTo>
                <a:lnTo>
                  <a:pt x="8520" y="2141"/>
                </a:lnTo>
                <a:lnTo>
                  <a:pt x="8437" y="2615"/>
                </a:lnTo>
                <a:lnTo>
                  <a:pt x="8342" y="3101"/>
                </a:lnTo>
                <a:lnTo>
                  <a:pt x="8233" y="3591"/>
                </a:lnTo>
                <a:lnTo>
                  <a:pt x="8106" y="4075"/>
                </a:lnTo>
                <a:lnTo>
                  <a:pt x="7963" y="4546"/>
                </a:lnTo>
                <a:lnTo>
                  <a:pt x="7884" y="4773"/>
                </a:lnTo>
                <a:lnTo>
                  <a:pt x="7799" y="4995"/>
                </a:lnTo>
                <a:lnTo>
                  <a:pt x="7709" y="5209"/>
                </a:lnTo>
                <a:lnTo>
                  <a:pt x="7613" y="5415"/>
                </a:lnTo>
                <a:lnTo>
                  <a:pt x="7511" y="5611"/>
                </a:lnTo>
                <a:lnTo>
                  <a:pt x="7403" y="5797"/>
                </a:lnTo>
                <a:lnTo>
                  <a:pt x="7288" y="5970"/>
                </a:lnTo>
                <a:lnTo>
                  <a:pt x="7167" y="6132"/>
                </a:lnTo>
                <a:lnTo>
                  <a:pt x="7039" y="6280"/>
                </a:lnTo>
                <a:lnTo>
                  <a:pt x="6904" y="6413"/>
                </a:lnTo>
                <a:lnTo>
                  <a:pt x="6762" y="6533"/>
                </a:lnTo>
                <a:lnTo>
                  <a:pt x="6613" y="6647"/>
                </a:lnTo>
                <a:lnTo>
                  <a:pt x="6457" y="6755"/>
                </a:lnTo>
                <a:lnTo>
                  <a:pt x="6294" y="6855"/>
                </a:lnTo>
                <a:lnTo>
                  <a:pt x="6126" y="6949"/>
                </a:lnTo>
                <a:lnTo>
                  <a:pt x="5950" y="7037"/>
                </a:lnTo>
                <a:lnTo>
                  <a:pt x="5584" y="7196"/>
                </a:lnTo>
                <a:lnTo>
                  <a:pt x="5195" y="7333"/>
                </a:lnTo>
                <a:lnTo>
                  <a:pt x="4788" y="7451"/>
                </a:lnTo>
                <a:lnTo>
                  <a:pt x="4362" y="7550"/>
                </a:lnTo>
                <a:lnTo>
                  <a:pt x="3921" y="7634"/>
                </a:lnTo>
                <a:lnTo>
                  <a:pt x="3465" y="7703"/>
                </a:lnTo>
                <a:lnTo>
                  <a:pt x="2997" y="7759"/>
                </a:lnTo>
                <a:lnTo>
                  <a:pt x="2518" y="7805"/>
                </a:lnTo>
                <a:lnTo>
                  <a:pt x="2031" y="7842"/>
                </a:lnTo>
                <a:lnTo>
                  <a:pt x="1536" y="7872"/>
                </a:lnTo>
                <a:lnTo>
                  <a:pt x="1035" y="7896"/>
                </a:lnTo>
                <a:lnTo>
                  <a:pt x="26" y="7936"/>
                </a:lnTo>
                <a:cubicBezTo>
                  <a:pt x="13" y="7937"/>
                  <a:pt x="1" y="7926"/>
                  <a:pt x="0" y="7912"/>
                </a:cubicBezTo>
                <a:cubicBezTo>
                  <a:pt x="0" y="7899"/>
                  <a:pt x="11" y="7887"/>
                  <a:pt x="24" y="7886"/>
                </a:cubicBezTo>
                <a:close/>
                <a:moveTo>
                  <a:pt x="8562" y="357"/>
                </a:moveTo>
                <a:lnTo>
                  <a:pt x="8832" y="0"/>
                </a:lnTo>
                <a:lnTo>
                  <a:pt x="8955" y="431"/>
                </a:lnTo>
                <a:lnTo>
                  <a:pt x="8562" y="357"/>
                </a:lnTo>
                <a:close/>
              </a:path>
            </a:pathLst>
          </a:custGeom>
          <a:solidFill>
            <a:srgbClr val="000000"/>
          </a:solidFill>
          <a:ln w="3240">
            <a:solidFill>
              <a:srgbClr val="000000"/>
            </a:solidFill>
            <a:bevel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/>
          </a:p>
        </p:txBody>
      </p:sp>
      <p:sp>
        <p:nvSpPr>
          <p:cNvPr id="22539" name="Freeform 7"/>
          <p:cNvSpPr>
            <a:spLocks noChangeArrowheads="1"/>
          </p:cNvSpPr>
          <p:nvPr/>
        </p:nvSpPr>
        <p:spPr bwMode="auto">
          <a:xfrm>
            <a:off x="5643563" y="4041775"/>
            <a:ext cx="1362075" cy="1252538"/>
          </a:xfrm>
          <a:custGeom>
            <a:avLst/>
            <a:gdLst>
              <a:gd name="T0" fmla="*/ 2147483647 w 4417"/>
              <a:gd name="T1" fmla="*/ 2147483647 h 4061"/>
              <a:gd name="T2" fmla="*/ 2147483647 w 4417"/>
              <a:gd name="T3" fmla="*/ 2147483647 h 4061"/>
              <a:gd name="T4" fmla="*/ 2147483647 w 4417"/>
              <a:gd name="T5" fmla="*/ 2147483647 h 4061"/>
              <a:gd name="T6" fmla="*/ 2147483647 w 4417"/>
              <a:gd name="T7" fmla="*/ 2147483647 h 4061"/>
              <a:gd name="T8" fmla="*/ 2147483647 w 4417"/>
              <a:gd name="T9" fmla="*/ 2147483647 h 4061"/>
              <a:gd name="T10" fmla="*/ 2147483647 w 4417"/>
              <a:gd name="T11" fmla="*/ 2147483647 h 4061"/>
              <a:gd name="T12" fmla="*/ 2147483647 w 4417"/>
              <a:gd name="T13" fmla="*/ 2147483647 h 4061"/>
              <a:gd name="T14" fmla="*/ 2147483647 w 4417"/>
              <a:gd name="T15" fmla="*/ 2147483647 h 4061"/>
              <a:gd name="T16" fmla="*/ 2147483647 w 4417"/>
              <a:gd name="T17" fmla="*/ 2147483647 h 4061"/>
              <a:gd name="T18" fmla="*/ 2147483647 w 4417"/>
              <a:gd name="T19" fmla="*/ 2147483647 h 4061"/>
              <a:gd name="T20" fmla="*/ 2147483647 w 4417"/>
              <a:gd name="T21" fmla="*/ 2147483647 h 4061"/>
              <a:gd name="T22" fmla="*/ 2147483647 w 4417"/>
              <a:gd name="T23" fmla="*/ 2147483647 h 4061"/>
              <a:gd name="T24" fmla="*/ 2147483647 w 4417"/>
              <a:gd name="T25" fmla="*/ 2147483647 h 4061"/>
              <a:gd name="T26" fmla="*/ 2147483647 w 4417"/>
              <a:gd name="T27" fmla="*/ 2147483647 h 4061"/>
              <a:gd name="T28" fmla="*/ 2147483647 w 4417"/>
              <a:gd name="T29" fmla="*/ 2147483647 h 4061"/>
              <a:gd name="T30" fmla="*/ 2147483647 w 4417"/>
              <a:gd name="T31" fmla="*/ 2147483647 h 4061"/>
              <a:gd name="T32" fmla="*/ 2147483647 w 4417"/>
              <a:gd name="T33" fmla="*/ 2147483647 h 4061"/>
              <a:gd name="T34" fmla="*/ 2147483647 w 4417"/>
              <a:gd name="T35" fmla="*/ 2147483647 h 4061"/>
              <a:gd name="T36" fmla="*/ 2147483647 w 4417"/>
              <a:gd name="T37" fmla="*/ 2147483647 h 4061"/>
              <a:gd name="T38" fmla="*/ 2147483647 w 4417"/>
              <a:gd name="T39" fmla="*/ 2147483647 h 4061"/>
              <a:gd name="T40" fmla="*/ 2147483647 w 4417"/>
              <a:gd name="T41" fmla="*/ 2147483647 h 4061"/>
              <a:gd name="T42" fmla="*/ 2147483647 w 4417"/>
              <a:gd name="T43" fmla="*/ 2147483647 h 4061"/>
              <a:gd name="T44" fmla="*/ 2147483647 w 4417"/>
              <a:gd name="T45" fmla="*/ 2147483647 h 4061"/>
              <a:gd name="T46" fmla="*/ 2147483647 w 4417"/>
              <a:gd name="T47" fmla="*/ 2147483647 h 4061"/>
              <a:gd name="T48" fmla="*/ 2147483647 w 4417"/>
              <a:gd name="T49" fmla="*/ 2147483647 h 4061"/>
              <a:gd name="T50" fmla="*/ 2147483647 w 4417"/>
              <a:gd name="T51" fmla="*/ 2147483647 h 4061"/>
              <a:gd name="T52" fmla="*/ 2147483647 w 4417"/>
              <a:gd name="T53" fmla="*/ 2147483647 h 4061"/>
              <a:gd name="T54" fmla="*/ 2147483647 w 4417"/>
              <a:gd name="T55" fmla="*/ 2147483647 h 4061"/>
              <a:gd name="T56" fmla="*/ 2147483647 w 4417"/>
              <a:gd name="T57" fmla="*/ 2147483647 h 4061"/>
              <a:gd name="T58" fmla="*/ 2147483647 w 4417"/>
              <a:gd name="T59" fmla="*/ 2147483647 h 4061"/>
              <a:gd name="T60" fmla="*/ 2147483647 w 4417"/>
              <a:gd name="T61" fmla="*/ 2147483647 h 4061"/>
              <a:gd name="T62" fmla="*/ 2147483647 w 4417"/>
              <a:gd name="T63" fmla="*/ 2147483647 h 4061"/>
              <a:gd name="T64" fmla="*/ 2147483647 w 4417"/>
              <a:gd name="T65" fmla="*/ 2147483647 h 4061"/>
              <a:gd name="T66" fmla="*/ 2147483647 w 4417"/>
              <a:gd name="T67" fmla="*/ 2147483647 h 4061"/>
              <a:gd name="T68" fmla="*/ 2147483647 w 4417"/>
              <a:gd name="T69" fmla="*/ 2147483647 h 4061"/>
              <a:gd name="T70" fmla="*/ 2147483647 w 4417"/>
              <a:gd name="T71" fmla="*/ 2147483647 h 4061"/>
              <a:gd name="T72" fmla="*/ 2147483647 w 4417"/>
              <a:gd name="T73" fmla="*/ 2147483647 h 4061"/>
              <a:gd name="T74" fmla="*/ 2147483647 w 4417"/>
              <a:gd name="T75" fmla="*/ 2147483647 h 4061"/>
              <a:gd name="T76" fmla="*/ 2147483647 w 4417"/>
              <a:gd name="T77" fmla="*/ 2147483647 h 4061"/>
              <a:gd name="T78" fmla="*/ 2147483647 w 4417"/>
              <a:gd name="T79" fmla="*/ 2147483647 h 4061"/>
              <a:gd name="T80" fmla="*/ 2147483647 w 4417"/>
              <a:gd name="T81" fmla="*/ 2147483647 h 4061"/>
              <a:gd name="T82" fmla="*/ 2147483647 w 4417"/>
              <a:gd name="T83" fmla="*/ 2147483647 h 4061"/>
              <a:gd name="T84" fmla="*/ 2147483647 w 4417"/>
              <a:gd name="T85" fmla="*/ 2147483647 h 4061"/>
              <a:gd name="T86" fmla="*/ 2147483647 w 4417"/>
              <a:gd name="T87" fmla="*/ 2147483647 h 4061"/>
              <a:gd name="T88" fmla="*/ 2147483647 w 4417"/>
              <a:gd name="T89" fmla="*/ 2147483647 h 4061"/>
              <a:gd name="T90" fmla="*/ 2147483647 w 4417"/>
              <a:gd name="T91" fmla="*/ 2147483647 h 4061"/>
              <a:gd name="T92" fmla="*/ 2147483647 w 4417"/>
              <a:gd name="T93" fmla="*/ 2147483647 h 4061"/>
              <a:gd name="T94" fmla="*/ 2147483647 w 4417"/>
              <a:gd name="T95" fmla="*/ 2147483647 h 4061"/>
              <a:gd name="T96" fmla="*/ 2147483647 w 4417"/>
              <a:gd name="T97" fmla="*/ 2147483647 h 406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0" t="0" r="r" b="b"/>
            <a:pathLst>
              <a:path w="4417" h="4061">
                <a:moveTo>
                  <a:pt x="4250" y="3975"/>
                </a:moveTo>
                <a:lnTo>
                  <a:pt x="3912" y="3962"/>
                </a:lnTo>
                <a:lnTo>
                  <a:pt x="3662" y="3950"/>
                </a:lnTo>
                <a:lnTo>
                  <a:pt x="3414" y="3935"/>
                </a:lnTo>
                <a:lnTo>
                  <a:pt x="3171" y="3916"/>
                </a:lnTo>
                <a:lnTo>
                  <a:pt x="2931" y="3893"/>
                </a:lnTo>
                <a:lnTo>
                  <a:pt x="2697" y="3865"/>
                </a:lnTo>
                <a:lnTo>
                  <a:pt x="2469" y="3831"/>
                </a:lnTo>
                <a:lnTo>
                  <a:pt x="2248" y="3789"/>
                </a:lnTo>
                <a:lnTo>
                  <a:pt x="2036" y="3739"/>
                </a:lnTo>
                <a:lnTo>
                  <a:pt x="1832" y="3680"/>
                </a:lnTo>
                <a:lnTo>
                  <a:pt x="1638" y="3612"/>
                </a:lnTo>
                <a:lnTo>
                  <a:pt x="1455" y="3532"/>
                </a:lnTo>
                <a:lnTo>
                  <a:pt x="1367" y="3488"/>
                </a:lnTo>
                <a:lnTo>
                  <a:pt x="1282" y="3441"/>
                </a:lnTo>
                <a:lnTo>
                  <a:pt x="1201" y="3391"/>
                </a:lnTo>
                <a:lnTo>
                  <a:pt x="1123" y="3337"/>
                </a:lnTo>
                <a:lnTo>
                  <a:pt x="1049" y="3280"/>
                </a:lnTo>
                <a:lnTo>
                  <a:pt x="978" y="3220"/>
                </a:lnTo>
                <a:lnTo>
                  <a:pt x="910" y="3154"/>
                </a:lnTo>
                <a:lnTo>
                  <a:pt x="846" y="3080"/>
                </a:lnTo>
                <a:lnTo>
                  <a:pt x="785" y="2999"/>
                </a:lnTo>
                <a:lnTo>
                  <a:pt x="728" y="2912"/>
                </a:lnTo>
                <a:lnTo>
                  <a:pt x="674" y="2819"/>
                </a:lnTo>
                <a:lnTo>
                  <a:pt x="623" y="2721"/>
                </a:lnTo>
                <a:lnTo>
                  <a:pt x="575" y="2618"/>
                </a:lnTo>
                <a:lnTo>
                  <a:pt x="530" y="2511"/>
                </a:lnTo>
                <a:lnTo>
                  <a:pt x="488" y="2400"/>
                </a:lnTo>
                <a:lnTo>
                  <a:pt x="448" y="2287"/>
                </a:lnTo>
                <a:lnTo>
                  <a:pt x="377" y="2051"/>
                </a:lnTo>
                <a:lnTo>
                  <a:pt x="313" y="1809"/>
                </a:lnTo>
                <a:lnTo>
                  <a:pt x="259" y="1564"/>
                </a:lnTo>
                <a:lnTo>
                  <a:pt x="211" y="1321"/>
                </a:lnTo>
                <a:lnTo>
                  <a:pt x="170" y="1084"/>
                </a:lnTo>
                <a:lnTo>
                  <a:pt x="151" y="969"/>
                </a:lnTo>
                <a:lnTo>
                  <a:pt x="134" y="857"/>
                </a:lnTo>
                <a:lnTo>
                  <a:pt x="118" y="748"/>
                </a:lnTo>
                <a:lnTo>
                  <a:pt x="102" y="644"/>
                </a:lnTo>
                <a:lnTo>
                  <a:pt x="88" y="544"/>
                </a:lnTo>
                <a:lnTo>
                  <a:pt x="74" y="449"/>
                </a:lnTo>
                <a:lnTo>
                  <a:pt x="61" y="360"/>
                </a:lnTo>
                <a:lnTo>
                  <a:pt x="49" y="277"/>
                </a:lnTo>
                <a:lnTo>
                  <a:pt x="36" y="200"/>
                </a:lnTo>
                <a:lnTo>
                  <a:pt x="25" y="131"/>
                </a:lnTo>
                <a:lnTo>
                  <a:pt x="13" y="70"/>
                </a:lnTo>
                <a:lnTo>
                  <a:pt x="1" y="17"/>
                </a:lnTo>
                <a:cubicBezTo>
                  <a:pt x="0" y="10"/>
                  <a:pt x="4" y="3"/>
                  <a:pt x="11" y="2"/>
                </a:cubicBezTo>
                <a:cubicBezTo>
                  <a:pt x="18" y="0"/>
                  <a:pt x="24" y="5"/>
                  <a:pt x="26" y="11"/>
                </a:cubicBezTo>
                <a:lnTo>
                  <a:pt x="37" y="65"/>
                </a:lnTo>
                <a:lnTo>
                  <a:pt x="49" y="127"/>
                </a:lnTo>
                <a:lnTo>
                  <a:pt x="61" y="196"/>
                </a:lnTo>
                <a:lnTo>
                  <a:pt x="73" y="273"/>
                </a:lnTo>
                <a:lnTo>
                  <a:pt x="86" y="356"/>
                </a:lnTo>
                <a:lnTo>
                  <a:pt x="99" y="445"/>
                </a:lnTo>
                <a:lnTo>
                  <a:pt x="112" y="540"/>
                </a:lnTo>
                <a:lnTo>
                  <a:pt x="127" y="640"/>
                </a:lnTo>
                <a:lnTo>
                  <a:pt x="142" y="745"/>
                </a:lnTo>
                <a:lnTo>
                  <a:pt x="158" y="853"/>
                </a:lnTo>
                <a:lnTo>
                  <a:pt x="176" y="965"/>
                </a:lnTo>
                <a:lnTo>
                  <a:pt x="194" y="1080"/>
                </a:lnTo>
                <a:lnTo>
                  <a:pt x="236" y="1317"/>
                </a:lnTo>
                <a:lnTo>
                  <a:pt x="283" y="1559"/>
                </a:lnTo>
                <a:lnTo>
                  <a:pt x="338" y="1803"/>
                </a:lnTo>
                <a:lnTo>
                  <a:pt x="400" y="2044"/>
                </a:lnTo>
                <a:lnTo>
                  <a:pt x="472" y="2278"/>
                </a:lnTo>
                <a:lnTo>
                  <a:pt x="511" y="2391"/>
                </a:lnTo>
                <a:lnTo>
                  <a:pt x="554" y="2502"/>
                </a:lnTo>
                <a:lnTo>
                  <a:pt x="598" y="2608"/>
                </a:lnTo>
                <a:lnTo>
                  <a:pt x="646" y="2710"/>
                </a:lnTo>
                <a:lnTo>
                  <a:pt x="696" y="2807"/>
                </a:lnTo>
                <a:lnTo>
                  <a:pt x="749" y="2899"/>
                </a:lnTo>
                <a:lnTo>
                  <a:pt x="805" y="2984"/>
                </a:lnTo>
                <a:lnTo>
                  <a:pt x="865" y="3063"/>
                </a:lnTo>
                <a:lnTo>
                  <a:pt x="928" y="3136"/>
                </a:lnTo>
                <a:lnTo>
                  <a:pt x="994" y="3201"/>
                </a:lnTo>
                <a:lnTo>
                  <a:pt x="1064" y="3261"/>
                </a:lnTo>
                <a:lnTo>
                  <a:pt x="1138" y="3317"/>
                </a:lnTo>
                <a:lnTo>
                  <a:pt x="1215" y="3370"/>
                </a:lnTo>
                <a:lnTo>
                  <a:pt x="1295" y="3420"/>
                </a:lnTo>
                <a:lnTo>
                  <a:pt x="1378" y="3466"/>
                </a:lnTo>
                <a:lnTo>
                  <a:pt x="1464" y="3509"/>
                </a:lnTo>
                <a:lnTo>
                  <a:pt x="1646" y="3588"/>
                </a:lnTo>
                <a:lnTo>
                  <a:pt x="1838" y="3656"/>
                </a:lnTo>
                <a:lnTo>
                  <a:pt x="2041" y="3715"/>
                </a:lnTo>
                <a:lnTo>
                  <a:pt x="2253" y="3764"/>
                </a:lnTo>
                <a:lnTo>
                  <a:pt x="2473" y="3806"/>
                </a:lnTo>
                <a:lnTo>
                  <a:pt x="2700" y="3841"/>
                </a:lnTo>
                <a:lnTo>
                  <a:pt x="2933" y="3869"/>
                </a:lnTo>
                <a:lnTo>
                  <a:pt x="3172" y="3892"/>
                </a:lnTo>
                <a:lnTo>
                  <a:pt x="3416" y="3910"/>
                </a:lnTo>
                <a:lnTo>
                  <a:pt x="3663" y="3925"/>
                </a:lnTo>
                <a:lnTo>
                  <a:pt x="3913" y="3937"/>
                </a:lnTo>
                <a:lnTo>
                  <a:pt x="4251" y="3950"/>
                </a:lnTo>
                <a:cubicBezTo>
                  <a:pt x="4258" y="3951"/>
                  <a:pt x="4263" y="3956"/>
                  <a:pt x="4263" y="3963"/>
                </a:cubicBezTo>
                <a:cubicBezTo>
                  <a:pt x="4263" y="3970"/>
                  <a:pt x="4257" y="3976"/>
                  <a:pt x="4250" y="3975"/>
                </a:cubicBezTo>
                <a:close/>
                <a:moveTo>
                  <a:pt x="4221" y="3862"/>
                </a:moveTo>
                <a:lnTo>
                  <a:pt x="4417" y="3969"/>
                </a:lnTo>
                <a:lnTo>
                  <a:pt x="4213" y="4061"/>
                </a:lnTo>
                <a:lnTo>
                  <a:pt x="4221" y="3862"/>
                </a:lnTo>
                <a:close/>
              </a:path>
            </a:pathLst>
          </a:custGeom>
          <a:solidFill>
            <a:srgbClr val="000000"/>
          </a:solidFill>
          <a:ln w="3240">
            <a:solidFill>
              <a:srgbClr val="000000"/>
            </a:solidFill>
            <a:bevel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/>
          </a:p>
        </p:txBody>
      </p:sp>
      <p:grpSp>
        <p:nvGrpSpPr>
          <p:cNvPr id="22540" name="Group 8"/>
          <p:cNvGrpSpPr>
            <a:grpSpLocks/>
          </p:cNvGrpSpPr>
          <p:nvPr/>
        </p:nvGrpSpPr>
        <p:grpSpPr bwMode="auto">
          <a:xfrm>
            <a:off x="4343400" y="4019550"/>
            <a:ext cx="739775" cy="369888"/>
            <a:chOff x="2736" y="2532"/>
            <a:chExt cx="466" cy="233"/>
          </a:xfrm>
        </p:grpSpPr>
        <p:sp>
          <p:nvSpPr>
            <p:cNvPr id="22601" name="Freeform 9"/>
            <p:cNvSpPr>
              <a:spLocks noChangeArrowheads="1"/>
            </p:cNvSpPr>
            <p:nvPr/>
          </p:nvSpPr>
          <p:spPr bwMode="auto">
            <a:xfrm>
              <a:off x="2736" y="2532"/>
              <a:ext cx="466" cy="233"/>
            </a:xfrm>
            <a:custGeom>
              <a:avLst/>
              <a:gdLst>
                <a:gd name="T0" fmla="*/ 0 w 467"/>
                <a:gd name="T1" fmla="*/ 0 h 234"/>
                <a:gd name="T2" fmla="*/ 0 w 467"/>
                <a:gd name="T3" fmla="*/ 229 h 234"/>
                <a:gd name="T4" fmla="*/ 403 w 467"/>
                <a:gd name="T5" fmla="*/ 229 h 234"/>
                <a:gd name="T6" fmla="*/ 462 w 467"/>
                <a:gd name="T7" fmla="*/ 200 h 234"/>
                <a:gd name="T8" fmla="*/ 462 w 467"/>
                <a:gd name="T9" fmla="*/ 0 h 234"/>
                <a:gd name="T10" fmla="*/ 0 w 467"/>
                <a:gd name="T11" fmla="*/ 0 h 234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0" t="0" r="r" b="b"/>
              <a:pathLst>
                <a:path w="467" h="234">
                  <a:moveTo>
                    <a:pt x="0" y="0"/>
                  </a:moveTo>
                  <a:lnTo>
                    <a:pt x="0" y="234"/>
                  </a:lnTo>
                  <a:lnTo>
                    <a:pt x="408" y="234"/>
                  </a:lnTo>
                  <a:lnTo>
                    <a:pt x="467" y="205"/>
                  </a:lnTo>
                  <a:lnTo>
                    <a:pt x="4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CC9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602" name="Freeform 10"/>
            <p:cNvSpPr>
              <a:spLocks noChangeArrowheads="1"/>
            </p:cNvSpPr>
            <p:nvPr/>
          </p:nvSpPr>
          <p:spPr bwMode="auto">
            <a:xfrm>
              <a:off x="3144" y="2737"/>
              <a:ext cx="58" cy="28"/>
            </a:xfrm>
            <a:custGeom>
              <a:avLst/>
              <a:gdLst>
                <a:gd name="T0" fmla="*/ 0 w 600"/>
                <a:gd name="T1" fmla="*/ 0 h 300"/>
                <a:gd name="T2" fmla="*/ 0 w 600"/>
                <a:gd name="T3" fmla="*/ 0 h 300"/>
                <a:gd name="T4" fmla="*/ 0 w 600"/>
                <a:gd name="T5" fmla="*/ 0 h 3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600" h="300">
                  <a:moveTo>
                    <a:pt x="0" y="300"/>
                  </a:moveTo>
                  <a:lnTo>
                    <a:pt x="156" y="11"/>
                  </a:lnTo>
                  <a:cubicBezTo>
                    <a:pt x="216" y="57"/>
                    <a:pt x="376" y="57"/>
                    <a:pt x="600" y="0"/>
                  </a:cubicBezTo>
                </a:path>
              </a:pathLst>
            </a:custGeom>
            <a:solidFill>
              <a:srgbClr val="00A47B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603" name="Freeform 11"/>
            <p:cNvSpPr>
              <a:spLocks noChangeArrowheads="1"/>
            </p:cNvSpPr>
            <p:nvPr/>
          </p:nvSpPr>
          <p:spPr bwMode="auto">
            <a:xfrm>
              <a:off x="2736" y="2532"/>
              <a:ext cx="466" cy="233"/>
            </a:xfrm>
            <a:custGeom>
              <a:avLst/>
              <a:gdLst>
                <a:gd name="T0" fmla="*/ 0 w 467"/>
                <a:gd name="T1" fmla="*/ 0 h 234"/>
                <a:gd name="T2" fmla="*/ 0 w 467"/>
                <a:gd name="T3" fmla="*/ 229 h 234"/>
                <a:gd name="T4" fmla="*/ 403 w 467"/>
                <a:gd name="T5" fmla="*/ 229 h 234"/>
                <a:gd name="T6" fmla="*/ 462 w 467"/>
                <a:gd name="T7" fmla="*/ 200 h 234"/>
                <a:gd name="T8" fmla="*/ 462 w 467"/>
                <a:gd name="T9" fmla="*/ 0 h 234"/>
                <a:gd name="T10" fmla="*/ 0 w 467"/>
                <a:gd name="T11" fmla="*/ 0 h 234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0" t="0" r="r" b="b"/>
              <a:pathLst>
                <a:path w="467" h="234">
                  <a:moveTo>
                    <a:pt x="0" y="0"/>
                  </a:moveTo>
                  <a:lnTo>
                    <a:pt x="0" y="234"/>
                  </a:lnTo>
                  <a:lnTo>
                    <a:pt x="408" y="234"/>
                  </a:lnTo>
                  <a:lnTo>
                    <a:pt x="467" y="205"/>
                  </a:lnTo>
                  <a:lnTo>
                    <a:pt x="467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604" name="Freeform 12"/>
            <p:cNvSpPr>
              <a:spLocks noChangeArrowheads="1"/>
            </p:cNvSpPr>
            <p:nvPr/>
          </p:nvSpPr>
          <p:spPr bwMode="auto">
            <a:xfrm>
              <a:off x="3144" y="2737"/>
              <a:ext cx="58" cy="28"/>
            </a:xfrm>
            <a:custGeom>
              <a:avLst/>
              <a:gdLst>
                <a:gd name="T0" fmla="*/ 0 w 600"/>
                <a:gd name="T1" fmla="*/ 0 h 300"/>
                <a:gd name="T2" fmla="*/ 0 w 600"/>
                <a:gd name="T3" fmla="*/ 0 h 300"/>
                <a:gd name="T4" fmla="*/ 0 w 600"/>
                <a:gd name="T5" fmla="*/ 0 h 3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600" h="300">
                  <a:moveTo>
                    <a:pt x="0" y="300"/>
                  </a:moveTo>
                  <a:lnTo>
                    <a:pt x="156" y="11"/>
                  </a:lnTo>
                  <a:cubicBezTo>
                    <a:pt x="216" y="57"/>
                    <a:pt x="376" y="57"/>
                    <a:pt x="600" y="0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</p:grpSp>
      <p:sp>
        <p:nvSpPr>
          <p:cNvPr id="22541" name="Rectangle 13"/>
          <p:cNvSpPr>
            <a:spLocks noChangeArrowheads="1"/>
          </p:cNvSpPr>
          <p:nvPr/>
        </p:nvSpPr>
        <p:spPr bwMode="auto">
          <a:xfrm>
            <a:off x="4428017" y="4060825"/>
            <a:ext cx="73977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i="1" dirty="0">
                <a:latin typeface="Times New Roman" panose="02020603050405020304" pitchFamily="18" charset="0"/>
              </a:rPr>
              <a:t>“Hi”</a:t>
            </a:r>
          </a:p>
        </p:txBody>
      </p:sp>
      <p:grpSp>
        <p:nvGrpSpPr>
          <p:cNvPr id="22542" name="Group 14"/>
          <p:cNvGrpSpPr>
            <a:grpSpLocks/>
          </p:cNvGrpSpPr>
          <p:nvPr/>
        </p:nvGrpSpPr>
        <p:grpSpPr bwMode="auto">
          <a:xfrm>
            <a:off x="6070600" y="4081463"/>
            <a:ext cx="738188" cy="369887"/>
            <a:chOff x="3824" y="2571"/>
            <a:chExt cx="465" cy="233"/>
          </a:xfrm>
        </p:grpSpPr>
        <p:sp>
          <p:nvSpPr>
            <p:cNvPr id="22597" name="Freeform 15"/>
            <p:cNvSpPr>
              <a:spLocks noChangeArrowheads="1"/>
            </p:cNvSpPr>
            <p:nvPr/>
          </p:nvSpPr>
          <p:spPr bwMode="auto">
            <a:xfrm>
              <a:off x="3824" y="2571"/>
              <a:ext cx="465" cy="233"/>
            </a:xfrm>
            <a:custGeom>
              <a:avLst/>
              <a:gdLst>
                <a:gd name="T0" fmla="*/ 0 w 466"/>
                <a:gd name="T1" fmla="*/ 0 h 234"/>
                <a:gd name="T2" fmla="*/ 0 w 466"/>
                <a:gd name="T3" fmla="*/ 229 h 234"/>
                <a:gd name="T4" fmla="*/ 403 w 466"/>
                <a:gd name="T5" fmla="*/ 229 h 234"/>
                <a:gd name="T6" fmla="*/ 461 w 466"/>
                <a:gd name="T7" fmla="*/ 199 h 234"/>
                <a:gd name="T8" fmla="*/ 461 w 466"/>
                <a:gd name="T9" fmla="*/ 0 h 234"/>
                <a:gd name="T10" fmla="*/ 0 w 466"/>
                <a:gd name="T11" fmla="*/ 0 h 234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0" t="0" r="r" b="b"/>
              <a:pathLst>
                <a:path w="466" h="234">
                  <a:moveTo>
                    <a:pt x="0" y="0"/>
                  </a:moveTo>
                  <a:lnTo>
                    <a:pt x="0" y="234"/>
                  </a:lnTo>
                  <a:lnTo>
                    <a:pt x="408" y="234"/>
                  </a:lnTo>
                  <a:lnTo>
                    <a:pt x="466" y="204"/>
                  </a:lnTo>
                  <a:lnTo>
                    <a:pt x="4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98" name="Freeform 16"/>
            <p:cNvSpPr>
              <a:spLocks noChangeArrowheads="1"/>
            </p:cNvSpPr>
            <p:nvPr/>
          </p:nvSpPr>
          <p:spPr bwMode="auto">
            <a:xfrm>
              <a:off x="4232" y="2775"/>
              <a:ext cx="57" cy="29"/>
            </a:xfrm>
            <a:custGeom>
              <a:avLst/>
              <a:gdLst>
                <a:gd name="T0" fmla="*/ 0 w 600"/>
                <a:gd name="T1" fmla="*/ 0 h 300"/>
                <a:gd name="T2" fmla="*/ 0 w 600"/>
                <a:gd name="T3" fmla="*/ 0 h 300"/>
                <a:gd name="T4" fmla="*/ 0 w 600"/>
                <a:gd name="T5" fmla="*/ 0 h 3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600" h="300">
                  <a:moveTo>
                    <a:pt x="0" y="300"/>
                  </a:moveTo>
                  <a:lnTo>
                    <a:pt x="156" y="11"/>
                  </a:lnTo>
                  <a:cubicBezTo>
                    <a:pt x="216" y="57"/>
                    <a:pt x="376" y="57"/>
                    <a:pt x="600" y="0"/>
                  </a:cubicBezTo>
                </a:path>
              </a:pathLst>
            </a:custGeom>
            <a:solidFill>
              <a:srgbClr val="CD2900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99" name="Freeform 17"/>
            <p:cNvSpPr>
              <a:spLocks noChangeArrowheads="1"/>
            </p:cNvSpPr>
            <p:nvPr/>
          </p:nvSpPr>
          <p:spPr bwMode="auto">
            <a:xfrm>
              <a:off x="3824" y="2571"/>
              <a:ext cx="465" cy="233"/>
            </a:xfrm>
            <a:custGeom>
              <a:avLst/>
              <a:gdLst>
                <a:gd name="T0" fmla="*/ 0 w 466"/>
                <a:gd name="T1" fmla="*/ 0 h 234"/>
                <a:gd name="T2" fmla="*/ 0 w 466"/>
                <a:gd name="T3" fmla="*/ 229 h 234"/>
                <a:gd name="T4" fmla="*/ 403 w 466"/>
                <a:gd name="T5" fmla="*/ 229 h 234"/>
                <a:gd name="T6" fmla="*/ 461 w 466"/>
                <a:gd name="T7" fmla="*/ 199 h 234"/>
                <a:gd name="T8" fmla="*/ 461 w 466"/>
                <a:gd name="T9" fmla="*/ 0 h 234"/>
                <a:gd name="T10" fmla="*/ 0 w 466"/>
                <a:gd name="T11" fmla="*/ 0 h 234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0" t="0" r="r" b="b"/>
              <a:pathLst>
                <a:path w="466" h="234">
                  <a:moveTo>
                    <a:pt x="0" y="0"/>
                  </a:moveTo>
                  <a:lnTo>
                    <a:pt x="0" y="234"/>
                  </a:lnTo>
                  <a:lnTo>
                    <a:pt x="408" y="234"/>
                  </a:lnTo>
                  <a:lnTo>
                    <a:pt x="466" y="204"/>
                  </a:lnTo>
                  <a:lnTo>
                    <a:pt x="466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600" name="Freeform 18"/>
            <p:cNvSpPr>
              <a:spLocks noChangeArrowheads="1"/>
            </p:cNvSpPr>
            <p:nvPr/>
          </p:nvSpPr>
          <p:spPr bwMode="auto">
            <a:xfrm>
              <a:off x="4232" y="2775"/>
              <a:ext cx="57" cy="29"/>
            </a:xfrm>
            <a:custGeom>
              <a:avLst/>
              <a:gdLst>
                <a:gd name="T0" fmla="*/ 0 w 600"/>
                <a:gd name="T1" fmla="*/ 0 h 300"/>
                <a:gd name="T2" fmla="*/ 0 w 600"/>
                <a:gd name="T3" fmla="*/ 0 h 300"/>
                <a:gd name="T4" fmla="*/ 0 w 600"/>
                <a:gd name="T5" fmla="*/ 0 h 3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600" h="300">
                  <a:moveTo>
                    <a:pt x="0" y="300"/>
                  </a:moveTo>
                  <a:lnTo>
                    <a:pt x="156" y="11"/>
                  </a:lnTo>
                  <a:cubicBezTo>
                    <a:pt x="216" y="57"/>
                    <a:pt x="376" y="57"/>
                    <a:pt x="600" y="0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</p:grpSp>
      <p:sp>
        <p:nvSpPr>
          <p:cNvPr id="22543" name="Rectangle 19"/>
          <p:cNvSpPr>
            <a:spLocks noChangeArrowheads="1"/>
          </p:cNvSpPr>
          <p:nvPr/>
        </p:nvSpPr>
        <p:spPr bwMode="auto">
          <a:xfrm>
            <a:off x="6080060" y="4103786"/>
            <a:ext cx="67005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i="1" dirty="0">
                <a:latin typeface="Times New Roman" panose="02020603050405020304" pitchFamily="18" charset="0"/>
              </a:rPr>
              <a:t>“Bye”</a:t>
            </a:r>
          </a:p>
        </p:txBody>
      </p:sp>
      <p:grpSp>
        <p:nvGrpSpPr>
          <p:cNvPr id="22545" name="Group 21"/>
          <p:cNvGrpSpPr>
            <a:grpSpLocks/>
          </p:cNvGrpSpPr>
          <p:nvPr/>
        </p:nvGrpSpPr>
        <p:grpSpPr bwMode="auto">
          <a:xfrm>
            <a:off x="3111500" y="5562600"/>
            <a:ext cx="676275" cy="307975"/>
            <a:chOff x="1960" y="3504"/>
            <a:chExt cx="426" cy="194"/>
          </a:xfrm>
        </p:grpSpPr>
        <p:sp>
          <p:nvSpPr>
            <p:cNvPr id="22595" name="Rectangle 22"/>
            <p:cNvSpPr>
              <a:spLocks noChangeArrowheads="1"/>
            </p:cNvSpPr>
            <p:nvPr/>
          </p:nvSpPr>
          <p:spPr bwMode="auto">
            <a:xfrm>
              <a:off x="1960" y="3504"/>
              <a:ext cx="426" cy="194"/>
            </a:xfrm>
            <a:prstGeom prst="rect">
              <a:avLst/>
            </a:prstGeom>
            <a:solidFill>
              <a:srgbClr val="00CC9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  <p:sp>
          <p:nvSpPr>
            <p:cNvPr id="22596" name="Rectangle 23"/>
            <p:cNvSpPr>
              <a:spLocks noChangeArrowheads="1"/>
            </p:cNvSpPr>
            <p:nvPr/>
          </p:nvSpPr>
          <p:spPr bwMode="auto">
            <a:xfrm>
              <a:off x="1960" y="3504"/>
              <a:ext cx="426" cy="194"/>
            </a:xfrm>
            <a:prstGeom prst="rect">
              <a:avLst/>
            </a:prstGeom>
            <a:noFill/>
            <a:ln w="7920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</p:grpSp>
      <p:sp>
        <p:nvSpPr>
          <p:cNvPr id="22546" name="Rectangle 24"/>
          <p:cNvSpPr>
            <a:spLocks noChangeArrowheads="1"/>
          </p:cNvSpPr>
          <p:nvPr/>
        </p:nvSpPr>
        <p:spPr bwMode="auto">
          <a:xfrm>
            <a:off x="3152775" y="5581650"/>
            <a:ext cx="503238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1">
                <a:latin typeface="Times New Roman" panose="02020603050405020304" pitchFamily="18" charset="0"/>
              </a:rPr>
              <a:t>Key </a:t>
            </a:r>
          </a:p>
        </p:txBody>
      </p:sp>
      <p:sp>
        <p:nvSpPr>
          <p:cNvPr id="22547" name="Rectangle 25"/>
          <p:cNvSpPr>
            <a:spLocks noChangeArrowheads="1"/>
          </p:cNvSpPr>
          <p:nvPr/>
        </p:nvSpPr>
        <p:spPr bwMode="auto">
          <a:xfrm>
            <a:off x="3636963" y="5586413"/>
            <a:ext cx="1127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i="1">
                <a:latin typeface="Times New Roman" panose="02020603050405020304" pitchFamily="18" charset="0"/>
              </a:rPr>
              <a:t>k</a:t>
            </a:r>
          </a:p>
        </p:txBody>
      </p:sp>
      <p:grpSp>
        <p:nvGrpSpPr>
          <p:cNvPr id="22548" name="Group 26"/>
          <p:cNvGrpSpPr>
            <a:grpSpLocks/>
          </p:cNvGrpSpPr>
          <p:nvPr/>
        </p:nvGrpSpPr>
        <p:grpSpPr bwMode="auto">
          <a:xfrm>
            <a:off x="7366000" y="5624513"/>
            <a:ext cx="738188" cy="307975"/>
            <a:chOff x="4640" y="3543"/>
            <a:chExt cx="465" cy="194"/>
          </a:xfrm>
        </p:grpSpPr>
        <p:sp>
          <p:nvSpPr>
            <p:cNvPr id="22593" name="Rectangle 27"/>
            <p:cNvSpPr>
              <a:spLocks noChangeArrowheads="1"/>
            </p:cNvSpPr>
            <p:nvPr/>
          </p:nvSpPr>
          <p:spPr bwMode="auto">
            <a:xfrm>
              <a:off x="4640" y="3543"/>
              <a:ext cx="465" cy="194"/>
            </a:xfrm>
            <a:prstGeom prst="rect">
              <a:avLst/>
            </a:prstGeom>
            <a:solidFill>
              <a:srgbClr val="00CC9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  <p:sp>
          <p:nvSpPr>
            <p:cNvPr id="22594" name="Rectangle 28"/>
            <p:cNvSpPr>
              <a:spLocks noChangeArrowheads="1"/>
            </p:cNvSpPr>
            <p:nvPr/>
          </p:nvSpPr>
          <p:spPr bwMode="auto">
            <a:xfrm>
              <a:off x="4640" y="3543"/>
              <a:ext cx="465" cy="194"/>
            </a:xfrm>
            <a:prstGeom prst="rect">
              <a:avLst/>
            </a:prstGeom>
            <a:noFill/>
            <a:ln w="7920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</p:grpSp>
      <p:sp>
        <p:nvSpPr>
          <p:cNvPr id="22549" name="Rectangle 29"/>
          <p:cNvSpPr>
            <a:spLocks noChangeArrowheads="1"/>
          </p:cNvSpPr>
          <p:nvPr/>
        </p:nvSpPr>
        <p:spPr bwMode="auto">
          <a:xfrm>
            <a:off x="7439025" y="5643563"/>
            <a:ext cx="503238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1">
                <a:latin typeface="Times New Roman" panose="02020603050405020304" pitchFamily="18" charset="0"/>
              </a:rPr>
              <a:t>Key </a:t>
            </a:r>
          </a:p>
        </p:txBody>
      </p:sp>
      <p:sp>
        <p:nvSpPr>
          <p:cNvPr id="22550" name="Rectangle 30"/>
          <p:cNvSpPr>
            <a:spLocks noChangeArrowheads="1"/>
          </p:cNvSpPr>
          <p:nvPr/>
        </p:nvSpPr>
        <p:spPr bwMode="auto">
          <a:xfrm>
            <a:off x="7924800" y="5648325"/>
            <a:ext cx="11271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i="1">
                <a:latin typeface="Times New Roman" panose="02020603050405020304" pitchFamily="18" charset="0"/>
              </a:rPr>
              <a:t>k</a:t>
            </a:r>
          </a:p>
        </p:txBody>
      </p:sp>
      <p:grpSp>
        <p:nvGrpSpPr>
          <p:cNvPr id="22551" name="Group 31"/>
          <p:cNvGrpSpPr>
            <a:grpSpLocks/>
          </p:cNvGrpSpPr>
          <p:nvPr/>
        </p:nvGrpSpPr>
        <p:grpSpPr bwMode="auto">
          <a:xfrm>
            <a:off x="4011612" y="4698999"/>
            <a:ext cx="1501775" cy="371475"/>
            <a:chOff x="2659" y="2960"/>
            <a:chExt cx="659" cy="193"/>
          </a:xfrm>
        </p:grpSpPr>
        <p:sp>
          <p:nvSpPr>
            <p:cNvPr id="22591" name="Rectangle 32"/>
            <p:cNvSpPr>
              <a:spLocks noChangeArrowheads="1"/>
            </p:cNvSpPr>
            <p:nvPr/>
          </p:nvSpPr>
          <p:spPr bwMode="auto">
            <a:xfrm>
              <a:off x="2659" y="2960"/>
              <a:ext cx="659" cy="193"/>
            </a:xfrm>
            <a:prstGeom prst="rect">
              <a:avLst/>
            </a:prstGeom>
            <a:solidFill>
              <a:srgbClr val="00CC9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  <p:sp>
          <p:nvSpPr>
            <p:cNvPr id="22592" name="Rectangle 33"/>
            <p:cNvSpPr>
              <a:spLocks noChangeArrowheads="1"/>
            </p:cNvSpPr>
            <p:nvPr/>
          </p:nvSpPr>
          <p:spPr bwMode="auto">
            <a:xfrm>
              <a:off x="2659" y="2960"/>
              <a:ext cx="659" cy="193"/>
            </a:xfrm>
            <a:prstGeom prst="rect">
              <a:avLst/>
            </a:prstGeom>
            <a:noFill/>
            <a:ln w="7920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</p:grpSp>
      <p:sp>
        <p:nvSpPr>
          <p:cNvPr id="22552" name="Rectangle 34"/>
          <p:cNvSpPr>
            <a:spLocks noChangeArrowheads="1"/>
          </p:cNvSpPr>
          <p:nvPr/>
        </p:nvSpPr>
        <p:spPr bwMode="auto">
          <a:xfrm>
            <a:off x="4136232" y="4739300"/>
            <a:ext cx="536575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i="1" dirty="0">
                <a:latin typeface="Times New Roman" panose="02020603050405020304" pitchFamily="18" charset="0"/>
              </a:rPr>
              <a:t>MAC</a:t>
            </a:r>
          </a:p>
        </p:txBody>
      </p:sp>
      <p:sp>
        <p:nvSpPr>
          <p:cNvPr id="22553" name="Rectangle 35"/>
          <p:cNvSpPr>
            <a:spLocks noChangeArrowheads="1"/>
          </p:cNvSpPr>
          <p:nvPr/>
        </p:nvSpPr>
        <p:spPr bwMode="auto">
          <a:xfrm>
            <a:off x="4680643" y="4857191"/>
            <a:ext cx="96838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500" b="1" i="1" dirty="0">
                <a:latin typeface="Times New Roman" panose="02020603050405020304" pitchFamily="18" charset="0"/>
              </a:rPr>
              <a:t>k</a:t>
            </a:r>
          </a:p>
        </p:txBody>
      </p:sp>
      <p:sp>
        <p:nvSpPr>
          <p:cNvPr id="22554" name="Rectangle 36"/>
          <p:cNvSpPr>
            <a:spLocks noChangeArrowheads="1"/>
          </p:cNvSpPr>
          <p:nvPr/>
        </p:nvSpPr>
        <p:spPr bwMode="auto">
          <a:xfrm>
            <a:off x="4790542" y="4699018"/>
            <a:ext cx="71173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i="1" dirty="0">
                <a:latin typeface="Times New Roman" panose="02020603050405020304" pitchFamily="18" charset="0"/>
              </a:rPr>
              <a:t>(“Hi”)</a:t>
            </a:r>
          </a:p>
        </p:txBody>
      </p:sp>
      <p:grpSp>
        <p:nvGrpSpPr>
          <p:cNvPr id="22556" name="Group 38"/>
          <p:cNvGrpSpPr>
            <a:grpSpLocks/>
          </p:cNvGrpSpPr>
          <p:nvPr/>
        </p:nvGrpSpPr>
        <p:grpSpPr bwMode="auto">
          <a:xfrm>
            <a:off x="5948363" y="4760913"/>
            <a:ext cx="1046162" cy="276225"/>
            <a:chOff x="3747" y="2999"/>
            <a:chExt cx="659" cy="174"/>
          </a:xfrm>
        </p:grpSpPr>
        <p:sp>
          <p:nvSpPr>
            <p:cNvPr id="22589" name="Rectangle 39"/>
            <p:cNvSpPr>
              <a:spLocks noChangeArrowheads="1"/>
            </p:cNvSpPr>
            <p:nvPr/>
          </p:nvSpPr>
          <p:spPr bwMode="auto">
            <a:xfrm>
              <a:off x="3747" y="2999"/>
              <a:ext cx="659" cy="174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  <p:sp>
          <p:nvSpPr>
            <p:cNvPr id="22590" name="Rectangle 40"/>
            <p:cNvSpPr>
              <a:spLocks noChangeArrowheads="1"/>
            </p:cNvSpPr>
            <p:nvPr/>
          </p:nvSpPr>
          <p:spPr bwMode="auto">
            <a:xfrm>
              <a:off x="3747" y="2999"/>
              <a:ext cx="659" cy="174"/>
            </a:xfrm>
            <a:prstGeom prst="rect">
              <a:avLst/>
            </a:prstGeom>
            <a:noFill/>
            <a:ln w="7920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</p:grpSp>
      <p:sp>
        <p:nvSpPr>
          <p:cNvPr id="22557" name="Rectangle 41"/>
          <p:cNvSpPr>
            <a:spLocks noChangeArrowheads="1"/>
          </p:cNvSpPr>
          <p:nvPr/>
        </p:nvSpPr>
        <p:spPr bwMode="auto">
          <a:xfrm>
            <a:off x="6122988" y="4768850"/>
            <a:ext cx="64761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i="1" dirty="0">
                <a:latin typeface="Times New Roman" panose="02020603050405020304" pitchFamily="18" charset="0"/>
              </a:rPr>
              <a:t>tag ??</a:t>
            </a:r>
          </a:p>
        </p:txBody>
      </p:sp>
      <p:sp>
        <p:nvSpPr>
          <p:cNvPr id="22558" name="Rectangle 42"/>
          <p:cNvSpPr>
            <a:spLocks noChangeArrowheads="1"/>
          </p:cNvSpPr>
          <p:nvPr/>
        </p:nvSpPr>
        <p:spPr bwMode="auto">
          <a:xfrm>
            <a:off x="6392863" y="4445000"/>
            <a:ext cx="166687" cy="350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300" b="1">
                <a:latin typeface="Times New Roman" panose="02020603050405020304" pitchFamily="18" charset="0"/>
              </a:rPr>
              <a:t>+</a:t>
            </a:r>
          </a:p>
        </p:txBody>
      </p:sp>
      <p:sp>
        <p:nvSpPr>
          <p:cNvPr id="22559" name="Rectangle 43"/>
          <p:cNvSpPr>
            <a:spLocks noChangeArrowheads="1"/>
          </p:cNvSpPr>
          <p:nvPr/>
        </p:nvSpPr>
        <p:spPr bwMode="auto">
          <a:xfrm>
            <a:off x="4603750" y="4419600"/>
            <a:ext cx="166688" cy="350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300" b="1">
                <a:latin typeface="Times New Roman" panose="02020603050405020304" pitchFamily="18" charset="0"/>
              </a:rPr>
              <a:t>+</a:t>
            </a:r>
          </a:p>
        </p:txBody>
      </p:sp>
      <p:grpSp>
        <p:nvGrpSpPr>
          <p:cNvPr id="22560" name="Group 44"/>
          <p:cNvGrpSpPr>
            <a:grpSpLocks/>
          </p:cNvGrpSpPr>
          <p:nvPr/>
        </p:nvGrpSpPr>
        <p:grpSpPr bwMode="auto">
          <a:xfrm>
            <a:off x="6167438" y="2552700"/>
            <a:ext cx="2212975" cy="1062038"/>
            <a:chOff x="3885" y="1608"/>
            <a:chExt cx="1394" cy="669"/>
          </a:xfrm>
        </p:grpSpPr>
        <p:sp>
          <p:nvSpPr>
            <p:cNvPr id="22570" name="Freeform 45"/>
            <p:cNvSpPr>
              <a:spLocks noChangeArrowheads="1"/>
            </p:cNvSpPr>
            <p:nvPr/>
          </p:nvSpPr>
          <p:spPr bwMode="auto">
            <a:xfrm>
              <a:off x="3885" y="1608"/>
              <a:ext cx="1394" cy="631"/>
            </a:xfrm>
            <a:custGeom>
              <a:avLst/>
              <a:gdLst>
                <a:gd name="T0" fmla="*/ 0 w 7182"/>
                <a:gd name="T1" fmla="*/ 0 h 3254"/>
                <a:gd name="T2" fmla="*/ 0 w 7182"/>
                <a:gd name="T3" fmla="*/ 0 h 3254"/>
                <a:gd name="T4" fmla="*/ 0 w 7182"/>
                <a:gd name="T5" fmla="*/ 1 h 3254"/>
                <a:gd name="T6" fmla="*/ 0 w 7182"/>
                <a:gd name="T7" fmla="*/ 1 h 3254"/>
                <a:gd name="T8" fmla="*/ 0 w 7182"/>
                <a:gd name="T9" fmla="*/ 1 h 3254"/>
                <a:gd name="T10" fmla="*/ 0 w 7182"/>
                <a:gd name="T11" fmla="*/ 1 h 3254"/>
                <a:gd name="T12" fmla="*/ 0 w 7182"/>
                <a:gd name="T13" fmla="*/ 1 h 3254"/>
                <a:gd name="T14" fmla="*/ 0 w 7182"/>
                <a:gd name="T15" fmla="*/ 1 h 3254"/>
                <a:gd name="T16" fmla="*/ 1 w 7182"/>
                <a:gd name="T17" fmla="*/ 1 h 3254"/>
                <a:gd name="T18" fmla="*/ 1 w 7182"/>
                <a:gd name="T19" fmla="*/ 1 h 3254"/>
                <a:gd name="T20" fmla="*/ 1 w 7182"/>
                <a:gd name="T21" fmla="*/ 1 h 3254"/>
                <a:gd name="T22" fmla="*/ 1 w 7182"/>
                <a:gd name="T23" fmla="*/ 1 h 3254"/>
                <a:gd name="T24" fmla="*/ 1 w 7182"/>
                <a:gd name="T25" fmla="*/ 1 h 3254"/>
                <a:gd name="T26" fmla="*/ 1 w 7182"/>
                <a:gd name="T27" fmla="*/ 1 h 3254"/>
                <a:gd name="T28" fmla="*/ 1 w 7182"/>
                <a:gd name="T29" fmla="*/ 1 h 3254"/>
                <a:gd name="T30" fmla="*/ 2 w 7182"/>
                <a:gd name="T31" fmla="*/ 1 h 3254"/>
                <a:gd name="T32" fmla="*/ 2 w 7182"/>
                <a:gd name="T33" fmla="*/ 1 h 3254"/>
                <a:gd name="T34" fmla="*/ 2 w 7182"/>
                <a:gd name="T35" fmla="*/ 0 h 3254"/>
                <a:gd name="T36" fmla="*/ 2 w 7182"/>
                <a:gd name="T37" fmla="*/ 0 h 3254"/>
                <a:gd name="T38" fmla="*/ 2 w 7182"/>
                <a:gd name="T39" fmla="*/ 0 h 3254"/>
                <a:gd name="T40" fmla="*/ 2 w 7182"/>
                <a:gd name="T41" fmla="*/ 0 h 3254"/>
                <a:gd name="T42" fmla="*/ 2 w 7182"/>
                <a:gd name="T43" fmla="*/ 0 h 3254"/>
                <a:gd name="T44" fmla="*/ 2 w 7182"/>
                <a:gd name="T45" fmla="*/ 0 h 3254"/>
                <a:gd name="T46" fmla="*/ 2 w 7182"/>
                <a:gd name="T47" fmla="*/ 0 h 3254"/>
                <a:gd name="T48" fmla="*/ 1 w 7182"/>
                <a:gd name="T49" fmla="*/ 0 h 3254"/>
                <a:gd name="T50" fmla="*/ 1 w 7182"/>
                <a:gd name="T51" fmla="*/ 0 h 3254"/>
                <a:gd name="T52" fmla="*/ 1 w 7182"/>
                <a:gd name="T53" fmla="*/ 0 h 3254"/>
                <a:gd name="T54" fmla="*/ 1 w 7182"/>
                <a:gd name="T55" fmla="*/ 0 h 3254"/>
                <a:gd name="T56" fmla="*/ 1 w 7182"/>
                <a:gd name="T57" fmla="*/ 0 h 3254"/>
                <a:gd name="T58" fmla="*/ 1 w 7182"/>
                <a:gd name="T59" fmla="*/ 0 h 3254"/>
                <a:gd name="T60" fmla="*/ 1 w 7182"/>
                <a:gd name="T61" fmla="*/ 0 h 3254"/>
                <a:gd name="T62" fmla="*/ 1 w 7182"/>
                <a:gd name="T63" fmla="*/ 0 h 3254"/>
                <a:gd name="T64" fmla="*/ 1 w 7182"/>
                <a:gd name="T65" fmla="*/ 0 h 3254"/>
                <a:gd name="T66" fmla="*/ 0 w 7182"/>
                <a:gd name="T67" fmla="*/ 0 h 3254"/>
                <a:gd name="T68" fmla="*/ 0 w 7182"/>
                <a:gd name="T69" fmla="*/ 0 h 3254"/>
                <a:gd name="T70" fmla="*/ 0 w 7182"/>
                <a:gd name="T71" fmla="*/ 0 h 3254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7182" h="3254">
                  <a:moveTo>
                    <a:pt x="648" y="1082"/>
                  </a:moveTo>
                  <a:cubicBezTo>
                    <a:pt x="280" y="1105"/>
                    <a:pt x="0" y="1298"/>
                    <a:pt x="0" y="1527"/>
                  </a:cubicBezTo>
                  <a:cubicBezTo>
                    <a:pt x="0" y="1686"/>
                    <a:pt x="136" y="1833"/>
                    <a:pt x="357" y="1914"/>
                  </a:cubicBezTo>
                  <a:lnTo>
                    <a:pt x="353" y="1909"/>
                  </a:lnTo>
                  <a:cubicBezTo>
                    <a:pt x="228" y="1991"/>
                    <a:pt x="158" y="2100"/>
                    <a:pt x="158" y="2213"/>
                  </a:cubicBezTo>
                  <a:cubicBezTo>
                    <a:pt x="158" y="2460"/>
                    <a:pt x="483" y="2659"/>
                    <a:pt x="883" y="2659"/>
                  </a:cubicBezTo>
                  <a:cubicBezTo>
                    <a:pt x="911" y="2659"/>
                    <a:pt x="939" y="2658"/>
                    <a:pt x="967" y="2656"/>
                  </a:cubicBezTo>
                  <a:lnTo>
                    <a:pt x="963" y="2659"/>
                  </a:lnTo>
                  <a:cubicBezTo>
                    <a:pt x="1192" y="2906"/>
                    <a:pt x="1617" y="3058"/>
                    <a:pt x="2077" y="3058"/>
                  </a:cubicBezTo>
                  <a:cubicBezTo>
                    <a:pt x="2310" y="3058"/>
                    <a:pt x="2539" y="3019"/>
                    <a:pt x="2739" y="2945"/>
                  </a:cubicBezTo>
                  <a:lnTo>
                    <a:pt x="2737" y="2945"/>
                  </a:lnTo>
                  <a:cubicBezTo>
                    <a:pt x="2945" y="3138"/>
                    <a:pt x="3295" y="3254"/>
                    <a:pt x="3670" y="3254"/>
                  </a:cubicBezTo>
                  <a:cubicBezTo>
                    <a:pt x="4165" y="3254"/>
                    <a:pt x="4601" y="3053"/>
                    <a:pt x="4745" y="2761"/>
                  </a:cubicBezTo>
                  <a:lnTo>
                    <a:pt x="4746" y="2765"/>
                  </a:lnTo>
                  <a:cubicBezTo>
                    <a:pt x="4899" y="2823"/>
                    <a:pt x="5075" y="2854"/>
                    <a:pt x="5255" y="2854"/>
                  </a:cubicBezTo>
                  <a:cubicBezTo>
                    <a:pt x="5783" y="2854"/>
                    <a:pt x="6213" y="2592"/>
                    <a:pt x="6217" y="2267"/>
                  </a:cubicBezTo>
                  <a:lnTo>
                    <a:pt x="6215" y="2265"/>
                  </a:lnTo>
                  <a:cubicBezTo>
                    <a:pt x="6770" y="2216"/>
                    <a:pt x="7182" y="1923"/>
                    <a:pt x="7182" y="1578"/>
                  </a:cubicBezTo>
                  <a:cubicBezTo>
                    <a:pt x="7182" y="1425"/>
                    <a:pt x="7100" y="1276"/>
                    <a:pt x="6949" y="1155"/>
                  </a:cubicBezTo>
                  <a:lnTo>
                    <a:pt x="6947" y="1154"/>
                  </a:lnTo>
                  <a:cubicBezTo>
                    <a:pt x="6994" y="1086"/>
                    <a:pt x="7019" y="1013"/>
                    <a:pt x="7019" y="938"/>
                  </a:cubicBezTo>
                  <a:cubicBezTo>
                    <a:pt x="7019" y="691"/>
                    <a:pt x="6751" y="475"/>
                    <a:pt x="6365" y="410"/>
                  </a:cubicBezTo>
                  <a:lnTo>
                    <a:pt x="6368" y="409"/>
                  </a:lnTo>
                  <a:cubicBezTo>
                    <a:pt x="6299" y="172"/>
                    <a:pt x="5964" y="0"/>
                    <a:pt x="5573" y="0"/>
                  </a:cubicBezTo>
                  <a:cubicBezTo>
                    <a:pt x="5336" y="0"/>
                    <a:pt x="5110" y="64"/>
                    <a:pt x="4957" y="176"/>
                  </a:cubicBezTo>
                  <a:lnTo>
                    <a:pt x="4958" y="176"/>
                  </a:lnTo>
                  <a:cubicBezTo>
                    <a:pt x="4821" y="65"/>
                    <a:pt x="4608" y="0"/>
                    <a:pt x="4381" y="0"/>
                  </a:cubicBezTo>
                  <a:cubicBezTo>
                    <a:pt x="4106" y="0"/>
                    <a:pt x="3854" y="96"/>
                    <a:pt x="3732" y="248"/>
                  </a:cubicBezTo>
                  <a:lnTo>
                    <a:pt x="3734" y="255"/>
                  </a:lnTo>
                  <a:cubicBezTo>
                    <a:pt x="3568" y="154"/>
                    <a:pt x="3345" y="98"/>
                    <a:pt x="3112" y="98"/>
                  </a:cubicBezTo>
                  <a:cubicBezTo>
                    <a:pt x="2784" y="98"/>
                    <a:pt x="2483" y="210"/>
                    <a:pt x="2329" y="389"/>
                  </a:cubicBezTo>
                  <a:lnTo>
                    <a:pt x="2326" y="392"/>
                  </a:lnTo>
                  <a:cubicBezTo>
                    <a:pt x="2154" y="330"/>
                    <a:pt x="1958" y="297"/>
                    <a:pt x="1759" y="297"/>
                  </a:cubicBezTo>
                  <a:cubicBezTo>
                    <a:pt x="1138" y="297"/>
                    <a:pt x="636" y="607"/>
                    <a:pt x="636" y="989"/>
                  </a:cubicBezTo>
                  <a:cubicBezTo>
                    <a:pt x="635" y="1021"/>
                    <a:pt x="639" y="1052"/>
                    <a:pt x="646" y="1083"/>
                  </a:cubicBezTo>
                  <a:lnTo>
                    <a:pt x="648" y="1082"/>
                  </a:lnTo>
                  <a:close/>
                </a:path>
              </a:pathLst>
            </a:custGeom>
            <a:solidFill>
              <a:srgbClr val="FF3300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dirty="0"/>
            </a:p>
          </p:txBody>
        </p:sp>
        <p:sp>
          <p:nvSpPr>
            <p:cNvPr id="22571" name="Freeform 46"/>
            <p:cNvSpPr>
              <a:spLocks noChangeArrowheads="1"/>
            </p:cNvSpPr>
            <p:nvPr/>
          </p:nvSpPr>
          <p:spPr bwMode="auto">
            <a:xfrm>
              <a:off x="3885" y="1608"/>
              <a:ext cx="1394" cy="631"/>
            </a:xfrm>
            <a:custGeom>
              <a:avLst/>
              <a:gdLst>
                <a:gd name="T0" fmla="*/ 0 w 7182"/>
                <a:gd name="T1" fmla="*/ 0 h 3254"/>
                <a:gd name="T2" fmla="*/ 0 w 7182"/>
                <a:gd name="T3" fmla="*/ 0 h 3254"/>
                <a:gd name="T4" fmla="*/ 0 w 7182"/>
                <a:gd name="T5" fmla="*/ 1 h 3254"/>
                <a:gd name="T6" fmla="*/ 0 w 7182"/>
                <a:gd name="T7" fmla="*/ 1 h 3254"/>
                <a:gd name="T8" fmla="*/ 0 w 7182"/>
                <a:gd name="T9" fmla="*/ 1 h 3254"/>
                <a:gd name="T10" fmla="*/ 0 w 7182"/>
                <a:gd name="T11" fmla="*/ 1 h 3254"/>
                <a:gd name="T12" fmla="*/ 0 w 7182"/>
                <a:gd name="T13" fmla="*/ 1 h 3254"/>
                <a:gd name="T14" fmla="*/ 0 w 7182"/>
                <a:gd name="T15" fmla="*/ 1 h 3254"/>
                <a:gd name="T16" fmla="*/ 1 w 7182"/>
                <a:gd name="T17" fmla="*/ 1 h 3254"/>
                <a:gd name="T18" fmla="*/ 1 w 7182"/>
                <a:gd name="T19" fmla="*/ 1 h 3254"/>
                <a:gd name="T20" fmla="*/ 1 w 7182"/>
                <a:gd name="T21" fmla="*/ 1 h 3254"/>
                <a:gd name="T22" fmla="*/ 1 w 7182"/>
                <a:gd name="T23" fmla="*/ 1 h 3254"/>
                <a:gd name="T24" fmla="*/ 1 w 7182"/>
                <a:gd name="T25" fmla="*/ 1 h 3254"/>
                <a:gd name="T26" fmla="*/ 1 w 7182"/>
                <a:gd name="T27" fmla="*/ 1 h 3254"/>
                <a:gd name="T28" fmla="*/ 1 w 7182"/>
                <a:gd name="T29" fmla="*/ 1 h 3254"/>
                <a:gd name="T30" fmla="*/ 2 w 7182"/>
                <a:gd name="T31" fmla="*/ 1 h 3254"/>
                <a:gd name="T32" fmla="*/ 2 w 7182"/>
                <a:gd name="T33" fmla="*/ 1 h 3254"/>
                <a:gd name="T34" fmla="*/ 2 w 7182"/>
                <a:gd name="T35" fmla="*/ 0 h 3254"/>
                <a:gd name="T36" fmla="*/ 2 w 7182"/>
                <a:gd name="T37" fmla="*/ 0 h 3254"/>
                <a:gd name="T38" fmla="*/ 2 w 7182"/>
                <a:gd name="T39" fmla="*/ 0 h 3254"/>
                <a:gd name="T40" fmla="*/ 2 w 7182"/>
                <a:gd name="T41" fmla="*/ 0 h 3254"/>
                <a:gd name="T42" fmla="*/ 2 w 7182"/>
                <a:gd name="T43" fmla="*/ 0 h 3254"/>
                <a:gd name="T44" fmla="*/ 2 w 7182"/>
                <a:gd name="T45" fmla="*/ 0 h 3254"/>
                <a:gd name="T46" fmla="*/ 2 w 7182"/>
                <a:gd name="T47" fmla="*/ 0 h 3254"/>
                <a:gd name="T48" fmla="*/ 1 w 7182"/>
                <a:gd name="T49" fmla="*/ 0 h 3254"/>
                <a:gd name="T50" fmla="*/ 1 w 7182"/>
                <a:gd name="T51" fmla="*/ 0 h 3254"/>
                <a:gd name="T52" fmla="*/ 1 w 7182"/>
                <a:gd name="T53" fmla="*/ 0 h 3254"/>
                <a:gd name="T54" fmla="*/ 1 w 7182"/>
                <a:gd name="T55" fmla="*/ 0 h 3254"/>
                <a:gd name="T56" fmla="*/ 1 w 7182"/>
                <a:gd name="T57" fmla="*/ 0 h 3254"/>
                <a:gd name="T58" fmla="*/ 1 w 7182"/>
                <a:gd name="T59" fmla="*/ 0 h 3254"/>
                <a:gd name="T60" fmla="*/ 1 w 7182"/>
                <a:gd name="T61" fmla="*/ 0 h 3254"/>
                <a:gd name="T62" fmla="*/ 1 w 7182"/>
                <a:gd name="T63" fmla="*/ 0 h 3254"/>
                <a:gd name="T64" fmla="*/ 1 w 7182"/>
                <a:gd name="T65" fmla="*/ 0 h 3254"/>
                <a:gd name="T66" fmla="*/ 0 w 7182"/>
                <a:gd name="T67" fmla="*/ 0 h 3254"/>
                <a:gd name="T68" fmla="*/ 0 w 7182"/>
                <a:gd name="T69" fmla="*/ 0 h 3254"/>
                <a:gd name="T70" fmla="*/ 0 w 7182"/>
                <a:gd name="T71" fmla="*/ 0 h 3254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7182" h="3254">
                  <a:moveTo>
                    <a:pt x="648" y="1082"/>
                  </a:moveTo>
                  <a:cubicBezTo>
                    <a:pt x="280" y="1105"/>
                    <a:pt x="0" y="1298"/>
                    <a:pt x="0" y="1527"/>
                  </a:cubicBezTo>
                  <a:cubicBezTo>
                    <a:pt x="0" y="1686"/>
                    <a:pt x="136" y="1833"/>
                    <a:pt x="357" y="1914"/>
                  </a:cubicBezTo>
                  <a:lnTo>
                    <a:pt x="353" y="1909"/>
                  </a:lnTo>
                  <a:cubicBezTo>
                    <a:pt x="228" y="1991"/>
                    <a:pt x="158" y="2100"/>
                    <a:pt x="158" y="2213"/>
                  </a:cubicBezTo>
                  <a:cubicBezTo>
                    <a:pt x="158" y="2460"/>
                    <a:pt x="483" y="2659"/>
                    <a:pt x="883" y="2659"/>
                  </a:cubicBezTo>
                  <a:cubicBezTo>
                    <a:pt x="911" y="2659"/>
                    <a:pt x="939" y="2658"/>
                    <a:pt x="967" y="2656"/>
                  </a:cubicBezTo>
                  <a:lnTo>
                    <a:pt x="963" y="2659"/>
                  </a:lnTo>
                  <a:cubicBezTo>
                    <a:pt x="1192" y="2906"/>
                    <a:pt x="1617" y="3058"/>
                    <a:pt x="2077" y="3058"/>
                  </a:cubicBezTo>
                  <a:cubicBezTo>
                    <a:pt x="2310" y="3058"/>
                    <a:pt x="2539" y="3019"/>
                    <a:pt x="2739" y="2945"/>
                  </a:cubicBezTo>
                  <a:lnTo>
                    <a:pt x="2737" y="2945"/>
                  </a:lnTo>
                  <a:cubicBezTo>
                    <a:pt x="2945" y="3138"/>
                    <a:pt x="3295" y="3254"/>
                    <a:pt x="3670" y="3254"/>
                  </a:cubicBezTo>
                  <a:cubicBezTo>
                    <a:pt x="4165" y="3254"/>
                    <a:pt x="4601" y="3053"/>
                    <a:pt x="4745" y="2761"/>
                  </a:cubicBezTo>
                  <a:lnTo>
                    <a:pt x="4746" y="2765"/>
                  </a:lnTo>
                  <a:cubicBezTo>
                    <a:pt x="4899" y="2823"/>
                    <a:pt x="5075" y="2854"/>
                    <a:pt x="5255" y="2854"/>
                  </a:cubicBezTo>
                  <a:cubicBezTo>
                    <a:pt x="5783" y="2854"/>
                    <a:pt x="6213" y="2592"/>
                    <a:pt x="6217" y="2267"/>
                  </a:cubicBezTo>
                  <a:lnTo>
                    <a:pt x="6215" y="2265"/>
                  </a:lnTo>
                  <a:cubicBezTo>
                    <a:pt x="6770" y="2216"/>
                    <a:pt x="7182" y="1923"/>
                    <a:pt x="7182" y="1578"/>
                  </a:cubicBezTo>
                  <a:cubicBezTo>
                    <a:pt x="7182" y="1425"/>
                    <a:pt x="7100" y="1276"/>
                    <a:pt x="6949" y="1155"/>
                  </a:cubicBezTo>
                  <a:lnTo>
                    <a:pt x="6947" y="1154"/>
                  </a:lnTo>
                  <a:cubicBezTo>
                    <a:pt x="6994" y="1086"/>
                    <a:pt x="7019" y="1013"/>
                    <a:pt x="7019" y="938"/>
                  </a:cubicBezTo>
                  <a:cubicBezTo>
                    <a:pt x="7019" y="691"/>
                    <a:pt x="6751" y="475"/>
                    <a:pt x="6365" y="410"/>
                  </a:cubicBezTo>
                  <a:lnTo>
                    <a:pt x="6368" y="409"/>
                  </a:lnTo>
                  <a:cubicBezTo>
                    <a:pt x="6299" y="172"/>
                    <a:pt x="5964" y="0"/>
                    <a:pt x="5573" y="0"/>
                  </a:cubicBezTo>
                  <a:cubicBezTo>
                    <a:pt x="5336" y="0"/>
                    <a:pt x="5110" y="64"/>
                    <a:pt x="4957" y="176"/>
                  </a:cubicBezTo>
                  <a:lnTo>
                    <a:pt x="4958" y="176"/>
                  </a:lnTo>
                  <a:cubicBezTo>
                    <a:pt x="4821" y="65"/>
                    <a:pt x="4608" y="0"/>
                    <a:pt x="4381" y="0"/>
                  </a:cubicBezTo>
                  <a:cubicBezTo>
                    <a:pt x="4106" y="0"/>
                    <a:pt x="3854" y="96"/>
                    <a:pt x="3732" y="248"/>
                  </a:cubicBezTo>
                  <a:lnTo>
                    <a:pt x="3734" y="255"/>
                  </a:lnTo>
                  <a:cubicBezTo>
                    <a:pt x="3568" y="154"/>
                    <a:pt x="3345" y="98"/>
                    <a:pt x="3112" y="98"/>
                  </a:cubicBezTo>
                  <a:cubicBezTo>
                    <a:pt x="2784" y="98"/>
                    <a:pt x="2483" y="210"/>
                    <a:pt x="2329" y="389"/>
                  </a:cubicBezTo>
                  <a:lnTo>
                    <a:pt x="2326" y="392"/>
                  </a:lnTo>
                  <a:cubicBezTo>
                    <a:pt x="2154" y="330"/>
                    <a:pt x="1958" y="297"/>
                    <a:pt x="1759" y="297"/>
                  </a:cubicBezTo>
                  <a:cubicBezTo>
                    <a:pt x="1138" y="297"/>
                    <a:pt x="636" y="607"/>
                    <a:pt x="636" y="989"/>
                  </a:cubicBezTo>
                  <a:cubicBezTo>
                    <a:pt x="635" y="1021"/>
                    <a:pt x="639" y="1052"/>
                    <a:pt x="646" y="1083"/>
                  </a:cubicBezTo>
                  <a:lnTo>
                    <a:pt x="648" y="1082"/>
                  </a:lnTo>
                  <a:close/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72" name="Freeform 47"/>
            <p:cNvSpPr>
              <a:spLocks noChangeArrowheads="1"/>
            </p:cNvSpPr>
            <p:nvPr/>
          </p:nvSpPr>
          <p:spPr bwMode="auto">
            <a:xfrm>
              <a:off x="3954" y="1979"/>
              <a:ext cx="81" cy="11"/>
            </a:xfrm>
            <a:custGeom>
              <a:avLst/>
              <a:gdLst>
                <a:gd name="T0" fmla="*/ 0 w 82"/>
                <a:gd name="T1" fmla="*/ 0 h 12"/>
                <a:gd name="T2" fmla="*/ 66 w 82"/>
                <a:gd name="T3" fmla="*/ 7 h 12"/>
                <a:gd name="T4" fmla="*/ 77 w 82"/>
                <a:gd name="T5" fmla="*/ 7 h 1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82" h="12">
                  <a:moveTo>
                    <a:pt x="0" y="0"/>
                  </a:moveTo>
                  <a:cubicBezTo>
                    <a:pt x="22" y="8"/>
                    <a:pt x="46" y="12"/>
                    <a:pt x="71" y="12"/>
                  </a:cubicBezTo>
                  <a:cubicBezTo>
                    <a:pt x="75" y="12"/>
                    <a:pt x="79" y="12"/>
                    <a:pt x="82" y="12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73" name="Freeform 48"/>
            <p:cNvSpPr>
              <a:spLocks noChangeArrowheads="1"/>
            </p:cNvSpPr>
            <p:nvPr/>
          </p:nvSpPr>
          <p:spPr bwMode="auto">
            <a:xfrm>
              <a:off x="4073" y="2118"/>
              <a:ext cx="35" cy="5"/>
            </a:xfrm>
            <a:custGeom>
              <a:avLst/>
              <a:gdLst>
                <a:gd name="T0" fmla="*/ 0 w 36"/>
                <a:gd name="T1" fmla="*/ 3 h 6"/>
                <a:gd name="T2" fmla="*/ 31 w 36"/>
                <a:gd name="T3" fmla="*/ 0 h 6"/>
                <a:gd name="T4" fmla="*/ 0 60000 65536"/>
                <a:gd name="T5" fmla="*/ 0 60000 6553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0" t="0" r="r" b="b"/>
              <a:pathLst>
                <a:path w="36" h="6">
                  <a:moveTo>
                    <a:pt x="0" y="6"/>
                  </a:moveTo>
                  <a:cubicBezTo>
                    <a:pt x="12" y="5"/>
                    <a:pt x="24" y="3"/>
                    <a:pt x="36" y="0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74" name="Freeform 49"/>
            <p:cNvSpPr>
              <a:spLocks noChangeArrowheads="1"/>
            </p:cNvSpPr>
            <p:nvPr/>
          </p:nvSpPr>
          <p:spPr bwMode="auto">
            <a:xfrm>
              <a:off x="4395" y="2155"/>
              <a:ext cx="21" cy="24"/>
            </a:xfrm>
            <a:custGeom>
              <a:avLst/>
              <a:gdLst>
                <a:gd name="T0" fmla="*/ 0 w 22"/>
                <a:gd name="T1" fmla="*/ 0 h 25"/>
                <a:gd name="T2" fmla="*/ 17 w 22"/>
                <a:gd name="T3" fmla="*/ 20 h 25"/>
                <a:gd name="T4" fmla="*/ 0 60000 65536"/>
                <a:gd name="T5" fmla="*/ 0 60000 6553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0" t="0" r="r" b="b"/>
              <a:pathLst>
                <a:path w="22" h="25">
                  <a:moveTo>
                    <a:pt x="0" y="0"/>
                  </a:moveTo>
                  <a:cubicBezTo>
                    <a:pt x="6" y="8"/>
                    <a:pt x="13" y="17"/>
                    <a:pt x="22" y="25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75" name="Freeform 50"/>
            <p:cNvSpPr>
              <a:spLocks noChangeArrowheads="1"/>
            </p:cNvSpPr>
            <p:nvPr/>
          </p:nvSpPr>
          <p:spPr bwMode="auto">
            <a:xfrm>
              <a:off x="4807" y="2116"/>
              <a:ext cx="7" cy="27"/>
            </a:xfrm>
            <a:custGeom>
              <a:avLst/>
              <a:gdLst>
                <a:gd name="T0" fmla="*/ 0 w 8"/>
                <a:gd name="T1" fmla="*/ 23 h 28"/>
                <a:gd name="T2" fmla="*/ 4 w 8"/>
                <a:gd name="T3" fmla="*/ 0 h 28"/>
                <a:gd name="T4" fmla="*/ 0 60000 65536"/>
                <a:gd name="T5" fmla="*/ 0 60000 6553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0" t="0" r="r" b="b"/>
              <a:pathLst>
                <a:path w="8" h="28">
                  <a:moveTo>
                    <a:pt x="0" y="28"/>
                  </a:moveTo>
                  <a:cubicBezTo>
                    <a:pt x="4" y="19"/>
                    <a:pt x="7" y="10"/>
                    <a:pt x="8" y="0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76" name="Freeform 51"/>
            <p:cNvSpPr>
              <a:spLocks noChangeArrowheads="1"/>
            </p:cNvSpPr>
            <p:nvPr/>
          </p:nvSpPr>
          <p:spPr bwMode="auto">
            <a:xfrm>
              <a:off x="4988" y="1944"/>
              <a:ext cx="104" cy="103"/>
            </a:xfrm>
            <a:custGeom>
              <a:avLst/>
              <a:gdLst>
                <a:gd name="T0" fmla="*/ 100 w 105"/>
                <a:gd name="T1" fmla="*/ 99 h 104"/>
                <a:gd name="T2" fmla="*/ 100 w 105"/>
                <a:gd name="T3" fmla="*/ 98 h 104"/>
                <a:gd name="T4" fmla="*/ 0 w 105"/>
                <a:gd name="T5" fmla="*/ 0 h 104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105" h="104">
                  <a:moveTo>
                    <a:pt x="105" y="104"/>
                  </a:moveTo>
                  <a:cubicBezTo>
                    <a:pt x="105" y="104"/>
                    <a:pt x="105" y="104"/>
                    <a:pt x="105" y="103"/>
                  </a:cubicBezTo>
                  <a:cubicBezTo>
                    <a:pt x="105" y="59"/>
                    <a:pt x="64" y="19"/>
                    <a:pt x="0" y="0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77" name="Freeform 52"/>
            <p:cNvSpPr>
              <a:spLocks noChangeArrowheads="1"/>
            </p:cNvSpPr>
            <p:nvPr/>
          </p:nvSpPr>
          <p:spPr bwMode="auto">
            <a:xfrm>
              <a:off x="5188" y="1832"/>
              <a:ext cx="45" cy="38"/>
            </a:xfrm>
            <a:custGeom>
              <a:avLst/>
              <a:gdLst>
                <a:gd name="T0" fmla="*/ 0 w 46"/>
                <a:gd name="T1" fmla="*/ 34 h 39"/>
                <a:gd name="T2" fmla="*/ 41 w 46"/>
                <a:gd name="T3" fmla="*/ 0 h 39"/>
                <a:gd name="T4" fmla="*/ 0 60000 65536"/>
                <a:gd name="T5" fmla="*/ 0 60000 6553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0" t="0" r="r" b="b"/>
              <a:pathLst>
                <a:path w="46" h="39">
                  <a:moveTo>
                    <a:pt x="0" y="39"/>
                  </a:moveTo>
                  <a:cubicBezTo>
                    <a:pt x="20" y="28"/>
                    <a:pt x="36" y="15"/>
                    <a:pt x="46" y="0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78" name="Freeform 53"/>
            <p:cNvSpPr>
              <a:spLocks noChangeArrowheads="1"/>
            </p:cNvSpPr>
            <p:nvPr/>
          </p:nvSpPr>
          <p:spPr bwMode="auto">
            <a:xfrm>
              <a:off x="5122" y="1687"/>
              <a:ext cx="2" cy="18"/>
            </a:xfrm>
            <a:custGeom>
              <a:avLst/>
              <a:gdLst>
                <a:gd name="T0" fmla="*/ 1 w 3"/>
                <a:gd name="T1" fmla="*/ 14 h 19"/>
                <a:gd name="T2" fmla="*/ 1 w 3"/>
                <a:gd name="T3" fmla="*/ 12 h 19"/>
                <a:gd name="T4" fmla="*/ 0 w 3"/>
                <a:gd name="T5" fmla="*/ 0 h 19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" h="19">
                  <a:moveTo>
                    <a:pt x="2" y="19"/>
                  </a:moveTo>
                  <a:cubicBezTo>
                    <a:pt x="2" y="18"/>
                    <a:pt x="3" y="18"/>
                    <a:pt x="3" y="17"/>
                  </a:cubicBezTo>
                  <a:cubicBezTo>
                    <a:pt x="3" y="11"/>
                    <a:pt x="2" y="6"/>
                    <a:pt x="0" y="0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79" name="Freeform 54"/>
            <p:cNvSpPr>
              <a:spLocks noChangeArrowheads="1"/>
            </p:cNvSpPr>
            <p:nvPr/>
          </p:nvSpPr>
          <p:spPr bwMode="auto">
            <a:xfrm>
              <a:off x="4824" y="1642"/>
              <a:ext cx="23" cy="22"/>
            </a:xfrm>
            <a:custGeom>
              <a:avLst/>
              <a:gdLst>
                <a:gd name="T0" fmla="*/ 19 w 24"/>
                <a:gd name="T1" fmla="*/ 0 h 23"/>
                <a:gd name="T2" fmla="*/ 0 w 24"/>
                <a:gd name="T3" fmla="*/ 18 h 23"/>
                <a:gd name="T4" fmla="*/ 0 60000 65536"/>
                <a:gd name="T5" fmla="*/ 0 60000 6553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0" t="0" r="r" b="b"/>
              <a:pathLst>
                <a:path w="24" h="23">
                  <a:moveTo>
                    <a:pt x="24" y="0"/>
                  </a:moveTo>
                  <a:cubicBezTo>
                    <a:pt x="14" y="7"/>
                    <a:pt x="6" y="15"/>
                    <a:pt x="0" y="23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80" name="Freeform 55"/>
            <p:cNvSpPr>
              <a:spLocks noChangeArrowheads="1"/>
            </p:cNvSpPr>
            <p:nvPr/>
          </p:nvSpPr>
          <p:spPr bwMode="auto">
            <a:xfrm>
              <a:off x="4598" y="1656"/>
              <a:ext cx="11" cy="19"/>
            </a:xfrm>
            <a:custGeom>
              <a:avLst/>
              <a:gdLst>
                <a:gd name="T0" fmla="*/ 7 w 12"/>
                <a:gd name="T1" fmla="*/ 0 h 20"/>
                <a:gd name="T2" fmla="*/ 0 w 12"/>
                <a:gd name="T3" fmla="*/ 15 h 20"/>
                <a:gd name="T4" fmla="*/ 0 60000 65536"/>
                <a:gd name="T5" fmla="*/ 0 60000 6553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0" t="0" r="r" b="b"/>
              <a:pathLst>
                <a:path w="12" h="20">
                  <a:moveTo>
                    <a:pt x="12" y="0"/>
                  </a:moveTo>
                  <a:cubicBezTo>
                    <a:pt x="7" y="6"/>
                    <a:pt x="3" y="13"/>
                    <a:pt x="0" y="20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81" name="Freeform 56"/>
            <p:cNvSpPr>
              <a:spLocks noChangeArrowheads="1"/>
            </p:cNvSpPr>
            <p:nvPr/>
          </p:nvSpPr>
          <p:spPr bwMode="auto">
            <a:xfrm>
              <a:off x="4337" y="1684"/>
              <a:ext cx="41" cy="18"/>
            </a:xfrm>
            <a:custGeom>
              <a:avLst/>
              <a:gdLst>
                <a:gd name="T0" fmla="*/ 37 w 42"/>
                <a:gd name="T1" fmla="*/ 14 h 19"/>
                <a:gd name="T2" fmla="*/ 0 w 42"/>
                <a:gd name="T3" fmla="*/ 0 h 19"/>
                <a:gd name="T4" fmla="*/ 0 60000 65536"/>
                <a:gd name="T5" fmla="*/ 0 60000 6553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0" t="0" r="r" b="b"/>
              <a:pathLst>
                <a:path w="42" h="19">
                  <a:moveTo>
                    <a:pt x="42" y="19"/>
                  </a:moveTo>
                  <a:cubicBezTo>
                    <a:pt x="29" y="12"/>
                    <a:pt x="15" y="5"/>
                    <a:pt x="0" y="0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82" name="Freeform 57"/>
            <p:cNvSpPr>
              <a:spLocks noChangeArrowheads="1"/>
            </p:cNvSpPr>
            <p:nvPr/>
          </p:nvSpPr>
          <p:spPr bwMode="auto">
            <a:xfrm>
              <a:off x="4010" y="1818"/>
              <a:ext cx="7" cy="20"/>
            </a:xfrm>
            <a:custGeom>
              <a:avLst/>
              <a:gdLst>
                <a:gd name="T0" fmla="*/ 0 w 8"/>
                <a:gd name="T1" fmla="*/ 0 h 21"/>
                <a:gd name="T2" fmla="*/ 4 w 8"/>
                <a:gd name="T3" fmla="*/ 16 h 21"/>
                <a:gd name="T4" fmla="*/ 0 60000 65536"/>
                <a:gd name="T5" fmla="*/ 0 60000 6553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0" t="0" r="r" b="b"/>
              <a:pathLst>
                <a:path w="8" h="21">
                  <a:moveTo>
                    <a:pt x="0" y="0"/>
                  </a:moveTo>
                  <a:cubicBezTo>
                    <a:pt x="2" y="7"/>
                    <a:pt x="4" y="14"/>
                    <a:pt x="8" y="21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83" name="Oval 58"/>
            <p:cNvSpPr>
              <a:spLocks noChangeArrowheads="1"/>
            </p:cNvSpPr>
            <p:nvPr/>
          </p:nvSpPr>
          <p:spPr bwMode="auto">
            <a:xfrm>
              <a:off x="3990" y="2138"/>
              <a:ext cx="231" cy="10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  <p:sp>
          <p:nvSpPr>
            <p:cNvPr id="22584" name="Oval 59"/>
            <p:cNvSpPr>
              <a:spLocks noChangeArrowheads="1"/>
            </p:cNvSpPr>
            <p:nvPr/>
          </p:nvSpPr>
          <p:spPr bwMode="auto">
            <a:xfrm>
              <a:off x="3990" y="2138"/>
              <a:ext cx="231" cy="104"/>
            </a:xfrm>
            <a:prstGeom prst="ellipse">
              <a:avLst/>
            </a:prstGeom>
            <a:noFill/>
            <a:ln w="7920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  <p:sp>
          <p:nvSpPr>
            <p:cNvPr id="22585" name="Oval 60"/>
            <p:cNvSpPr>
              <a:spLocks noChangeArrowheads="1"/>
            </p:cNvSpPr>
            <p:nvPr/>
          </p:nvSpPr>
          <p:spPr bwMode="auto">
            <a:xfrm>
              <a:off x="3942" y="2204"/>
              <a:ext cx="154" cy="69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  <p:sp>
          <p:nvSpPr>
            <p:cNvPr id="22586" name="Oval 61"/>
            <p:cNvSpPr>
              <a:spLocks noChangeArrowheads="1"/>
            </p:cNvSpPr>
            <p:nvPr/>
          </p:nvSpPr>
          <p:spPr bwMode="auto">
            <a:xfrm>
              <a:off x="3942" y="2204"/>
              <a:ext cx="154" cy="69"/>
            </a:xfrm>
            <a:prstGeom prst="ellipse">
              <a:avLst/>
            </a:prstGeom>
            <a:noFill/>
            <a:ln w="7920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  <p:sp>
          <p:nvSpPr>
            <p:cNvPr id="22587" name="Oval 62"/>
            <p:cNvSpPr>
              <a:spLocks noChangeArrowheads="1"/>
            </p:cNvSpPr>
            <p:nvPr/>
          </p:nvSpPr>
          <p:spPr bwMode="auto">
            <a:xfrm>
              <a:off x="3943" y="2243"/>
              <a:ext cx="77" cy="3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  <p:sp>
          <p:nvSpPr>
            <p:cNvPr id="22588" name="Oval 63"/>
            <p:cNvSpPr>
              <a:spLocks noChangeArrowheads="1"/>
            </p:cNvSpPr>
            <p:nvPr/>
          </p:nvSpPr>
          <p:spPr bwMode="auto">
            <a:xfrm>
              <a:off x="3943" y="2243"/>
              <a:ext cx="77" cy="34"/>
            </a:xfrm>
            <a:prstGeom prst="ellipse">
              <a:avLst/>
            </a:prstGeom>
            <a:noFill/>
            <a:ln w="7920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</p:grpSp>
      <p:sp>
        <p:nvSpPr>
          <p:cNvPr id="22561" name="Rectangle 64"/>
          <p:cNvSpPr>
            <a:spLocks noChangeArrowheads="1"/>
          </p:cNvSpPr>
          <p:nvPr/>
        </p:nvSpPr>
        <p:spPr bwMode="auto">
          <a:xfrm>
            <a:off x="6937375" y="2798763"/>
            <a:ext cx="52387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600" b="1" i="1">
                <a:latin typeface="Times New Roman" panose="02020603050405020304" pitchFamily="18" charset="0"/>
              </a:rPr>
              <a:t>k = ??</a:t>
            </a:r>
          </a:p>
        </p:txBody>
      </p:sp>
      <p:sp>
        <p:nvSpPr>
          <p:cNvPr id="22562" name="Rectangle 65"/>
          <p:cNvSpPr>
            <a:spLocks noChangeArrowheads="1"/>
          </p:cNvSpPr>
          <p:nvPr/>
        </p:nvSpPr>
        <p:spPr bwMode="auto">
          <a:xfrm>
            <a:off x="6538913" y="3046413"/>
            <a:ext cx="4524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600" b="1" i="1">
                <a:latin typeface="Times New Roman" panose="02020603050405020304" pitchFamily="18" charset="0"/>
              </a:rPr>
              <a:t>MAC</a:t>
            </a:r>
          </a:p>
        </p:txBody>
      </p:sp>
      <p:sp>
        <p:nvSpPr>
          <p:cNvPr id="22563" name="Rectangle 66"/>
          <p:cNvSpPr>
            <a:spLocks noChangeArrowheads="1"/>
          </p:cNvSpPr>
          <p:nvPr/>
        </p:nvSpPr>
        <p:spPr bwMode="auto">
          <a:xfrm>
            <a:off x="6992938" y="3144838"/>
            <a:ext cx="82550" cy="198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300" b="1" i="1">
                <a:latin typeface="Times New Roman" panose="02020603050405020304" pitchFamily="18" charset="0"/>
              </a:rPr>
              <a:t>k</a:t>
            </a:r>
          </a:p>
        </p:txBody>
      </p:sp>
      <p:sp>
        <p:nvSpPr>
          <p:cNvPr id="22564" name="Rectangle 67"/>
          <p:cNvSpPr>
            <a:spLocks noChangeArrowheads="1"/>
          </p:cNvSpPr>
          <p:nvPr/>
        </p:nvSpPr>
        <p:spPr bwMode="auto">
          <a:xfrm>
            <a:off x="7077075" y="3046413"/>
            <a:ext cx="6893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600" b="1" i="1" dirty="0">
                <a:latin typeface="Times New Roman" panose="02020603050405020304" pitchFamily="18" charset="0"/>
              </a:rPr>
              <a:t>(</a:t>
            </a:r>
          </a:p>
        </p:txBody>
      </p:sp>
      <p:sp>
        <p:nvSpPr>
          <p:cNvPr id="22566" name="Rectangle 69"/>
          <p:cNvSpPr>
            <a:spLocks noChangeArrowheads="1"/>
          </p:cNvSpPr>
          <p:nvPr/>
        </p:nvSpPr>
        <p:spPr bwMode="auto">
          <a:xfrm>
            <a:off x="7375525" y="3046413"/>
            <a:ext cx="48895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600" b="1" i="1">
                <a:latin typeface="Times New Roman" panose="02020603050405020304" pitchFamily="18" charset="0"/>
              </a:rPr>
              <a:t>) = ??</a:t>
            </a:r>
          </a:p>
        </p:txBody>
      </p:sp>
      <p:pic>
        <p:nvPicPr>
          <p:cNvPr id="77" name="תמונה 7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2897" y="3193000"/>
            <a:ext cx="901192" cy="901192"/>
          </a:xfrm>
          <a:prstGeom prst="rect">
            <a:avLst/>
          </a:prstGeom>
        </p:spPr>
      </p:pic>
      <p:pic>
        <p:nvPicPr>
          <p:cNvPr id="74" name="Picture 7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8850" y="3800476"/>
            <a:ext cx="763587" cy="1163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3" name="Picture 22">
            <a:extLst>
              <a:ext uri="{FF2B5EF4-FFF2-40B4-BE49-F238E27FC236}">
                <a16:creationId xmlns:a16="http://schemas.microsoft.com/office/drawing/2014/main" id="{F48C7549-F89E-0446-8EE7-93D1B78A3B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7906" y="4512468"/>
            <a:ext cx="600075" cy="773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76" name="Rectangle 13">
            <a:extLst>
              <a:ext uri="{FF2B5EF4-FFF2-40B4-BE49-F238E27FC236}">
                <a16:creationId xmlns:a16="http://schemas.microsoft.com/office/drawing/2014/main" id="{63A8D602-FF29-F34C-B9AC-0EFCD9C898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62678" y="3090605"/>
            <a:ext cx="571719" cy="1846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200" i="1" dirty="0">
                <a:latin typeface="Times New Roman" panose="02020603050405020304" pitchFamily="18" charset="0"/>
              </a:rPr>
              <a:t>“Bye”</a:t>
            </a:r>
          </a:p>
        </p:txBody>
      </p:sp>
      <p:sp>
        <p:nvSpPr>
          <p:cNvPr id="78" name="Slide Number Placeholder 3">
            <a:extLst>
              <a:ext uri="{FF2B5EF4-FFF2-40B4-BE49-F238E27FC236}">
                <a16:creationId xmlns:a16="http://schemas.microsoft.com/office/drawing/2014/main" id="{29B93037-CA56-FB42-9F0C-771213ADF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97766" y="6243638"/>
            <a:ext cx="287447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7</a:t>
            </a:fld>
            <a:endParaRPr lang="en-US" altLang="he-IL" sz="1800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57200" y="381000"/>
            <a:ext cx="8153400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/>
              <a:t>Defining MAC Security</a:t>
            </a:r>
          </a:p>
        </p:txBody>
      </p:sp>
      <p:sp>
        <p:nvSpPr>
          <p:cNvPr id="2253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52425" y="1345324"/>
            <a:ext cx="8077200" cy="3657600"/>
          </a:xfrm>
        </p:spPr>
        <p:txBody>
          <a:bodyPr/>
          <a:lstStyle/>
          <a:p>
            <a:pPr marL="341313" indent="-341313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600" dirty="0"/>
              <a:t>Following the `conservative design principle’: </a:t>
            </a:r>
          </a:p>
          <a:p>
            <a:pPr marL="341313" indent="-341313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600" dirty="0"/>
              <a:t>Consider most powerful attacker</a:t>
            </a:r>
          </a:p>
          <a:p>
            <a:pPr marL="798513" lvl="1" indent="-341313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200" dirty="0"/>
              <a:t>Let attacker receive tag for any message it wants (so it has an oracle access to </a:t>
            </a:r>
            <a:r>
              <a:rPr lang="en-US" altLang="en-US" sz="2200" i="1" dirty="0" err="1"/>
              <a:t>MAC</a:t>
            </a:r>
            <a:r>
              <a:rPr lang="en-US" altLang="en-US" sz="2200" i="1" baseline="-25000" dirty="0" err="1"/>
              <a:t>k</a:t>
            </a:r>
            <a:r>
              <a:rPr lang="en-US" altLang="en-US" sz="2200" dirty="0"/>
              <a:t>).</a:t>
            </a:r>
          </a:p>
          <a:p>
            <a:pPr marL="341313" indent="-341313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600" dirty="0"/>
              <a:t>Attacker success criteria:</a:t>
            </a:r>
          </a:p>
          <a:p>
            <a:pPr marL="798513" lvl="1" indent="-341313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200" dirty="0"/>
              <a:t>Attacker wins if it can produce a valid tag for any new message</a:t>
            </a:r>
          </a:p>
          <a:p>
            <a:pPr marL="1141413" lvl="2" indent="-341313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1800" dirty="0"/>
              <a:t>So a tag over a message that the attacker asked the oracle to authenticate will not be accepted as forgery.</a:t>
            </a:r>
          </a:p>
          <a:p>
            <a:pPr marL="341313" indent="-341313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endParaRPr lang="en-US" altLang="en-US" sz="2600" dirty="0"/>
          </a:p>
        </p:txBody>
      </p:sp>
      <p:sp>
        <p:nvSpPr>
          <p:cNvPr id="47" name="Slide Number Placeholder 3">
            <a:extLst>
              <a:ext uri="{FF2B5EF4-FFF2-40B4-BE49-F238E27FC236}">
                <a16:creationId xmlns:a16="http://schemas.microsoft.com/office/drawing/2014/main" id="{01BFCDB0-B2A0-F446-9B06-06F7E00F1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97766" y="6243638"/>
            <a:ext cx="287447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8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310286622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57200" y="381000"/>
            <a:ext cx="8153400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dirty="0"/>
              <a:t>MAC Security Definition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83CE0B78-C29B-6D4A-9DD6-C5EB777EA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97766" y="6243638"/>
            <a:ext cx="287447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9</a:t>
            </a:fld>
            <a:endParaRPr lang="en-US" altLang="he-IL" sz="18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B3617F-532A-FFAC-6FA5-F395CFA802F3}"/>
              </a:ext>
            </a:extLst>
          </p:cNvPr>
          <p:cNvSpPr/>
          <p:nvPr/>
        </p:nvSpPr>
        <p:spPr bwMode="auto">
          <a:xfrm>
            <a:off x="1621766" y="1475117"/>
            <a:ext cx="310551" cy="198408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DB5F06-B177-DC01-51CF-496644A1E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02" y="1673525"/>
            <a:ext cx="8153400" cy="337382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3E06978-13A9-229A-7398-2957799489BF}"/>
              </a:ext>
            </a:extLst>
          </p:cNvPr>
          <p:cNvSpPr/>
          <p:nvPr/>
        </p:nvSpPr>
        <p:spPr bwMode="auto">
          <a:xfrm>
            <a:off x="4171406" y="1811383"/>
            <a:ext cx="548640" cy="252548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790772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57200" y="381000"/>
            <a:ext cx="7772400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dirty="0"/>
              <a:t>On the Use of MACs</a:t>
            </a:r>
          </a:p>
        </p:txBody>
      </p:sp>
      <p:sp>
        <p:nvSpPr>
          <p:cNvPr id="2867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241738" y="1135473"/>
            <a:ext cx="8660524" cy="2810247"/>
          </a:xfrm>
        </p:spPr>
        <p:txBody>
          <a:bodyPr/>
          <a:lstStyle/>
          <a:p>
            <a:pPr marL="341313" indent="-341313" eaLnBrk="1" hangingPunct="1"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MAC</a:t>
            </a:r>
            <a:r>
              <a:rPr lang="en-US" altLang="en-US" sz="2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 </a:t>
            </a:r>
            <a:r>
              <a:rPr lang="en-US" altLang="en-US" sz="2200" dirty="0"/>
              <a:t>may expose information about 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en-US" sz="2200" i="1" dirty="0"/>
              <a:t>! MACs are not required to achieve confidentiality, only authenticity!</a:t>
            </a:r>
          </a:p>
          <a:p>
            <a:pPr marL="741363" lvl="1" indent="-284163" eaLnBrk="1" hangingPunct="1"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200" dirty="0"/>
              <a:t>Example: Let </a:t>
            </a:r>
            <a:r>
              <a:rPr lang="en-US" altLang="en-US" sz="2200" i="1" dirty="0"/>
              <a:t>MAC </a:t>
            </a:r>
            <a:r>
              <a:rPr lang="en-US" altLang="en-US" sz="2200" dirty="0"/>
              <a:t>be any secure MAC. Define </a:t>
            </a: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MAC’</a:t>
            </a:r>
            <a:r>
              <a:rPr lang="en-US" altLang="en-US" sz="2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(m)=</a:t>
            </a: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MAC</a:t>
            </a:r>
            <a:r>
              <a:rPr lang="en-US" altLang="en-US" sz="2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(m)||</a:t>
            </a: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Lsb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(m), </a:t>
            </a:r>
            <a:r>
              <a:rPr lang="en-US" altLang="en-US" sz="2200" dirty="0"/>
              <a:t>where </a:t>
            </a: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Lsb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200" dirty="0"/>
              <a:t>is least significant bit.</a:t>
            </a:r>
            <a:r>
              <a:rPr lang="en-US" altLang="en-US" sz="2200" i="1" dirty="0"/>
              <a:t> </a:t>
            </a:r>
          </a:p>
          <a:p>
            <a:pPr marL="341313" indent="-341313" eaLnBrk="1" hangingPunct="1"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200" dirty="0"/>
              <a:t>MAC shows a key-holder computed it</a:t>
            </a:r>
          </a:p>
          <a:p>
            <a:pPr marL="798513" lvl="1" indent="-341313" eaLnBrk="1" hangingPunct="1"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200" dirty="0"/>
              <a:t>Could be any key holder (even recipient)… </a:t>
            </a:r>
          </a:p>
          <a:p>
            <a:pPr marL="341313" indent="-341313" eaLnBrk="1" hangingPunct="1"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200" dirty="0"/>
              <a:t>Replay attacks: an old message (and its tag) is being resent.</a:t>
            </a:r>
          </a:p>
          <a:p>
            <a:pPr marL="798513" lvl="1" indent="-341313" eaLnBrk="1" hangingPunct="1"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200" dirty="0"/>
              <a:t>Need to Ensure freshness (more about this later).</a:t>
            </a:r>
            <a:br>
              <a:rPr lang="en-US" altLang="en-US" sz="2200" dirty="0"/>
            </a:br>
            <a:endParaRPr lang="en-US" altLang="en-US" sz="2200" dirty="0"/>
          </a:p>
        </p:txBody>
      </p:sp>
      <p:sp>
        <p:nvSpPr>
          <p:cNvPr id="4" name="Rectangle 5"/>
          <p:cNvSpPr>
            <a:spLocks noChangeArrowheads="1"/>
          </p:cNvSpPr>
          <p:nvPr/>
        </p:nvSpPr>
        <p:spPr bwMode="auto">
          <a:xfrm>
            <a:off x="1960709" y="5639600"/>
            <a:ext cx="889000" cy="314325"/>
          </a:xfrm>
          <a:prstGeom prst="rect">
            <a:avLst/>
          </a:pr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</a:t>
            </a:r>
            <a:r>
              <a:rPr lang="en-US" alt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sp>
        <p:nvSpPr>
          <p:cNvPr id="5" name="Rectangle 6"/>
          <p:cNvSpPr>
            <a:spLocks noChangeArrowheads="1"/>
          </p:cNvSpPr>
          <p:nvPr/>
        </p:nvSpPr>
        <p:spPr bwMode="auto">
          <a:xfrm>
            <a:off x="5732164" y="5595862"/>
            <a:ext cx="889000" cy="314325"/>
          </a:xfrm>
          <a:prstGeom prst="rect">
            <a:avLst/>
          </a:pr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</a:t>
            </a:r>
            <a:r>
              <a:rPr lang="en-US" alt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sp>
        <p:nvSpPr>
          <p:cNvPr id="6" name="Line 7"/>
          <p:cNvSpPr>
            <a:spLocks noChangeShapeType="1"/>
          </p:cNvSpPr>
          <p:nvPr/>
        </p:nvSpPr>
        <p:spPr bwMode="auto">
          <a:xfrm flipV="1">
            <a:off x="3024135" y="5381793"/>
            <a:ext cx="2734915" cy="17636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7" name="Text Box 8"/>
          <p:cNvSpPr txBox="1">
            <a:spLocks noChangeArrowheads="1"/>
          </p:cNvSpPr>
          <p:nvPr/>
        </p:nvSpPr>
        <p:spPr bwMode="auto">
          <a:xfrm>
            <a:off x="3093786" y="4835274"/>
            <a:ext cx="2701085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m=“Hi”, </a:t>
            </a:r>
            <a:r>
              <a:rPr lang="en-US" alt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MAC</a:t>
            </a:r>
            <a:r>
              <a:rPr lang="en-US" altLang="en-US" sz="24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</a:t>
            </a:r>
          </a:p>
        </p:txBody>
      </p:sp>
      <p:sp>
        <p:nvSpPr>
          <p:cNvPr id="8" name="Rectangle 13"/>
          <p:cNvSpPr>
            <a:spLocks noChangeArrowheads="1"/>
          </p:cNvSpPr>
          <p:nvPr/>
        </p:nvSpPr>
        <p:spPr bwMode="auto">
          <a:xfrm>
            <a:off x="885485" y="5614707"/>
            <a:ext cx="889000" cy="314325"/>
          </a:xfrm>
          <a:prstGeom prst="rect">
            <a:avLst/>
          </a:pr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</a:t>
            </a:r>
            <a:r>
              <a:rPr lang="en-US" alt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pic>
        <p:nvPicPr>
          <p:cNvPr id="9" name="Picture 8" descr="Clipart - The &lt;strong&gt;Cheshire cat&lt;/strong&gt; from Alice in wonderland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924" y="4823387"/>
            <a:ext cx="666122" cy="619139"/>
          </a:xfrm>
          <a:prstGeom prst="rect">
            <a:avLst/>
          </a:prstGeom>
        </p:spPr>
      </p:pic>
      <p:sp>
        <p:nvSpPr>
          <p:cNvPr id="10" name="AutoShape 11"/>
          <p:cNvSpPr>
            <a:spLocks noChangeArrowheads="1"/>
          </p:cNvSpPr>
          <p:nvPr/>
        </p:nvSpPr>
        <p:spPr bwMode="auto">
          <a:xfrm>
            <a:off x="6621164" y="4196965"/>
            <a:ext cx="2511972" cy="1556059"/>
          </a:xfrm>
          <a:prstGeom prst="wedgeEllipseCallout">
            <a:avLst>
              <a:gd name="adj1" fmla="val -58147"/>
              <a:gd name="adj2" fmla="val -10642"/>
            </a:avLst>
          </a:pr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Cat, Sponge (or I) sent </a:t>
            </a: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m. </a:t>
            </a:r>
          </a:p>
        </p:txBody>
      </p:sp>
      <p:pic>
        <p:nvPicPr>
          <p:cNvPr id="12" name="Picture 7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871" y="4401021"/>
            <a:ext cx="763587" cy="1163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3" name="Picture 22">
            <a:extLst>
              <a:ext uri="{FF2B5EF4-FFF2-40B4-BE49-F238E27FC236}">
                <a16:creationId xmlns:a16="http://schemas.microsoft.com/office/drawing/2014/main" id="{08A9FAA1-4856-714B-AC21-77FF66006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1225" y="4746401"/>
            <a:ext cx="600075" cy="773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2AE62F78-8458-7E45-8AA5-DE67135D6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10</a:t>
            </a:fld>
            <a:endParaRPr lang="en-US" altLang="he-IL" sz="1800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5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29786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dirty="0"/>
              <a:t>Constructing Secure MACs</a:t>
            </a:r>
          </a:p>
        </p:txBody>
      </p:sp>
      <p:sp>
        <p:nvSpPr>
          <p:cNvPr id="30726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85411" y="1057274"/>
            <a:ext cx="7983538" cy="5028215"/>
          </a:xfrm>
        </p:spPr>
        <p:txBody>
          <a:bodyPr/>
          <a:lstStyle/>
          <a:p>
            <a:pPr marL="493713" indent="-493713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Arial" panose="020B0604020202020204" pitchFamily="34" charset="0"/>
              <a:buAutoNum type="arabicPeriod"/>
              <a:tabLst>
                <a:tab pos="1063625" algn="l"/>
                <a:tab pos="1978025" algn="l"/>
                <a:tab pos="2892425" algn="l"/>
                <a:tab pos="3806825" algn="l"/>
                <a:tab pos="4721225" algn="l"/>
                <a:tab pos="5635625" algn="l"/>
                <a:tab pos="6550025" algn="l"/>
                <a:tab pos="7464425" algn="l"/>
                <a:tab pos="8378825" algn="l"/>
                <a:tab pos="9293225" algn="l"/>
                <a:tab pos="10207625" algn="l"/>
              </a:tabLst>
            </a:pPr>
            <a:r>
              <a:rPr lang="en-US" altLang="en-US" sz="2600" dirty="0"/>
              <a:t>Provable-secure constructions from:</a:t>
            </a:r>
          </a:p>
          <a:p>
            <a:pPr marL="874713" lvl="1" indent="-417513" eaLnBrk="1" hangingPunct="1">
              <a:lnSpc>
                <a:spcPct val="90000"/>
              </a:lnSpc>
              <a:spcBef>
                <a:spcPts val="55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063625" algn="l"/>
                <a:tab pos="1978025" algn="l"/>
                <a:tab pos="2892425" algn="l"/>
                <a:tab pos="3806825" algn="l"/>
                <a:tab pos="4721225" algn="l"/>
                <a:tab pos="5635625" algn="l"/>
                <a:tab pos="6550025" algn="l"/>
                <a:tab pos="7464425" algn="l"/>
                <a:tab pos="8378825" algn="l"/>
                <a:tab pos="9293225" algn="l"/>
                <a:tab pos="10207625" algn="l"/>
              </a:tabLst>
            </a:pPr>
            <a:r>
              <a:rPr lang="en-US" altLang="en-US" sz="2200" dirty="0"/>
              <a:t>PRF/PRP/Block ciphers (next)</a:t>
            </a:r>
          </a:p>
          <a:p>
            <a:pPr marL="1217613" lvl="2" indent="-417513" eaLnBrk="1" hangingPunct="1">
              <a:lnSpc>
                <a:spcPct val="90000"/>
              </a:lnSpc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063625" algn="l"/>
                <a:tab pos="1978025" algn="l"/>
                <a:tab pos="2892425" algn="l"/>
                <a:tab pos="3806825" algn="l"/>
                <a:tab pos="4721225" algn="l"/>
                <a:tab pos="5635625" algn="l"/>
                <a:tab pos="6550025" algn="l"/>
                <a:tab pos="7464425" algn="l"/>
                <a:tab pos="8378825" algn="l"/>
                <a:tab pos="9293225" algn="l"/>
                <a:tab pos="10207625" algn="l"/>
              </a:tabLst>
            </a:pPr>
            <a:r>
              <a:rPr lang="en-US" altLang="en-US" sz="1800" dirty="0"/>
              <a:t>First: PRF/PRP </a:t>
            </a:r>
            <a:r>
              <a:rPr lang="en-US" altLang="en-US" sz="1800" dirty="0">
                <a:sym typeface="Wingdings" panose="05000000000000000000" pitchFamily="2" charset="2"/>
              </a:rPr>
              <a:t> </a:t>
            </a:r>
            <a:r>
              <a:rPr lang="en-US" altLang="en-US" sz="1800" dirty="0"/>
              <a:t>Fixed-Input-Length (FIL) MAC</a:t>
            </a:r>
          </a:p>
          <a:p>
            <a:pPr marL="874713" lvl="1" indent="-417513" eaLnBrk="1" hangingPunct="1">
              <a:lnSpc>
                <a:spcPct val="90000"/>
              </a:lnSpc>
              <a:spcBef>
                <a:spcPts val="55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063625" algn="l"/>
                <a:tab pos="1978025" algn="l"/>
                <a:tab pos="2892425" algn="l"/>
                <a:tab pos="3806825" algn="l"/>
                <a:tab pos="4721225" algn="l"/>
                <a:tab pos="5635625" algn="l"/>
                <a:tab pos="6550025" algn="l"/>
                <a:tab pos="7464425" algn="l"/>
                <a:tab pos="8378825" algn="l"/>
                <a:tab pos="9293225" algn="l"/>
                <a:tab pos="10207625" algn="l"/>
              </a:tabLst>
            </a:pPr>
            <a:r>
              <a:rPr lang="en-US" altLang="en-US" sz="2200" dirty="0"/>
              <a:t>Hash functions (later) – even more efficient. </a:t>
            </a:r>
            <a:endParaRPr lang="en-US" altLang="en-US" sz="1400" dirty="0"/>
          </a:p>
          <a:p>
            <a:pPr marL="493713" indent="-493713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Arial" panose="020B0604020202020204" pitchFamily="34" charset="0"/>
              <a:buAutoNum type="arabicPeriod"/>
              <a:tabLst>
                <a:tab pos="1063625" algn="l"/>
                <a:tab pos="1978025" algn="l"/>
                <a:tab pos="2892425" algn="l"/>
                <a:tab pos="3806825" algn="l"/>
                <a:tab pos="4721225" algn="l"/>
                <a:tab pos="5635625" algn="l"/>
                <a:tab pos="6550025" algn="l"/>
                <a:tab pos="7464425" algn="l"/>
                <a:tab pos="8378825" algn="l"/>
                <a:tab pos="9293225" algn="l"/>
                <a:tab pos="10207625" algn="l"/>
              </a:tabLst>
            </a:pPr>
            <a:r>
              <a:rPr lang="en-US" altLang="en-US" sz="2600" dirty="0"/>
              <a:t>Robust combiner of (two) MAC candidates:</a:t>
            </a:r>
          </a:p>
          <a:p>
            <a:pPr marL="874713" lvl="1" indent="-417513" eaLnBrk="1" hangingPunct="1">
              <a:lnSpc>
                <a:spcPct val="150000"/>
              </a:lnSpc>
              <a:spcBef>
                <a:spcPts val="55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063625" algn="l"/>
                <a:tab pos="1978025" algn="l"/>
                <a:tab pos="2892425" algn="l"/>
                <a:tab pos="3806825" algn="l"/>
                <a:tab pos="4721225" algn="l"/>
                <a:tab pos="5635625" algn="l"/>
                <a:tab pos="6550025" algn="l"/>
                <a:tab pos="7464425" algn="l"/>
                <a:tab pos="8378825" algn="l"/>
                <a:tab pos="9293225" algn="l"/>
                <a:tab pos="10207625" algn="l"/>
              </a:tabLst>
            </a:pP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MAC</a:t>
            </a:r>
            <a:r>
              <a:rPr lang="en-US" altLang="en-US" sz="2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k,k</a:t>
            </a:r>
            <a:r>
              <a:rPr lang="en-US" altLang="en-US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’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(m)=</a:t>
            </a: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altLang="en-US" sz="2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(m)||</a:t>
            </a: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f’</a:t>
            </a:r>
            <a:r>
              <a:rPr lang="en-US" altLang="en-US" sz="2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’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(m), </a:t>
            </a: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MAC</a:t>
            </a:r>
            <a:r>
              <a:rPr lang="en-US" altLang="en-US" sz="2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k,k</a:t>
            </a:r>
            <a:r>
              <a:rPr lang="en-US" altLang="en-US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’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(m)=</a:t>
            </a: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altLang="en-US" sz="2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</a:t>
            </a: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f</a:t>
            </a: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’</a:t>
            </a:r>
            <a:r>
              <a:rPr lang="en-US" altLang="en-US" sz="2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’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 </a:t>
            </a:r>
            <a:r>
              <a:rPr lang="en-US" altLang="en-US" sz="2200" dirty="0"/>
              <a:t> are secure MAC, if </a:t>
            </a:r>
            <a:r>
              <a:rPr lang="en-US" altLang="en-US" sz="2200" i="1" dirty="0"/>
              <a:t>either</a:t>
            </a:r>
            <a:r>
              <a:rPr lang="en-US" altLang="en-US" sz="2200" dirty="0"/>
              <a:t> 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200" dirty="0"/>
              <a:t> </a:t>
            </a:r>
            <a:r>
              <a:rPr lang="en-US" altLang="en-US" sz="2200" dirty="0">
                <a:solidFill>
                  <a:srgbClr val="FF0000"/>
                </a:solidFill>
              </a:rPr>
              <a:t>or</a:t>
            </a:r>
            <a:r>
              <a:rPr lang="en-US" altLang="en-US" sz="2200" dirty="0"/>
              <a:t> 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f’</a:t>
            </a:r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altLang="en-US" sz="2200" dirty="0"/>
              <a:t>is a secure MAC. </a:t>
            </a:r>
          </a:p>
          <a:p>
            <a:pPr marL="874713" lvl="1" indent="-417513" eaLnBrk="1" hangingPunct="1">
              <a:lnSpc>
                <a:spcPct val="90000"/>
              </a:lnSpc>
              <a:spcBef>
                <a:spcPts val="55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063625" algn="l"/>
                <a:tab pos="1978025" algn="l"/>
                <a:tab pos="2892425" algn="l"/>
                <a:tab pos="3806825" algn="l"/>
                <a:tab pos="4721225" algn="l"/>
                <a:tab pos="5635625" algn="l"/>
                <a:tab pos="6550025" algn="l"/>
                <a:tab pos="7464425" algn="l"/>
                <a:tab pos="8378825" algn="l"/>
                <a:tab pos="9293225" algn="l"/>
                <a:tab pos="10207625" algn="l"/>
              </a:tabLst>
            </a:pPr>
            <a:endParaRPr lang="en-US" alt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A1B868-12DC-DA49-98E2-A6C1F06A1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11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49162410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07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07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07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07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07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07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07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07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07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07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07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07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9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355600"/>
            <a:ext cx="8297862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dirty="0"/>
              <a:t>Theorem: Every PRF is also a MAC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750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251520" y="1085956"/>
                <a:ext cx="8435280" cy="4711700"/>
              </a:xfrm>
            </p:spPr>
            <p:txBody>
              <a:bodyPr/>
              <a:lstStyle/>
              <a:p>
                <a:pPr marL="0" indent="0" eaLnBrk="1" hangingPunct="1">
                  <a:lnSpc>
                    <a:spcPct val="90000"/>
                  </a:lnSpc>
                  <a:spcBef>
                    <a:spcPts val="800"/>
                  </a:spcBef>
                  <a:buClr>
                    <a:srgbClr val="CC9900"/>
                  </a:buClr>
                  <a:buSzPct val="65000"/>
                  <a:buNone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endParaRPr lang="en-US" altLang="en-US" sz="2800" dirty="0">
                  <a:latin typeface="Avenir Book" panose="02000503020000020003" pitchFamily="2" charset="0"/>
                </a:endParaRPr>
              </a:p>
              <a:p>
                <a:pPr marL="0" indent="0" eaLnBrk="1" hangingPunct="1">
                  <a:lnSpc>
                    <a:spcPct val="90000"/>
                  </a:lnSpc>
                  <a:spcBef>
                    <a:spcPts val="800"/>
                  </a:spcBef>
                  <a:buClr>
                    <a:srgbClr val="CC9900"/>
                  </a:buClr>
                  <a:buSzPct val="65000"/>
                  <a:buNone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800" dirty="0">
                    <a:latin typeface="Avenir Book" panose="02000503020000020003" pitchFamily="2" charset="0"/>
                  </a:rPr>
                  <a:t>Let </a:t>
                </a:r>
                <a:r>
                  <a:rPr lang="en-US" altLang="en-US" sz="2800" i="1" dirty="0">
                    <a:latin typeface="Avenir Book" panose="02000503020000020003" pitchFamily="2" charset="0"/>
                  </a:rPr>
                  <a:t>F</a:t>
                </a:r>
                <a:r>
                  <a:rPr lang="en-US" altLang="en-US" sz="2800" dirty="0">
                    <a:latin typeface="Avenir Book" panose="02000503020000020003" pitchFamily="2" charset="0"/>
                  </a:rPr>
                  <a:t> be a PRF from domain </a:t>
                </a:r>
                <a:r>
                  <a:rPr lang="en-US" altLang="en-US" sz="2800" i="1" dirty="0">
                    <a:latin typeface="Avenir Book" panose="02000503020000020003" pitchFamily="2" charset="0"/>
                  </a:rPr>
                  <a:t>D </a:t>
                </a:r>
                <a:r>
                  <a:rPr lang="en-US" altLang="en-US" sz="2800" dirty="0">
                    <a:latin typeface="Avenir Book" panose="02000503020000020003" pitchFamily="2" charset="0"/>
                  </a:rPr>
                  <a:t>to range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en-US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alt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en-US" sz="2800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altLang="en-US" sz="28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en-US" altLang="en-US" sz="2800" dirty="0">
                    <a:latin typeface="Avenir Book" panose="02000503020000020003" pitchFamily="2" charset="0"/>
                  </a:rPr>
                  <a:t>. Then </a:t>
                </a:r>
                <a:r>
                  <a:rPr lang="en-US" altLang="en-US" sz="2800" i="1" dirty="0">
                    <a:latin typeface="Avenir Book" panose="02000503020000020003" pitchFamily="2" charset="0"/>
                  </a:rPr>
                  <a:t>F</a:t>
                </a:r>
                <a:r>
                  <a:rPr lang="en-US" altLang="en-US" sz="2800" dirty="0">
                    <a:latin typeface="Avenir Book" panose="02000503020000020003" pitchFamily="2" charset="0"/>
                  </a:rPr>
                  <a:t> is also an </a:t>
                </a:r>
                <a14:m>
                  <m:oMath xmlns:m="http://schemas.openxmlformats.org/officeDocument/2006/math">
                    <m:r>
                      <a:rPr lang="en-US" altLang="en-US" sz="2800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altLang="en-US" sz="2800" dirty="0">
                    <a:latin typeface="Avenir Book" panose="02000503020000020003" pitchFamily="2" charset="0"/>
                  </a:rPr>
                  <a:t>-bit MAC for </a:t>
                </a:r>
                <a:r>
                  <a:rPr lang="en-US" altLang="en-US" sz="2800" i="1" dirty="0">
                    <a:latin typeface="Avenir Book" panose="02000503020000020003" pitchFamily="2" charset="0"/>
                  </a:rPr>
                  <a:t>D</a:t>
                </a:r>
                <a:r>
                  <a:rPr lang="en-US" altLang="en-US" sz="2800" dirty="0">
                    <a:latin typeface="Avenir Book" panose="02000503020000020003" pitchFamily="2" charset="0"/>
                  </a:rPr>
                  <a:t>. </a:t>
                </a:r>
              </a:p>
              <a:p>
                <a:pPr marL="741363" lvl="1" indent="-284163" eaLnBrk="1" hangingPunct="1">
                  <a:lnSpc>
                    <a:spcPct val="90000"/>
                  </a:lnSpc>
                  <a:spcBef>
                    <a:spcPts val="7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endParaRPr lang="en-US" altLang="en-US" sz="2400" dirty="0"/>
              </a:p>
              <a:p>
                <a:pPr marL="741363" lvl="1" indent="-284163" eaLnBrk="1" hangingPunct="1">
                  <a:lnSpc>
                    <a:spcPct val="90000"/>
                  </a:lnSpc>
                  <a:spcBef>
                    <a:spcPts val="7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400" dirty="0"/>
                  <a:t>How to verify a tag?</a:t>
                </a:r>
              </a:p>
              <a:p>
                <a:pPr marL="741363" lvl="1" indent="-284163" eaLnBrk="1" hangingPunct="1">
                  <a:lnSpc>
                    <a:spcPct val="90000"/>
                  </a:lnSpc>
                  <a:spcBef>
                    <a:spcPts val="7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400" dirty="0"/>
                  <a:t>Security: Intuitively, the output of the PRF is a pseudorandom string. The attacker has a negligible advantage in forging a tag over a new message. This mounts to guessing the output of the PRF.</a:t>
                </a:r>
              </a:p>
              <a:p>
                <a:pPr marL="1541463" lvl="3" indent="-284163" eaLnBrk="1" hangingPunct="1">
                  <a:lnSpc>
                    <a:spcPct val="90000"/>
                  </a:lnSpc>
                  <a:spcBef>
                    <a:spcPts val="7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400" dirty="0"/>
                  <a:t>So, probability of correct guessing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en-US" sz="24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altLang="en-US" sz="24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altLang="en-US" sz="2400" dirty="0"/>
              </a:p>
              <a:p>
                <a:pPr marL="1084263" lvl="2" indent="-284163" eaLnBrk="1" hangingPunct="1">
                  <a:lnSpc>
                    <a:spcPct val="90000"/>
                  </a:lnSpc>
                  <a:spcBef>
                    <a:spcPts val="7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400" dirty="0"/>
                  <a:t>This makes the attacker’s advantage 0! </a:t>
                </a:r>
              </a:p>
            </p:txBody>
          </p:sp>
        </mc:Choice>
        <mc:Fallback>
          <p:sp>
            <p:nvSpPr>
              <p:cNvPr id="31750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251520" y="1085956"/>
                <a:ext cx="8435280" cy="4711700"/>
              </a:xfrm>
              <a:blipFill>
                <a:blip r:embed="rId3"/>
                <a:stretch>
                  <a:fillRect l="-1504" r="-1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4AE04E-3559-AE4F-AC0E-1BEB85785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12</a:t>
            </a:fld>
            <a:endParaRPr lang="en-US" altLang="he-IL" sz="1800" dirty="0"/>
          </a:p>
        </p:txBody>
      </p: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9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355600"/>
            <a:ext cx="8297862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dirty="0"/>
              <a:t>Using a Block Cipher for MAC</a:t>
            </a:r>
          </a:p>
        </p:txBody>
      </p:sp>
      <p:sp>
        <p:nvSpPr>
          <p:cNvPr id="31750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251520" y="1085956"/>
            <a:ext cx="8435280" cy="4711700"/>
          </a:xfrm>
        </p:spPr>
        <p:txBody>
          <a:bodyPr/>
          <a:lstStyle/>
          <a:p>
            <a:pPr marL="341313" lvl="1" indent="-341313" eaLnBrk="1" hangingPunct="1">
              <a:lnSpc>
                <a:spcPct val="90000"/>
              </a:lnSpc>
              <a:spcBef>
                <a:spcPts val="80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3200" dirty="0">
                <a:solidFill>
                  <a:schemeClr val="tx1"/>
                </a:solidFill>
                <a:latin typeface="Garamond"/>
              </a:rPr>
              <a:t>A PRF is a MAC for </a:t>
            </a:r>
            <a:r>
              <a:rPr lang="en-US" altLang="en-US" sz="3200" i="1" dirty="0">
                <a:solidFill>
                  <a:schemeClr val="tx1"/>
                </a:solidFill>
                <a:latin typeface="Garamond"/>
              </a:rPr>
              <a:t>l</a:t>
            </a:r>
            <a:r>
              <a:rPr lang="en-US" altLang="en-US" sz="3200" dirty="0">
                <a:solidFill>
                  <a:schemeClr val="tx1"/>
                </a:solidFill>
                <a:latin typeface="Garamond"/>
              </a:rPr>
              <a:t>-bit messages.</a:t>
            </a:r>
          </a:p>
          <a:p>
            <a:pPr marL="341313" lvl="1" indent="-341313" eaLnBrk="1" hangingPunct="1">
              <a:lnSpc>
                <a:spcPct val="90000"/>
              </a:lnSpc>
              <a:spcBef>
                <a:spcPts val="80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3200" i="1" dirty="0">
                <a:solidFill>
                  <a:schemeClr val="tx1"/>
                </a:solidFill>
                <a:latin typeface="Garamond"/>
              </a:rPr>
              <a:t>(</a:t>
            </a:r>
            <a:r>
              <a:rPr lang="en-US" altLang="en-US" sz="3200" i="1" dirty="0" err="1">
                <a:solidFill>
                  <a:schemeClr val="tx1"/>
                </a:solidFill>
                <a:latin typeface="Garamond"/>
              </a:rPr>
              <a:t>l.n</a:t>
            </a:r>
            <a:r>
              <a:rPr lang="en-US" altLang="en-US" sz="3200" i="1" dirty="0">
                <a:solidFill>
                  <a:schemeClr val="tx1"/>
                </a:solidFill>
                <a:latin typeface="Garamond"/>
              </a:rPr>
              <a:t>)-</a:t>
            </a:r>
            <a:r>
              <a:rPr lang="en-US" altLang="en-US" sz="3200" dirty="0">
                <a:solidFill>
                  <a:schemeClr val="tx1"/>
                </a:solidFill>
                <a:latin typeface="Garamond"/>
              </a:rPr>
              <a:t>bit FIL MAC from n-bit PRP (block cipher): use CBC-MAC – a variant of CBC </a:t>
            </a:r>
          </a:p>
          <a:p>
            <a:pPr marL="341313" indent="-341313" eaLnBrk="1" hangingPunct="1">
              <a:lnSpc>
                <a:spcPct val="90000"/>
              </a:lnSpc>
              <a:spcBef>
                <a:spcPts val="80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3200" b="1" dirty="0"/>
              <a:t>Problem 1: </a:t>
            </a:r>
            <a:r>
              <a:rPr lang="en-US" altLang="en-US" sz="3200" dirty="0"/>
              <a:t>block cipher is PRP, not PRF</a:t>
            </a:r>
          </a:p>
          <a:p>
            <a:pPr marL="798513" lvl="1" indent="-341313" eaLnBrk="1" hangingPunct="1">
              <a:lnSpc>
                <a:spcPct val="90000"/>
              </a:lnSpc>
              <a:spcBef>
                <a:spcPts val="80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800" dirty="0"/>
              <a:t>Solution: the switching lemma says that a PRP is also a PRF!</a:t>
            </a:r>
          </a:p>
          <a:p>
            <a:pPr marL="341313" lvl="1" indent="-341313" eaLnBrk="1" hangingPunct="1">
              <a:lnSpc>
                <a:spcPct val="90000"/>
              </a:lnSpc>
              <a:spcBef>
                <a:spcPts val="80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endParaRPr lang="en-US" altLang="en-US" sz="3200" dirty="0">
              <a:solidFill>
                <a:schemeClr val="tx1"/>
              </a:solidFill>
              <a:latin typeface="Garamond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D8C69D-0B07-FE4F-A35F-CB5F7C82A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13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901383595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9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dirty="0"/>
              <a:t>Using a Block Cipher for MAC</a:t>
            </a:r>
          </a:p>
        </p:txBody>
      </p:sp>
      <p:sp>
        <p:nvSpPr>
          <p:cNvPr id="31750" name="Rectangle 2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341313" indent="-341313" eaLnBrk="1" hangingPunct="1">
              <a:lnSpc>
                <a:spcPct val="90000"/>
              </a:lnSpc>
              <a:spcBef>
                <a:spcPts val="80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3200" b="1" dirty="0"/>
              <a:t>Problem 2: </a:t>
            </a:r>
            <a:r>
              <a:rPr lang="en-US" altLang="en-US" sz="3200" dirty="0"/>
              <a:t>block ciphers are defined only for (short) fixed input length (FIL)</a:t>
            </a:r>
          </a:p>
          <a:p>
            <a:pPr marL="798513" lvl="1" indent="-341313" eaLnBrk="1" hangingPunct="1">
              <a:lnSpc>
                <a:spcPct val="90000"/>
              </a:lnSpc>
              <a:spcBef>
                <a:spcPts val="80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400" dirty="0"/>
              <a:t>Ideally a MAC should work for any input string (Variable Input Length – VIL)</a:t>
            </a:r>
          </a:p>
          <a:p>
            <a:pPr marL="798513" lvl="1" indent="-341313" eaLnBrk="1" hangingPunct="1">
              <a:lnSpc>
                <a:spcPct val="90000"/>
              </a:lnSpc>
              <a:spcBef>
                <a:spcPts val="80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400" dirty="0"/>
              <a:t>We already had a similar problem… where?</a:t>
            </a:r>
          </a:p>
          <a:p>
            <a:pPr marL="1141413" lvl="2" indent="-341313" eaLnBrk="1" hangingPunct="1">
              <a:lnSpc>
                <a:spcPct val="90000"/>
              </a:lnSpc>
              <a:spcBef>
                <a:spcPts val="80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400" dirty="0"/>
              <a:t>Block ciphers.</a:t>
            </a:r>
          </a:p>
          <a:p>
            <a:pPr marL="798513" lvl="1" indent="-341313" eaLnBrk="1" hangingPunct="1">
              <a:lnSpc>
                <a:spcPct val="90000"/>
              </a:lnSpc>
              <a:spcBef>
                <a:spcPts val="80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400" dirty="0"/>
              <a:t>We solved by using various encryption modes of operation.</a:t>
            </a:r>
          </a:p>
          <a:p>
            <a:pPr marL="798513" lvl="1" indent="-341313" eaLnBrk="1" hangingPunct="1">
              <a:lnSpc>
                <a:spcPct val="90000"/>
              </a:lnSpc>
              <a:spcBef>
                <a:spcPts val="80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400" dirty="0"/>
              <a:t>A solution for MACs: the CBC-MAC mode of operation! </a:t>
            </a:r>
            <a:endParaRPr lang="en-US" altLang="en-US" sz="2400" dirty="0">
              <a:sym typeface="Wingdings" panose="05000000000000000000" pitchFamily="2" charset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38FCF-5297-9D41-A53C-C9C155756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14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12464319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17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17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17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17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17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17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17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17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3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3800" dirty="0"/>
              <a:t>CBC-MAC</a:t>
            </a:r>
          </a:p>
        </p:txBody>
      </p:sp>
      <p:sp>
        <p:nvSpPr>
          <p:cNvPr id="32809" name="Text Box 43"/>
          <p:cNvSpPr txBox="1">
            <a:spLocks noChangeArrowheads="1"/>
          </p:cNvSpPr>
          <p:nvPr/>
        </p:nvSpPr>
        <p:spPr bwMode="auto">
          <a:xfrm>
            <a:off x="228600" y="1551960"/>
            <a:ext cx="3217863" cy="833178"/>
          </a:xfrm>
          <a:prstGeom prst="rect">
            <a:avLst/>
          </a:prstGeom>
          <a:noFill/>
          <a:ln w="9360">
            <a:solidFill>
              <a:srgbClr val="3B812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Split plaintext </a:t>
            </a: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 in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blocks</a:t>
            </a:r>
            <a:endParaRPr lang="en-US" altLang="en-U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811" name="Text Box 45"/>
          <p:cNvSpPr txBox="1">
            <a:spLocks noChangeArrowheads="1"/>
          </p:cNvSpPr>
          <p:nvPr/>
        </p:nvSpPr>
        <p:spPr bwMode="auto">
          <a:xfrm>
            <a:off x="228600" y="2650551"/>
            <a:ext cx="3217863" cy="1190625"/>
          </a:xfrm>
          <a:prstGeom prst="rect">
            <a:avLst/>
          </a:prstGeom>
          <a:noFill/>
          <a:ln w="9360">
            <a:solidFill>
              <a:srgbClr val="008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Fixed, known (zero)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Initialization Vector (</a:t>
            </a:r>
            <a:r>
              <a:rPr lang="en-US" alt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IV</a:t>
            </a:r>
            <a:r>
              <a:rPr lang="en-US" alt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8D73CA72-4D8A-4B6F-9D57-9A034EA59BD2}"/>
                  </a:ext>
                </a:extLst>
              </p14:cNvPr>
              <p14:cNvContentPartPr/>
              <p14:nvPr/>
            </p14:nvContentPartPr>
            <p14:xfrm>
              <a:off x="-1397880" y="2837710"/>
              <a:ext cx="360" cy="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8D73CA72-4D8A-4B6F-9D57-9A034EA59BD2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1406880" y="2829070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Folded Corner 2">
            <a:extLst>
              <a:ext uri="{FF2B5EF4-FFF2-40B4-BE49-F238E27FC236}">
                <a16:creationId xmlns:a16="http://schemas.microsoft.com/office/drawing/2014/main" id="{752D1DD1-AF90-0544-AA54-E9E9FF85F95E}"/>
              </a:ext>
            </a:extLst>
          </p:cNvPr>
          <p:cNvSpPr/>
          <p:nvPr/>
        </p:nvSpPr>
        <p:spPr bwMode="auto">
          <a:xfrm>
            <a:off x="3013842" y="5768459"/>
            <a:ext cx="2871952" cy="851338"/>
          </a:xfrm>
          <a:prstGeom prst="foldedCorner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Recall: MACs are deterministic functions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B294AC-2737-B54E-AAD5-837A1A1F6D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7198" y="1664168"/>
            <a:ext cx="5398202" cy="1972765"/>
          </a:xfrm>
          <a:prstGeom prst="rect">
            <a:avLst/>
          </a:prstGeom>
        </p:spPr>
      </p:pic>
      <p:sp>
        <p:nvSpPr>
          <p:cNvPr id="36" name="Text Box 43">
            <a:extLst>
              <a:ext uri="{FF2B5EF4-FFF2-40B4-BE49-F238E27FC236}">
                <a16:creationId xmlns:a16="http://schemas.microsoft.com/office/drawing/2014/main" id="{DF412532-799F-044D-97EB-41C84EEFD2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" y="4423502"/>
            <a:ext cx="6983186" cy="463846"/>
          </a:xfrm>
          <a:prstGeom prst="rect">
            <a:avLst/>
          </a:prstGeom>
          <a:noFill/>
          <a:ln w="9360">
            <a:solidFill>
              <a:srgbClr val="3B812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tag is the ciphertext of the last block</a:t>
            </a:r>
            <a:endParaRPr lang="en-US" altLang="en-U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 Box 48">
            <a:extLst>
              <a:ext uri="{FF2B5EF4-FFF2-40B4-BE49-F238E27FC236}">
                <a16:creationId xmlns:a16="http://schemas.microsoft.com/office/drawing/2014/main" id="{E94F76EA-CD71-BB4A-B974-220CFDA8DB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" y="5043339"/>
            <a:ext cx="8915400" cy="525401"/>
          </a:xfrm>
          <a:prstGeom prst="rect">
            <a:avLst/>
          </a:prstGeom>
          <a:solidFill>
            <a:srgbClr val="FFCCFF">
              <a:alpha val="52940"/>
            </a:srgbClr>
          </a:solidFill>
          <a:ln w="936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indent="0" algn="ctr" eaLnBrk="1" hangingPunct="1">
              <a:buClr>
                <a:srgbClr val="CC9900"/>
              </a:buClr>
              <a:buSzPct val="65000"/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800" i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CBC</a:t>
            </a:r>
            <a:r>
              <a:rPr lang="he-IL" altLang="en-US" sz="2800" i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en-US" sz="2800" i="1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MAC</a:t>
            </a:r>
            <a:r>
              <a:rPr lang="en-US" altLang="en-US" sz="2800" i="1" baseline="30000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en-US" sz="2800" i="1" baseline="-25000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800" i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(m</a:t>
            </a:r>
            <a:r>
              <a:rPr lang="en-US" altLang="en-US" sz="2800" i="1" baseline="-250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en-US" sz="2800" i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||m</a:t>
            </a:r>
            <a:r>
              <a:rPr lang="en-US" altLang="en-US" sz="2800" i="1" baseline="-250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en-US" sz="2800" i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||..||m</a:t>
            </a:r>
            <a:r>
              <a:rPr lang="en-US" altLang="en-US" sz="2800" i="1" baseline="-250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 </a:t>
            </a:r>
            <a:r>
              <a:rPr lang="en-US" altLang="en-US" sz="2800" i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= </a:t>
            </a:r>
            <a:r>
              <a:rPr lang="en-US" altLang="en-US" sz="2800" i="1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en-US" sz="2800" i="1" baseline="-25000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800" i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en-US" sz="2800" i="1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en-US" sz="2800" i="1" baseline="-25000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en-US" sz="2800" i="1" dirty="0" err="1">
                <a:solidFill>
                  <a:schemeClr val="accent2"/>
                </a:solidFill>
                <a:latin typeface="Symbol" panose="05050102010706020507" pitchFamily="18" charset="2"/>
                <a:cs typeface="Times New Roman" panose="02020603050405020304" pitchFamily="18" charset="0"/>
              </a:rPr>
              <a:t></a:t>
            </a:r>
            <a:r>
              <a:rPr lang="en-US" altLang="en-US" sz="2800" i="1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en-US" sz="2800" i="1" baseline="-25000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800" i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(…</a:t>
            </a:r>
            <a:r>
              <a:rPr lang="en-US" altLang="en-US" sz="2800" i="1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en-US" sz="2800" i="1" baseline="-25000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800" i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(m</a:t>
            </a:r>
            <a:r>
              <a:rPr lang="en-US" altLang="en-US" sz="2800" i="1" baseline="-250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en-US" sz="2800" i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))))</a:t>
            </a:r>
          </a:p>
        </p:txBody>
      </p:sp>
      <p:sp>
        <p:nvSpPr>
          <p:cNvPr id="38" name="Slide Number Placeholder 3">
            <a:extLst>
              <a:ext uri="{FF2B5EF4-FFF2-40B4-BE49-F238E27FC236}">
                <a16:creationId xmlns:a16="http://schemas.microsoft.com/office/drawing/2014/main" id="{DF244B35-0B98-624E-8C88-B5DC61A75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15</a:t>
            </a:fld>
            <a:endParaRPr lang="en-US" altLang="he-IL" sz="1800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  <p:tav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strVal val="1+#ppt_h/2"/>
                                          </p:val>
                                        </p:tav>
                                        <p:tav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609600" y="304800"/>
            <a:ext cx="7772400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dirty="0"/>
              <a:t>CBC-MAC</a:t>
            </a:r>
          </a:p>
        </p:txBody>
      </p:sp>
      <p:sp>
        <p:nvSpPr>
          <p:cNvPr id="3379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54012" y="1145629"/>
            <a:ext cx="8435975" cy="5019676"/>
          </a:xfrm>
        </p:spPr>
        <p:txBody>
          <a:bodyPr/>
          <a:lstStyle/>
          <a:p>
            <a:pPr marL="457200" lvl="1">
              <a:spcBef>
                <a:spcPts val="750"/>
              </a:spcBef>
            </a:pPr>
            <a:r>
              <a:rPr lang="en-US" altLang="en-US" dirty="0"/>
              <a:t>Widely deployed standard</a:t>
            </a:r>
          </a:p>
          <a:p>
            <a:pPr marL="457200" lvl="1">
              <a:spcBef>
                <a:spcPts val="750"/>
              </a:spcBef>
            </a:pPr>
            <a:r>
              <a:rPr lang="en-US" altLang="en-US" dirty="0"/>
              <a:t>More efficient ‘modes’ exist</a:t>
            </a:r>
          </a:p>
          <a:p>
            <a:pPr marL="800100" lvl="2">
              <a:spcBef>
                <a:spcPts val="750"/>
              </a:spcBef>
            </a:pPr>
            <a:r>
              <a:rPr lang="en-US" altLang="en-US" sz="2400" dirty="0"/>
              <a:t>E.g., allow for parallel computation.</a:t>
            </a:r>
          </a:p>
          <a:p>
            <a:pPr marL="457200" lvl="1">
              <a:spcBef>
                <a:spcPts val="750"/>
              </a:spcBef>
            </a:pPr>
            <a:r>
              <a:rPr lang="en-US" altLang="en-US" dirty="0"/>
              <a:t>It is provably secure.</a:t>
            </a:r>
          </a:p>
          <a:p>
            <a:pPr marL="457200" lvl="1">
              <a:spcBef>
                <a:spcPts val="750"/>
              </a:spcBef>
            </a:pPr>
            <a:endParaRPr lang="en-US" altLang="en-US" sz="2400" i="1" dirty="0">
              <a:solidFill>
                <a:schemeClr val="accent2"/>
              </a:solidFill>
              <a:latin typeface="American Typewriter" panose="02090604020004020304" pitchFamily="18" charset="77"/>
            </a:endParaRPr>
          </a:p>
          <a:p>
            <a:pPr marL="457200" lvl="1">
              <a:spcBef>
                <a:spcPts val="750"/>
              </a:spcBef>
            </a:pPr>
            <a:endParaRPr lang="en-US" altLang="en-US" sz="2400" i="1" dirty="0">
              <a:solidFill>
                <a:schemeClr val="accent2"/>
              </a:solidFill>
              <a:latin typeface="American Typewriter" panose="02090604020004020304" pitchFamily="18" charset="77"/>
            </a:endParaRPr>
          </a:p>
          <a:p>
            <a:pPr marL="457200" lvl="1" indent="0" algn="ctr" eaLnBrk="1" hangingPunct="1">
              <a:buClr>
                <a:srgbClr val="CC9900"/>
              </a:buClr>
              <a:buSzPct val="65000"/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i="1" dirty="0">
                <a:solidFill>
                  <a:schemeClr val="accent2"/>
                </a:solidFill>
              </a:rPr>
              <a:t>But what of VIL (variable-length input) MAC?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7C6FF7-D253-8E4C-8AD0-AC06D2A62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16</a:t>
            </a:fld>
            <a:endParaRPr lang="en-US" altLang="he-IL" sz="1800" dirty="0"/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21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539749" y="228600"/>
            <a:ext cx="8145623" cy="762000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4000" dirty="0"/>
              <a:t>CBC-MAC-based VIL-MAC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822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539951" y="1026289"/>
                <a:ext cx="8518847" cy="5269407"/>
              </a:xfrm>
            </p:spPr>
            <p:txBody>
              <a:bodyPr/>
              <a:lstStyle/>
              <a:p>
                <a:pPr marL="341313" indent="-341313" eaLnBrk="1" hangingPunct="1">
                  <a:spcBef>
                    <a:spcPts val="650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800" dirty="0"/>
                  <a:t>Is CBC-MAC</a:t>
                </a:r>
                <a:r>
                  <a:rPr lang="en-US" altLang="en-US" sz="2800" baseline="30000" dirty="0"/>
                  <a:t>E</a:t>
                </a:r>
                <a:r>
                  <a:rPr lang="en-US" altLang="en-US" sz="2800" dirty="0"/>
                  <a:t> a VIL-MAC?</a:t>
                </a:r>
              </a:p>
              <a:p>
                <a:pPr marL="798513" lvl="1" indent="-341313" eaLnBrk="1" hangingPunct="1"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400" b="1" i="1" dirty="0">
                    <a:solidFill>
                      <a:srgbClr val="FF0000"/>
                    </a:solidFill>
                    <a:latin typeface="+mj-lt"/>
                    <a:cs typeface="Times New Roman" panose="02020603050405020304" pitchFamily="18" charset="0"/>
                  </a:rPr>
                  <a:t>No! </a:t>
                </a:r>
              </a:p>
              <a:p>
                <a:pPr marL="1141413" lvl="2" indent="-341313" eaLnBrk="1" hangingPunct="1"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000" dirty="0"/>
                  <a:t>Ask for 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b=CBC-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MAC</a:t>
                </a:r>
                <a:r>
                  <a:rPr lang="en-US" altLang="en-US" sz="2000" i="1" baseline="30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r>
                  <a:rPr lang="en-US" altLang="en-US" sz="2000" i="1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(a)=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r>
                  <a:rPr lang="en-US" altLang="en-US" sz="2000" i="1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(a) </a:t>
                </a:r>
                <a:r>
                  <a:rPr lang="en-US" altLang="en-US" sz="2000" i="1" dirty="0"/>
                  <a:t>; </a:t>
                </a:r>
              </a:p>
              <a:p>
                <a:pPr marL="1141413" lvl="2" indent="-341313" eaLnBrk="1" hangingPunct="1"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000" dirty="0"/>
                  <a:t>then output (ac, b) so 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 = ac </a:t>
                </a:r>
                <a:r>
                  <a:rPr lang="en-US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with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tag = b</a:t>
                </a:r>
                <a:r>
                  <a:rPr lang="en-US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en-US" sz="2000" dirty="0"/>
                  <a:t>where 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c= 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altLang="en-US" sz="2000" i="1" dirty="0" err="1">
                    <a:latin typeface="Symbol" panose="05050102010706020507" pitchFamily="18" charset="2"/>
                    <a:cs typeface="Times New Roman" panose="02020603050405020304" pitchFamily="18" charset="0"/>
                  </a:rPr>
                  <a:t>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r>
                  <a:rPr lang="en-US" altLang="en-US" sz="2000" i="1" dirty="0"/>
                  <a:t>. </a:t>
                </a:r>
              </a:p>
              <a:p>
                <a:pPr marL="1141413" lvl="2" indent="-341313" eaLnBrk="1" hangingPunct="1"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000" dirty="0"/>
                  <a:t>This is valid,</a:t>
                </a:r>
                <a:r>
                  <a:rPr lang="en-US" altLang="en-US" sz="2000" i="1" dirty="0"/>
                  <a:t> </a:t>
                </a:r>
                <a:r>
                  <a:rPr lang="en-US" altLang="en-US" sz="2000" dirty="0"/>
                  <a:t>since the attacker did not ask the oracle for a tag for </a:t>
                </a:r>
                <a:r>
                  <a:rPr lang="en-US" altLang="en-US" sz="2000" i="1" dirty="0"/>
                  <a:t>ac,</a:t>
                </a:r>
                <a:r>
                  <a:rPr lang="en-US" altLang="en-US" sz="2000" dirty="0"/>
                  <a:t> and </a:t>
                </a:r>
                <a:r>
                  <a:rPr lang="en-US" altLang="en-US" sz="2000" i="1" dirty="0"/>
                  <a:t>b</a:t>
                </a:r>
                <a:r>
                  <a:rPr lang="en-US" altLang="en-US" sz="2000" dirty="0"/>
                  <a:t> for </a:t>
                </a:r>
                <a:r>
                  <a:rPr lang="en-US" altLang="en-US" sz="2000" i="1" dirty="0"/>
                  <a:t>ac</a:t>
                </a:r>
                <a:r>
                  <a:rPr lang="en-US" altLang="en-US" sz="2000" dirty="0"/>
                  <a:t> is a valid tag since </a:t>
                </a:r>
                <a:br>
                  <a:rPr lang="en-US" altLang="en-US" sz="2000" dirty="0"/>
                </a:b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CBC-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MAC</a:t>
                </a:r>
                <a:r>
                  <a:rPr lang="en-US" altLang="en-US" sz="2000" i="1" baseline="30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r>
                  <a:rPr lang="en-US" altLang="en-US" sz="2000" i="1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(ac)=E</a:t>
                </a:r>
                <a:r>
                  <a:rPr lang="en-US" altLang="en-US" sz="2000" i="1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r>
                  <a:rPr lang="en-US" altLang="en-US" sz="2000" i="1" dirty="0" err="1">
                    <a:latin typeface="Symbol" panose="05050102010706020507" pitchFamily="18" charset="2"/>
                    <a:cs typeface="Times New Roman" panose="02020603050405020304" pitchFamily="18" charset="0"/>
                  </a:rPr>
                  <a:t>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r>
                  <a:rPr lang="en-US" altLang="en-US" sz="2000" i="1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(a))=E</a:t>
                </a:r>
                <a:r>
                  <a:rPr lang="en-US" altLang="en-US" sz="2000" i="1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r>
                  <a:rPr lang="en-US" altLang="en-US" sz="2000" i="1" dirty="0" err="1">
                    <a:latin typeface="Symbol" panose="05050102010706020507" pitchFamily="18" charset="2"/>
                    <a:cs typeface="Times New Roman" panose="02020603050405020304" pitchFamily="18" charset="0"/>
                  </a:rPr>
                  <a:t>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)= E</a:t>
                </a:r>
                <a:r>
                  <a:rPr lang="en-US" altLang="en-US" sz="2000" i="1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altLang="en-US" sz="2000" i="1" dirty="0" err="1">
                    <a:latin typeface="Symbol" panose="05050102010706020507" pitchFamily="18" charset="2"/>
                    <a:cs typeface="Times New Roman" panose="02020603050405020304" pitchFamily="18" charset="0"/>
                  </a:rPr>
                  <a:t>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r>
                  <a:rPr lang="en-US" altLang="en-US" sz="2000" i="1" dirty="0" err="1">
                    <a:latin typeface="Symbol" panose="05050102010706020507" pitchFamily="18" charset="2"/>
                    <a:cs typeface="Times New Roman" panose="02020603050405020304" pitchFamily="18" charset="0"/>
                  </a:rPr>
                  <a:t>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)= E</a:t>
                </a:r>
                <a:r>
                  <a:rPr lang="en-US" altLang="en-US" sz="2000" i="1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(a)= b</a:t>
                </a:r>
                <a:r>
                  <a:rPr lang="en-US" altLang="en-US" sz="2000" i="1" dirty="0"/>
                  <a:t>.</a:t>
                </a:r>
              </a:p>
              <a:p>
                <a:pPr marL="341313" indent="-341313" eaLnBrk="1" hangingPunct="1">
                  <a:spcBef>
                    <a:spcPts val="650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800" dirty="0"/>
                  <a:t>Solution: prepend message length (called CMAC)</a:t>
                </a:r>
              </a:p>
              <a:p>
                <a:pPr marL="798513" lvl="1" indent="-341313" eaLnBrk="1" hangingPunct="1"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400" dirty="0"/>
                  <a:t>Let </a:t>
                </a:r>
                <a:r>
                  <a:rPr lang="en-US" altLang="en-US" sz="24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CMAC</a:t>
                </a:r>
                <a:r>
                  <a:rPr lang="en-US" altLang="en-US" sz="2400" i="1" baseline="30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r>
                  <a:rPr lang="en-US" altLang="en-US" sz="2400" i="1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en-US" sz="2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(m)=CBC-</a:t>
                </a:r>
                <a:r>
                  <a:rPr lang="en-US" altLang="en-US" sz="24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MAC</a:t>
                </a:r>
                <a:r>
                  <a:rPr lang="en-US" altLang="en-US" sz="2400" i="1" baseline="30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r>
                  <a:rPr lang="en-US" altLang="en-US" sz="2400" i="1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en-US" sz="2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(L(m)||m)</a:t>
                </a:r>
              </a:p>
              <a:p>
                <a:pPr marL="1141413" lvl="2" indent="-341313" eaLnBrk="1" hangingPunct="1"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000" dirty="0"/>
                  <a:t>Where </a:t>
                </a:r>
                <a14:m>
                  <m:oMath xmlns:m="http://schemas.openxmlformats.org/officeDocument/2006/math">
                    <m:r>
                      <a:rPr lang="en-US" altLang="en-US" sz="2000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alt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en-US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</m:oMath>
                </a14:m>
                <a:r>
                  <a:rPr lang="en-US" altLang="en-US" sz="2000" dirty="0"/>
                  <a:t> is a 1-block encoding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</m:oMath>
                </a14:m>
                <a:endParaRPr lang="en-US" altLang="en-US" sz="2000" dirty="0"/>
              </a:p>
              <a:p>
                <a:pPr marL="798513" lvl="1" indent="-341313" eaLnBrk="1" hangingPunct="1"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400" dirty="0"/>
                  <a:t>CMAC is a secure VIL MAC construction!</a:t>
                </a:r>
              </a:p>
            </p:txBody>
          </p:sp>
        </mc:Choice>
        <mc:Fallback>
          <p:sp>
            <p:nvSpPr>
              <p:cNvPr id="34822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539951" y="1026289"/>
                <a:ext cx="8518847" cy="5269407"/>
              </a:xfrm>
              <a:blipFill>
                <a:blip r:embed="rId3"/>
                <a:stretch>
                  <a:fillRect l="-446" t="-12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Slide Number Placeholder 3">
            <a:extLst>
              <a:ext uri="{FF2B5EF4-FFF2-40B4-BE49-F238E27FC236}">
                <a16:creationId xmlns:a16="http://schemas.microsoft.com/office/drawing/2014/main" id="{9EBF8014-6EEC-FE48-B838-3799F3A50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17</a:t>
            </a:fld>
            <a:endParaRPr lang="en-US" altLang="he-IL" sz="1800" dirty="0"/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Examples of MAC Constructions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altLang="he-IL" sz="2200" dirty="0">
                <a:sym typeface="Wingdings" panose="05000000000000000000" pitchFamily="2" charset="2"/>
              </a:rPr>
              <a:t>Are the following constructions secure MACs:</a:t>
            </a:r>
          </a:p>
          <a:p>
            <a:pPr>
              <a:buAutoNum type="arabicPeriod"/>
            </a:pPr>
            <a:r>
              <a:rPr lang="en-US" altLang="he-IL" sz="2200" dirty="0">
                <a:sym typeface="Wingdings" panose="05000000000000000000" pitchFamily="2" charset="2"/>
              </a:rPr>
              <a:t>Let E</a:t>
            </a:r>
            <a:r>
              <a:rPr lang="en-US" altLang="he-IL" sz="2200" baseline="-25000" dirty="0">
                <a:sym typeface="Wingdings" panose="05000000000000000000" pitchFamily="2" charset="2"/>
              </a:rPr>
              <a:t>k</a:t>
            </a:r>
            <a:r>
              <a:rPr lang="en-US" altLang="he-IL" sz="2200" dirty="0">
                <a:sym typeface="Wingdings" panose="05000000000000000000" pitchFamily="2" charset="2"/>
              </a:rPr>
              <a:t> be a secure block cipher that takes input of length n bits. For a message m of length 2n bits, compute the tag as:</a:t>
            </a:r>
          </a:p>
          <a:p>
            <a:pPr marL="0" indent="0">
              <a:buNone/>
            </a:pPr>
            <a:r>
              <a:rPr lang="en-US" altLang="he-IL" sz="2200" dirty="0">
                <a:sym typeface="Wingdings" panose="05000000000000000000" pitchFamily="2" charset="2"/>
              </a:rPr>
              <a:t>	</a:t>
            </a:r>
            <a:r>
              <a:rPr lang="en-US" altLang="he-IL" sz="2200" dirty="0" err="1">
                <a:sym typeface="Wingdings" panose="05000000000000000000" pitchFamily="2" charset="2"/>
              </a:rPr>
              <a:t>MAC</a:t>
            </a:r>
            <a:r>
              <a:rPr lang="en-US" altLang="he-IL" sz="2200" baseline="-25000" dirty="0" err="1">
                <a:sym typeface="Wingdings" panose="05000000000000000000" pitchFamily="2" charset="2"/>
              </a:rPr>
              <a:t>k</a:t>
            </a:r>
            <a:r>
              <a:rPr lang="en-US" altLang="he-IL" sz="2200" dirty="0">
                <a:sym typeface="Wingdings" panose="05000000000000000000" pitchFamily="2" charset="2"/>
              </a:rPr>
              <a:t>(m) = E</a:t>
            </a:r>
            <a:r>
              <a:rPr lang="en-US" altLang="he-IL" sz="2200" baseline="-25000" dirty="0">
                <a:sym typeface="Wingdings" panose="05000000000000000000" pitchFamily="2" charset="2"/>
              </a:rPr>
              <a:t>k</a:t>
            </a:r>
            <a:r>
              <a:rPr lang="en-US" altLang="he-IL" sz="2200" dirty="0">
                <a:sym typeface="Wingdings" panose="05000000000000000000" pitchFamily="2" charset="2"/>
              </a:rPr>
              <a:t>(m</a:t>
            </a:r>
            <a:r>
              <a:rPr lang="en-US" altLang="he-IL" sz="2200" baseline="-25000" dirty="0">
                <a:sym typeface="Wingdings" panose="05000000000000000000" pitchFamily="2" charset="2"/>
              </a:rPr>
              <a:t>L</a:t>
            </a:r>
            <a:r>
              <a:rPr lang="en-US" altLang="he-IL" sz="2200" dirty="0">
                <a:sym typeface="Wingdings" panose="05000000000000000000" pitchFamily="2" charset="2"/>
              </a:rPr>
              <a:t>) </a:t>
            </a:r>
            <a:r>
              <a:rPr lang="en-US" altLang="he-IL" sz="2200" dirty="0" err="1">
                <a:sym typeface="Wingdings" panose="05000000000000000000" pitchFamily="2" charset="2"/>
              </a:rPr>
              <a:t>xor</a:t>
            </a:r>
            <a:r>
              <a:rPr lang="en-US" altLang="he-IL" sz="2200" dirty="0">
                <a:sym typeface="Wingdings" panose="05000000000000000000" pitchFamily="2" charset="2"/>
              </a:rPr>
              <a:t> E</a:t>
            </a:r>
            <a:r>
              <a:rPr lang="en-US" altLang="he-IL" sz="2200" baseline="-25000" dirty="0">
                <a:sym typeface="Wingdings" panose="05000000000000000000" pitchFamily="2" charset="2"/>
              </a:rPr>
              <a:t>k</a:t>
            </a:r>
            <a:r>
              <a:rPr lang="en-US" altLang="he-IL" sz="2200" dirty="0">
                <a:sym typeface="Wingdings" panose="05000000000000000000" pitchFamily="2" charset="2"/>
              </a:rPr>
              <a:t>(</a:t>
            </a:r>
            <a:r>
              <a:rPr lang="en-US" altLang="he-IL" sz="2200" dirty="0" err="1">
                <a:sym typeface="Wingdings" panose="05000000000000000000" pitchFamily="2" charset="2"/>
              </a:rPr>
              <a:t>m</a:t>
            </a:r>
            <a:r>
              <a:rPr lang="en-US" altLang="he-IL" sz="2200" baseline="-25000" dirty="0" err="1">
                <a:sym typeface="Wingdings" panose="05000000000000000000" pitchFamily="2" charset="2"/>
              </a:rPr>
              <a:t>R</a:t>
            </a:r>
            <a:r>
              <a:rPr lang="en-US" altLang="he-IL" sz="2200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endParaRPr lang="en-US" altLang="he-IL" sz="2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altLang="he-IL" sz="2200" dirty="0">
              <a:sym typeface="Wingdings" panose="05000000000000000000" pitchFamily="2" charset="2"/>
            </a:endParaRPr>
          </a:p>
          <a:p>
            <a:pPr>
              <a:buAutoNum type="arabicPeriod" startAt="2"/>
            </a:pPr>
            <a:r>
              <a:rPr lang="en-US" altLang="he-IL" sz="2200" dirty="0">
                <a:sym typeface="Wingdings" panose="05000000000000000000" pitchFamily="2" charset="2"/>
              </a:rPr>
              <a:t>Let G be a secure PRG. For a message m of length n bits, compute the tag as:</a:t>
            </a:r>
          </a:p>
          <a:p>
            <a:pPr marL="0" indent="0">
              <a:buNone/>
            </a:pPr>
            <a:r>
              <a:rPr lang="en-US" altLang="he-IL" sz="2200" dirty="0">
                <a:sym typeface="Wingdings" panose="05000000000000000000" pitchFamily="2" charset="2"/>
              </a:rPr>
              <a:t>     </a:t>
            </a:r>
            <a:r>
              <a:rPr lang="en-US" altLang="he-IL" sz="2200" dirty="0" err="1">
                <a:sym typeface="Wingdings" panose="05000000000000000000" pitchFamily="2" charset="2"/>
              </a:rPr>
              <a:t>MAC</a:t>
            </a:r>
            <a:r>
              <a:rPr lang="en-US" altLang="he-IL" sz="2200" baseline="-25000" dirty="0" err="1">
                <a:sym typeface="Wingdings" panose="05000000000000000000" pitchFamily="2" charset="2"/>
              </a:rPr>
              <a:t>k</a:t>
            </a:r>
            <a:r>
              <a:rPr lang="en-US" altLang="he-IL" sz="2200" dirty="0">
                <a:sym typeface="Wingdings" panose="05000000000000000000" pitchFamily="2" charset="2"/>
              </a:rPr>
              <a:t>(m) = k </a:t>
            </a:r>
            <a:r>
              <a:rPr lang="en-US" altLang="he-IL" sz="2200" dirty="0" err="1">
                <a:sym typeface="Wingdings" panose="05000000000000000000" pitchFamily="2" charset="2"/>
              </a:rPr>
              <a:t>xor</a:t>
            </a:r>
            <a:r>
              <a:rPr lang="en-US" altLang="he-IL" sz="2200" dirty="0">
                <a:sym typeface="Wingdings" panose="05000000000000000000" pitchFamily="2" charset="2"/>
              </a:rPr>
              <a:t> PRG(m)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F9D048-DF9C-5B47-A4EF-7C5EDDA5AA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75170" y="6242050"/>
            <a:ext cx="505279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5D150BCE-9D66-491A-A8B4-4A161955DEF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18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61590616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57200" y="304800"/>
            <a:ext cx="8402762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3600" dirty="0"/>
              <a:t>Combining Authentication and Encryption</a:t>
            </a:r>
          </a:p>
        </p:txBody>
      </p:sp>
      <p:sp>
        <p:nvSpPr>
          <p:cNvPr id="3789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179512" y="1038225"/>
            <a:ext cx="8680450" cy="4956175"/>
          </a:xfrm>
        </p:spPr>
        <p:txBody>
          <a:bodyPr/>
          <a:lstStyle/>
          <a:p>
            <a:pPr marL="531813" indent="-531813" eaLnBrk="1" hangingPunct="1">
              <a:spcBef>
                <a:spcPts val="55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600" dirty="0"/>
              <a:t>For confidentiality, use encryption</a:t>
            </a:r>
          </a:p>
          <a:p>
            <a:pPr marL="531813" indent="-531813" eaLnBrk="1" hangingPunct="1">
              <a:spcBef>
                <a:spcPts val="55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600" dirty="0"/>
              <a:t>For authentication, use MAC </a:t>
            </a:r>
          </a:p>
          <a:p>
            <a:pPr marL="531813" indent="-531813" eaLnBrk="1" hangingPunct="1">
              <a:spcBef>
                <a:spcPts val="55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600" dirty="0"/>
              <a:t>For </a:t>
            </a:r>
            <a:r>
              <a:rPr lang="en-US" altLang="en-US" sz="2600" u="sng" dirty="0"/>
              <a:t>both</a:t>
            </a:r>
            <a:r>
              <a:rPr lang="en-US" altLang="en-US" sz="2600" dirty="0"/>
              <a:t> confidentiality </a:t>
            </a:r>
            <a:r>
              <a:rPr lang="en-US" altLang="en-US" sz="2600" u="sng" dirty="0"/>
              <a:t>and</a:t>
            </a:r>
            <a:r>
              <a:rPr lang="en-US" altLang="en-US" sz="2600" dirty="0"/>
              <a:t> authentication?</a:t>
            </a:r>
          </a:p>
          <a:p>
            <a:pPr marL="989013" lvl="1" indent="-531813" eaLnBrk="1" hangingPunct="1">
              <a:spcBef>
                <a:spcPts val="55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dirty="0"/>
              <a:t>Option 1: Combine MAC and encryption</a:t>
            </a:r>
          </a:p>
          <a:p>
            <a:pPr marL="1331913" lvl="2" indent="-531813" eaLnBrk="1" hangingPunct="1"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dirty="0"/>
              <a:t>Possible pitfalls (vulnerabilities)</a:t>
            </a:r>
          </a:p>
          <a:p>
            <a:pPr marL="989013" lvl="1" indent="-531813" eaLnBrk="1" hangingPunct="1">
              <a:spcBef>
                <a:spcPts val="55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dirty="0"/>
              <a:t>Option 2: Authenticated-encryption schemes (or modes)</a:t>
            </a:r>
          </a:p>
          <a:p>
            <a:pPr marL="1331913" lvl="2" indent="-531813" eaLnBrk="1" hangingPunct="1"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dirty="0"/>
              <a:t>Easier to deploy (securely)</a:t>
            </a:r>
          </a:p>
          <a:p>
            <a:pPr marL="1331913" lvl="2" indent="-531813" eaLnBrk="1" hangingPunct="1"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dirty="0">
                <a:solidFill>
                  <a:srgbClr val="7030A0"/>
                </a:solidFill>
              </a:rPr>
              <a:t>Generic combination of MAC and Encryption schemes</a:t>
            </a:r>
          </a:p>
          <a:p>
            <a:pPr marL="1331913" lvl="2" indent="-531813" eaLnBrk="1" hangingPunct="1"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dirty="0"/>
              <a:t>Or direct combined constructions (can be more efficient)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7041CF-636F-7A49-8243-310EC6861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19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4273219780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67544" y="304800"/>
            <a:ext cx="8424936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3600" dirty="0"/>
              <a:t>Generic MAC and Encryption Combinations</a:t>
            </a:r>
          </a:p>
        </p:txBody>
      </p:sp>
      <p:sp>
        <p:nvSpPr>
          <p:cNvPr id="3891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235428" y="1175375"/>
            <a:ext cx="8908572" cy="4956175"/>
          </a:xfrm>
        </p:spPr>
        <p:txBody>
          <a:bodyPr/>
          <a:lstStyle/>
          <a:p>
            <a:pPr eaLnBrk="1" hangingPunct="1">
              <a:lnSpc>
                <a:spcPct val="80000"/>
              </a:lnSpc>
              <a:spcBef>
                <a:spcPts val="650"/>
              </a:spcBef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dirty="0">
                <a:solidFill>
                  <a:schemeClr val="tx1"/>
                </a:solidFill>
              </a:rPr>
              <a:t>Three standards, three ways…  </a:t>
            </a:r>
          </a:p>
          <a:p>
            <a:pPr lvl="1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400" dirty="0"/>
              <a:t>Authenticate and encrypt (A&amp;E):</a:t>
            </a:r>
          </a:p>
          <a:p>
            <a:pPr marL="1143000" lvl="2" eaLnBrk="1" hangingPunct="1">
              <a:lnSpc>
                <a:spcPct val="80000"/>
              </a:lnSpc>
              <a:buClr>
                <a:srgbClr val="3B812F"/>
              </a:buClr>
              <a:buSzPct val="60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 = Enc(m), tag = MAC(m), </a:t>
            </a:r>
            <a:r>
              <a:rPr lang="en-US" altLang="en-US" sz="2400" dirty="0"/>
              <a:t>send</a:t>
            </a:r>
            <a:r>
              <a:rPr lang="en-US" altLang="en-US" sz="2400" i="1" dirty="0"/>
              <a:t> </a:t>
            </a: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(c, tag)</a:t>
            </a:r>
          </a:p>
          <a:p>
            <a:pPr marL="1143000" lvl="2" eaLnBrk="1" hangingPunct="1">
              <a:lnSpc>
                <a:spcPct val="80000"/>
              </a:lnSpc>
              <a:buClr>
                <a:srgbClr val="3B812F"/>
              </a:buClr>
              <a:buSzPct val="60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endParaRPr lang="en-US" altLang="en-U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400" dirty="0"/>
              <a:t>Authenticate then encrypt (</a:t>
            </a:r>
            <a:r>
              <a:rPr lang="en-US" altLang="en-US" sz="2400" dirty="0" err="1"/>
              <a:t>AtE</a:t>
            </a:r>
            <a:r>
              <a:rPr lang="en-US" altLang="en-US" sz="2400" dirty="0"/>
              <a:t>):</a:t>
            </a:r>
          </a:p>
          <a:p>
            <a:pPr marL="1143000" lvl="2" eaLnBrk="1" hangingPunct="1">
              <a:lnSpc>
                <a:spcPct val="80000"/>
              </a:lnSpc>
              <a:buClr>
                <a:srgbClr val="3B812F"/>
              </a:buClr>
              <a:buSzPct val="60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tag = MAC(m), c = Enc(m, tag), </a:t>
            </a:r>
            <a:r>
              <a:rPr lang="en-US" altLang="en-US" sz="2400" dirty="0"/>
              <a:t>send</a:t>
            </a:r>
            <a:r>
              <a:rPr lang="en-US" altLang="en-US" sz="2400" i="1" dirty="0"/>
              <a:t> </a:t>
            </a: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</a:p>
          <a:p>
            <a:pPr marL="1143000" lvl="2" eaLnBrk="1" hangingPunct="1">
              <a:lnSpc>
                <a:spcPct val="80000"/>
              </a:lnSpc>
              <a:buClr>
                <a:srgbClr val="3B812F"/>
              </a:buClr>
              <a:buSzPct val="60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endParaRPr lang="en-US" altLang="en-U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400" dirty="0"/>
              <a:t>Encrypt then authenticate (</a:t>
            </a:r>
            <a:r>
              <a:rPr lang="en-US" altLang="en-US" sz="2400" dirty="0" err="1"/>
              <a:t>EtA</a:t>
            </a:r>
            <a:r>
              <a:rPr lang="en-US" altLang="en-US" sz="2400" dirty="0"/>
              <a:t>):</a:t>
            </a:r>
          </a:p>
          <a:p>
            <a:pPr marL="1143000" lvl="2" eaLnBrk="1" hangingPunct="1">
              <a:lnSpc>
                <a:spcPct val="80000"/>
              </a:lnSpc>
              <a:buClr>
                <a:srgbClr val="3B812F"/>
              </a:buClr>
              <a:buSzPct val="60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 = Enc(m), tag = MAC(c), </a:t>
            </a:r>
            <a:r>
              <a:rPr lang="en-US" altLang="en-US" sz="2400" dirty="0"/>
              <a:t>send</a:t>
            </a:r>
            <a:r>
              <a:rPr lang="en-US" altLang="en-US" sz="2400" i="1" dirty="0"/>
              <a:t> </a:t>
            </a: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(c, tag)</a:t>
            </a:r>
          </a:p>
          <a:p>
            <a:pPr eaLnBrk="1" hangingPunct="1">
              <a:lnSpc>
                <a:spcPct val="80000"/>
              </a:lnSpc>
              <a:spcBef>
                <a:spcPts val="650"/>
              </a:spcBef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endParaRPr lang="en-US" altLang="en-US" sz="2600" dirty="0">
              <a:solidFill>
                <a:schemeClr val="tx1"/>
              </a:solidFill>
            </a:endParaRPr>
          </a:p>
          <a:p>
            <a:pPr eaLnBrk="1" hangingPunct="1">
              <a:lnSpc>
                <a:spcPct val="80000"/>
              </a:lnSpc>
              <a:spcBef>
                <a:spcPts val="650"/>
              </a:spcBef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600" dirty="0">
                <a:solidFill>
                  <a:schemeClr val="tx1"/>
                </a:solidFill>
              </a:rPr>
              <a:t>Some of these may be vulnerable even when combining some </a:t>
            </a:r>
            <a:r>
              <a:rPr lang="en-US" altLang="en-US" sz="2600" u="sng" dirty="0">
                <a:solidFill>
                  <a:schemeClr val="tx1"/>
                </a:solidFill>
              </a:rPr>
              <a:t>secure</a:t>
            </a:r>
            <a:r>
              <a:rPr lang="en-US" altLang="en-US" sz="2600" dirty="0">
                <a:solidFill>
                  <a:schemeClr val="tx1"/>
                </a:solidFill>
              </a:rPr>
              <a:t> encryption and MAC schemes!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5E1078-3516-6346-B6E2-540615FD8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20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99357826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67544" y="304800"/>
            <a:ext cx="8424936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3500" dirty="0"/>
              <a:t>Security of Generic MAC/Enc Combinations</a:t>
            </a:r>
          </a:p>
        </p:txBody>
      </p:sp>
      <p:sp>
        <p:nvSpPr>
          <p:cNvPr id="3891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235428" y="1175375"/>
            <a:ext cx="8680450" cy="4956175"/>
          </a:xfrm>
        </p:spPr>
        <p:txBody>
          <a:bodyPr/>
          <a:lstStyle/>
          <a:p>
            <a:pPr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800" dirty="0">
                <a:solidFill>
                  <a:schemeClr val="tx1"/>
                </a:solidFill>
              </a:rPr>
              <a:t>A&amp;E may be vulnerable!</a:t>
            </a:r>
          </a:p>
          <a:p>
            <a:pPr lvl="1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200" dirty="0">
                <a:solidFill>
                  <a:schemeClr val="tx1"/>
                </a:solidFill>
              </a:rPr>
              <a:t>Example:</a:t>
            </a:r>
          </a:p>
          <a:p>
            <a:pPr marL="1085850" lvl="2" indent="-285750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1800" dirty="0">
                <a:solidFill>
                  <a:schemeClr val="tx1"/>
                </a:solidFill>
              </a:rPr>
              <a:t>Let MAC be any secure MAC scheme</a:t>
            </a:r>
          </a:p>
          <a:p>
            <a:pPr marL="1085850" lvl="2" indent="-285750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1800" dirty="0">
                <a:solidFill>
                  <a:schemeClr val="tx1"/>
                </a:solidFill>
              </a:rPr>
              <a:t>Let </a:t>
            </a:r>
            <a:r>
              <a:rPr lang="en-US" altLang="en-US" sz="2000" dirty="0" err="1">
                <a:solidFill>
                  <a:schemeClr val="tx1"/>
                </a:solidFill>
              </a:rPr>
              <a:t>MAC’</a:t>
            </a:r>
            <a:r>
              <a:rPr lang="en-US" altLang="en-US" sz="2000" baseline="-25000" dirty="0" err="1">
                <a:solidFill>
                  <a:schemeClr val="tx1"/>
                </a:solidFill>
              </a:rPr>
              <a:t>k</a:t>
            </a:r>
            <a:r>
              <a:rPr lang="en-US" altLang="en-US" sz="2000" baseline="-25000" dirty="0">
                <a:solidFill>
                  <a:schemeClr val="tx1"/>
                </a:solidFill>
              </a:rPr>
              <a:t>’</a:t>
            </a:r>
            <a:r>
              <a:rPr lang="en-US" altLang="en-US" sz="2000" dirty="0">
                <a:solidFill>
                  <a:schemeClr val="tx1"/>
                </a:solidFill>
              </a:rPr>
              <a:t>(m)=</a:t>
            </a:r>
            <a:r>
              <a:rPr lang="en-US" altLang="en-US" sz="2000" dirty="0" err="1">
                <a:solidFill>
                  <a:schemeClr val="tx1"/>
                </a:solidFill>
              </a:rPr>
              <a:t>MAC</a:t>
            </a:r>
            <a:r>
              <a:rPr lang="en-US" altLang="en-US" sz="2000" baseline="-25000" dirty="0" err="1">
                <a:solidFill>
                  <a:schemeClr val="tx1"/>
                </a:solidFill>
              </a:rPr>
              <a:t>k</a:t>
            </a:r>
            <a:r>
              <a:rPr lang="en-US" altLang="en-US" sz="2000" baseline="-25000" dirty="0">
                <a:solidFill>
                  <a:schemeClr val="tx1"/>
                </a:solidFill>
              </a:rPr>
              <a:t>’</a:t>
            </a:r>
            <a:r>
              <a:rPr lang="en-US" altLang="en-US" sz="2000" dirty="0">
                <a:solidFill>
                  <a:schemeClr val="tx1"/>
                </a:solidFill>
              </a:rPr>
              <a:t>(m)|| </a:t>
            </a:r>
            <a:r>
              <a:rPr lang="en-US" altLang="en-US" sz="2000" dirty="0" err="1">
                <a:solidFill>
                  <a:schemeClr val="tx1"/>
                </a:solidFill>
              </a:rPr>
              <a:t>lsb</a:t>
            </a:r>
            <a:r>
              <a:rPr lang="en-US" altLang="en-US" sz="2000" dirty="0">
                <a:solidFill>
                  <a:schemeClr val="tx1"/>
                </a:solidFill>
              </a:rPr>
              <a:t>(m)</a:t>
            </a:r>
          </a:p>
          <a:p>
            <a:pPr marL="1143000" lvl="2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000" dirty="0">
                <a:solidFill>
                  <a:schemeClr val="tx1"/>
                </a:solidFill>
              </a:rPr>
              <a:t>MAC’ is a secure MAC.</a:t>
            </a:r>
          </a:p>
          <a:p>
            <a:pPr marL="1143000" lvl="2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000" dirty="0">
                <a:solidFill>
                  <a:schemeClr val="tx1"/>
                </a:solidFill>
              </a:rPr>
              <a:t>But A&amp;E(m) leaks least significant bit of m (even if the encryption scheme is secure!!!).</a:t>
            </a:r>
          </a:p>
          <a:p>
            <a:pPr lvl="1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400" dirty="0">
                <a:solidFill>
                  <a:schemeClr val="tx1"/>
                </a:solidFill>
              </a:rPr>
              <a:t>Recall that the security guarantee of a MAC is about integrity (or preventing forgery)!</a:t>
            </a:r>
          </a:p>
          <a:p>
            <a:pPr marL="1143000" lvl="2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000" dirty="0">
                <a:solidFill>
                  <a:schemeClr val="tx1"/>
                </a:solidFill>
              </a:rPr>
              <a:t>It has nothing to do with confidentiality!</a:t>
            </a:r>
          </a:p>
          <a:p>
            <a:pPr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800" dirty="0">
                <a:solidFill>
                  <a:schemeClr val="tx1"/>
                </a:solidFill>
              </a:rPr>
              <a:t>What about </a:t>
            </a:r>
            <a:r>
              <a:rPr lang="en-US" altLang="en-US" sz="2800" dirty="0" err="1">
                <a:solidFill>
                  <a:schemeClr val="tx1"/>
                </a:solidFill>
              </a:rPr>
              <a:t>AtE</a:t>
            </a:r>
            <a:r>
              <a:rPr lang="en-US" altLang="en-US" sz="2800" dirty="0">
                <a:solidFill>
                  <a:schemeClr val="tx1"/>
                </a:solidFill>
              </a:rPr>
              <a:t>, </a:t>
            </a:r>
            <a:r>
              <a:rPr lang="en-US" altLang="en-US" sz="2800" dirty="0" err="1">
                <a:solidFill>
                  <a:schemeClr val="tx1"/>
                </a:solidFill>
              </a:rPr>
              <a:t>EtA</a:t>
            </a:r>
            <a:r>
              <a:rPr lang="en-US" altLang="en-US" sz="2800" dirty="0">
                <a:solidFill>
                  <a:schemeClr val="tx1"/>
                </a:solidFill>
              </a:rPr>
              <a:t> ? </a:t>
            </a:r>
          </a:p>
          <a:p>
            <a:pPr lvl="1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400" dirty="0" err="1">
                <a:solidFill>
                  <a:srgbClr val="C00000"/>
                </a:solidFill>
              </a:rPr>
              <a:t>AtE</a:t>
            </a:r>
            <a:r>
              <a:rPr lang="en-US" altLang="en-US" sz="2400" dirty="0">
                <a:solidFill>
                  <a:srgbClr val="C00000"/>
                </a:solidFill>
              </a:rPr>
              <a:t>: also may be vulnerable (not IND-CPA)!</a:t>
            </a:r>
          </a:p>
          <a:p>
            <a:pPr lvl="1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400" dirty="0" err="1">
                <a:solidFill>
                  <a:srgbClr val="00B050"/>
                </a:solidFill>
              </a:rPr>
              <a:t>EtA</a:t>
            </a:r>
            <a:r>
              <a:rPr lang="en-US" altLang="en-US" sz="2400" dirty="0">
                <a:solidFill>
                  <a:srgbClr val="00B050"/>
                </a:solidFill>
              </a:rPr>
              <a:t> is provably secure.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6A4C8C-1147-E14B-83BD-89F80E92B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21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06617554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9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9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89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89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89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89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89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89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89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89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89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89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89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89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89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89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89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89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67544" y="304800"/>
            <a:ext cx="8424936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3600" dirty="0"/>
              <a:t>Keys for MAC and Encryption?</a:t>
            </a:r>
            <a:endParaRPr lang="en-US" altLang="en-US" sz="35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918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235428" y="1175375"/>
                <a:ext cx="8680450" cy="4956175"/>
              </a:xfrm>
            </p:spPr>
            <p:txBody>
              <a:bodyPr/>
              <a:lstStyle/>
              <a:p>
                <a:pPr marL="608013" lvl="1" indent="-608013" eaLnBrk="1" hangingPunct="1">
                  <a:lnSpc>
                    <a:spcPct val="80000"/>
                  </a:lnSpc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1177925" algn="l"/>
                    <a:tab pos="2092325" algn="l"/>
                    <a:tab pos="3006725" algn="l"/>
                    <a:tab pos="3921125" algn="l"/>
                    <a:tab pos="4835525" algn="l"/>
                    <a:tab pos="5749925" algn="l"/>
                    <a:tab pos="6664325" algn="l"/>
                    <a:tab pos="7578725" algn="l"/>
                    <a:tab pos="8493125" algn="l"/>
                    <a:tab pos="9407525" algn="l"/>
                    <a:tab pos="10321925" algn="l"/>
                  </a:tabLst>
                </a:pPr>
                <a:r>
                  <a:rPr lang="en-US" altLang="en-US" sz="2800" dirty="0">
                    <a:solidFill>
                      <a:schemeClr val="tx1"/>
                    </a:solidFill>
                  </a:rPr>
                  <a:t>Key separation!</a:t>
                </a:r>
              </a:p>
              <a:p>
                <a:pPr marL="1065213" lvl="1" indent="-608013" eaLnBrk="1" hangingPunct="1">
                  <a:lnSpc>
                    <a:spcPct val="80000"/>
                  </a:lnSpc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1177925" algn="l"/>
                    <a:tab pos="2092325" algn="l"/>
                    <a:tab pos="3006725" algn="l"/>
                    <a:tab pos="3921125" algn="l"/>
                    <a:tab pos="4835525" algn="l"/>
                    <a:tab pos="5749925" algn="l"/>
                    <a:tab pos="6664325" algn="l"/>
                    <a:tab pos="7578725" algn="l"/>
                    <a:tab pos="8493125" algn="l"/>
                    <a:tab pos="9407525" algn="l"/>
                    <a:tab pos="10321925" algn="l"/>
                  </a:tabLst>
                </a:pPr>
                <a:r>
                  <a:rPr lang="en-US" altLang="en-US" sz="2400" dirty="0">
                    <a:solidFill>
                      <a:schemeClr val="tx1"/>
                    </a:solidFill>
                  </a:rPr>
                  <a:t>Use separate keys for Enc and MAC.</a:t>
                </a:r>
              </a:p>
              <a:p>
                <a:pPr marL="608013" indent="-608013" eaLnBrk="1" hangingPunct="1">
                  <a:lnSpc>
                    <a:spcPct val="80000"/>
                  </a:lnSpc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1177925" algn="l"/>
                    <a:tab pos="2092325" algn="l"/>
                    <a:tab pos="3006725" algn="l"/>
                    <a:tab pos="3921125" algn="l"/>
                    <a:tab pos="4835525" algn="l"/>
                    <a:tab pos="5749925" algn="l"/>
                    <a:tab pos="6664325" algn="l"/>
                    <a:tab pos="7578725" algn="l"/>
                    <a:tab pos="8493125" algn="l"/>
                    <a:tab pos="9407525" algn="l"/>
                    <a:tab pos="10321925" algn="l"/>
                  </a:tabLst>
                </a:pPr>
                <a:r>
                  <a:rPr lang="en-US" altLang="en-US" sz="2800" dirty="0">
                    <a:solidFill>
                      <a:schemeClr val="tx1"/>
                    </a:solidFill>
                  </a:rPr>
                  <a:t>What if we use </a:t>
                </a:r>
                <a:r>
                  <a:rPr lang="en-US" altLang="en-US" sz="2800" dirty="0">
                    <a:solidFill>
                      <a:schemeClr val="tx1"/>
                    </a:solidFill>
                    <a:sym typeface="Wingdings" panose="05000000000000000000" pitchFamily="2" charset="2"/>
                  </a:rPr>
                  <a:t>same key? Insecure!</a:t>
                </a:r>
              </a:p>
              <a:p>
                <a:pPr marL="284163" indent="-284163" eaLnBrk="1" hangingPunct="1">
                  <a:lnSpc>
                    <a:spcPct val="80000"/>
                  </a:lnSpc>
                  <a:spcBef>
                    <a:spcPts val="575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700" dirty="0"/>
                  <a:t>An example:</a:t>
                </a:r>
              </a:p>
              <a:p>
                <a:pPr marL="457200" lvl="1" indent="0" eaLnBrk="1" hangingPunct="1">
                  <a:lnSpc>
                    <a:spcPct val="80000"/>
                  </a:lnSpc>
                  <a:spcBef>
                    <a:spcPts val="575"/>
                  </a:spcBef>
                  <a:buClr>
                    <a:srgbClr val="3B812F"/>
                  </a:buClr>
                  <a:buSzPct val="60000"/>
                  <a:buNone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p>
                            <m:sSupPr>
                              <m:ctrlP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p>
                              <m: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p>
                              <m: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  <m:t>′′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altLang="en-US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altLang="en-US" sz="23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en-US" sz="23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  <m:sup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en-US" altLang="en-US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altLang="en-US" sz="2300" i="1"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en-US" altLang="en-US" sz="23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en-US" sz="2300" i="1">
                          <a:latin typeface="Cambria Math" panose="02040503050406030204" pitchFamily="18" charset="0"/>
                        </a:rPr>
                        <m:t>′′</m:t>
                      </m:r>
                    </m:oMath>
                    <m:oMath>
                      <m:sSub>
                        <m:sSubPr>
                          <m:ctrlPr>
                            <a:rPr lang="en-US" alt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sSup>
                            <m:sSupPr>
                              <m:ctrlP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p>
                              <m: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p>
                              <m: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  <m:t>′′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altLang="en-US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altLang="en-US" sz="23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sSup>
                            <m:sSupPr>
                              <m:ctrlP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p>
                              <m: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  <m:t>′′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altLang="en-US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altLang="en-US" sz="2300" i="1">
                          <a:latin typeface="Cambria Math" panose="02040503050406030204" pitchFamily="18" charset="0"/>
                        </a:rPr>
                        <m:t> ||</m:t>
                      </m:r>
                      <m:r>
                        <a:rPr lang="en-US" altLang="en-US" sz="23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en-US" sz="23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br>
                  <a:rPr lang="en-US" altLang="en-US" sz="2300" dirty="0"/>
                </a:br>
                <a:endParaRPr lang="en-US" altLang="en-US" sz="2300" dirty="0"/>
              </a:p>
              <a:p>
                <a:pPr marL="284163" indent="-284163" eaLnBrk="1" hangingPunct="1">
                  <a:lnSpc>
                    <a:spcPct val="80000"/>
                  </a:lnSpc>
                  <a:spcBef>
                    <a:spcPts val="575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700" dirty="0"/>
                  <a:t>So: should we use two independent keys? </a:t>
                </a:r>
              </a:p>
              <a:p>
                <a:pPr marL="741363" lvl="1" indent="-284163" eaLnBrk="1" hangingPunct="1">
                  <a:lnSpc>
                    <a:spcPct val="80000"/>
                  </a:lnSpc>
                  <a:spcBef>
                    <a:spcPts val="575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300" dirty="0"/>
                  <a:t>Overhead: key generation, transmission, storage</a:t>
                </a:r>
              </a:p>
              <a:p>
                <a:pPr marL="284163" indent="-284163" eaLnBrk="1" hangingPunct="1">
                  <a:lnSpc>
                    <a:spcPct val="80000"/>
                  </a:lnSpc>
                  <a:spcBef>
                    <a:spcPts val="575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700" dirty="0"/>
                  <a:t>Secure encryption + MAC using a single key? Use a PRF.</a:t>
                </a:r>
              </a:p>
              <a:p>
                <a:pPr marL="608013" indent="-608013" eaLnBrk="1" hangingPunct="1">
                  <a:lnSpc>
                    <a:spcPct val="80000"/>
                  </a:lnSpc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1177925" algn="l"/>
                    <a:tab pos="2092325" algn="l"/>
                    <a:tab pos="3006725" algn="l"/>
                    <a:tab pos="3921125" algn="l"/>
                    <a:tab pos="4835525" algn="l"/>
                    <a:tab pos="5749925" algn="l"/>
                    <a:tab pos="6664325" algn="l"/>
                    <a:tab pos="7578725" algn="l"/>
                    <a:tab pos="8493125" algn="l"/>
                    <a:tab pos="9407525" algn="l"/>
                    <a:tab pos="10321925" algn="l"/>
                  </a:tabLst>
                </a:pPr>
                <a:endParaRPr lang="en-US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891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235428" y="1175375"/>
                <a:ext cx="8680450" cy="4956175"/>
              </a:xfrm>
              <a:blipFill>
                <a:blip r:embed="rId3"/>
                <a:stretch>
                  <a:fillRect l="-438" t="-2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F34A3104-52B3-9D46-B229-DB9DC79AC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22</a:t>
            </a:fld>
            <a:endParaRPr lang="en-US" altLang="he-IL" sz="1800" dirty="0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C83A286-4218-F21F-4B11-D988F2964E20}"/>
              </a:ext>
            </a:extLst>
          </p:cNvPr>
          <p:cNvSpPr/>
          <p:nvPr/>
        </p:nvSpPr>
        <p:spPr bwMode="auto">
          <a:xfrm>
            <a:off x="863588" y="5430597"/>
            <a:ext cx="7632848" cy="504056"/>
          </a:xfrm>
          <a:prstGeom prst="roundRect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457200" lvl="1" indent="0" eaLnBrk="1" hangingPunct="1">
              <a:lnSpc>
                <a:spcPct val="80000"/>
              </a:lnSpc>
              <a:spcBef>
                <a:spcPts val="575"/>
              </a:spcBef>
              <a:buClr>
                <a:srgbClr val="3B812F"/>
              </a:buClr>
              <a:buSzPct val="60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kumimoji="0" lang="en-US" sz="1800" b="1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</a:rPr>
              <a:t>Solution: </a:t>
            </a:r>
            <a:r>
              <a:rPr lang="en-US" altLang="en-US" sz="2300" b="1" i="1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300" b="1" i="1" baseline="-25000" err="1">
                <a:latin typeface="Times New Roman" panose="02020603050405020304" pitchFamily="18" charset="0"/>
                <a:cs typeface="Times New Roman" panose="02020603050405020304" pitchFamily="18" charset="0"/>
              </a:rPr>
              <a:t>mac</a:t>
            </a:r>
            <a:r>
              <a:rPr lang="en-US" altLang="en-US" sz="23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:= </a:t>
            </a:r>
            <a:r>
              <a:rPr lang="en-US" altLang="en-US" sz="2300" b="1" i="1" err="1">
                <a:latin typeface="Times New Roman" panose="02020603050405020304" pitchFamily="18" charset="0"/>
                <a:cs typeface="Times New Roman" panose="02020603050405020304" pitchFamily="18" charset="0"/>
              </a:rPr>
              <a:t>PRF</a:t>
            </a:r>
            <a:r>
              <a:rPr lang="en-US" altLang="en-US" sz="2300" b="1" i="1" baseline="-2500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3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(`MAC’), </a:t>
            </a:r>
            <a:r>
              <a:rPr lang="en-US" altLang="en-US" sz="2300" b="1" i="1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300" b="1" i="1" baseline="-25000" err="1">
                <a:latin typeface="Times New Roman" panose="02020603050405020304" pitchFamily="18" charset="0"/>
                <a:cs typeface="Times New Roman" panose="02020603050405020304" pitchFamily="18" charset="0"/>
              </a:rPr>
              <a:t>enc</a:t>
            </a:r>
            <a:r>
              <a:rPr lang="en-US" altLang="en-US" sz="23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:= </a:t>
            </a:r>
            <a:r>
              <a:rPr lang="en-US" altLang="en-US" sz="2300" b="1" i="1" err="1">
                <a:latin typeface="Times New Roman" panose="02020603050405020304" pitchFamily="18" charset="0"/>
                <a:cs typeface="Times New Roman" panose="02020603050405020304" pitchFamily="18" charset="0"/>
              </a:rPr>
              <a:t>PRF</a:t>
            </a:r>
            <a:r>
              <a:rPr lang="en-US" altLang="en-US" sz="2300" b="1" i="1" baseline="-2500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3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(‘Encrypt’)</a:t>
            </a:r>
          </a:p>
          <a:p>
            <a:pPr marL="0" marR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Arial" pitchFamily="34" charset="0"/>
                <a:cs typeface="Arial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2770269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9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9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89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89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89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89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89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89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89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89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89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89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89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89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Covered Material From the Textbook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altLang="he-IL" sz="2600" dirty="0">
                <a:sym typeface="Wingdings" panose="05000000000000000000" pitchFamily="2" charset="2"/>
              </a:rPr>
              <a:t>Chapter 4</a:t>
            </a:r>
          </a:p>
          <a:p>
            <a:pPr lvl="1"/>
            <a:r>
              <a:rPr lang="en-US" altLang="he-IL" sz="2400" dirty="0">
                <a:sym typeface="Wingdings" panose="05000000000000000000" pitchFamily="2" charset="2"/>
              </a:rPr>
              <a:t>Sections 4.1, 4.2, 4.3, and 4.4 except sections 4.4.1 and 4.4.5.</a:t>
            </a:r>
          </a:p>
          <a:p>
            <a:pPr lvl="1"/>
            <a:r>
              <a:rPr lang="en-US" altLang="he-IL" sz="2400" dirty="0">
                <a:sym typeface="Wingdings" panose="05000000000000000000" pitchFamily="2" charset="2"/>
              </a:rPr>
              <a:t>Section 4.5.3 (only what we covered in class) except sections 4.5.3.4, 4.5.4, 4.5.5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F9D048-DF9C-5B47-A4EF-7C5EDDA5AA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75170" y="6242050"/>
            <a:ext cx="505279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5D150BCE-9D66-491A-A8B4-4A161955DEF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23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6381124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ext&#10;&#10;Description automatically generated">
            <a:extLst>
              <a:ext uri="{FF2B5EF4-FFF2-40B4-BE49-F238E27FC236}">
                <a16:creationId xmlns:a16="http://schemas.microsoft.com/office/drawing/2014/main" id="{A8C4CAAF-33E3-504B-B941-4FF43CEC46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135" y="2071095"/>
            <a:ext cx="7620000" cy="39497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2C0D077-621F-A84F-9559-72206C7D7669}"/>
              </a:ext>
            </a:extLst>
          </p:cNvPr>
          <p:cNvSpPr/>
          <p:nvPr/>
        </p:nvSpPr>
        <p:spPr>
          <a:xfrm>
            <a:off x="2626500" y="757535"/>
            <a:ext cx="389100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4122260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Garamond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8" charset="0"/>
          <a:buNone/>
          <a:tabLst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itchFamily="34" charset="0"/>
            <a:cs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8" charset="0"/>
          <a:buNone/>
          <a:tabLst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itchFamily="34" charset="0"/>
            <a:cs typeface="Arial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773</TotalTime>
  <Words>2470</Words>
  <Application>Microsoft Macintosh PowerPoint</Application>
  <PresentationFormat>On-screen Show (4:3)</PresentationFormat>
  <Paragraphs>356</Paragraphs>
  <Slides>24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4" baseType="lpstr">
      <vt:lpstr>American Typewriter</vt:lpstr>
      <vt:lpstr>Arial</vt:lpstr>
      <vt:lpstr>Avenir Book</vt:lpstr>
      <vt:lpstr>Cambria Math</vt:lpstr>
      <vt:lpstr>Comic Sans MS</vt:lpstr>
      <vt:lpstr>Garamond</vt:lpstr>
      <vt:lpstr>Symbol</vt:lpstr>
      <vt:lpstr>Times New Roman</vt:lpstr>
      <vt:lpstr>Wingdings</vt:lpstr>
      <vt:lpstr>Office Theme</vt:lpstr>
      <vt:lpstr>CSE 3400/CSE 5850 - Introduction to Cryptography &amp; Cybersecurity  / Introduction to Cybersecurity)  Lecture 5 Message Authentication Codes </vt:lpstr>
      <vt:lpstr>Outline</vt:lpstr>
      <vt:lpstr>Encryption Ensures Confidentiality </vt:lpstr>
      <vt:lpstr>Integrity and Authentication?</vt:lpstr>
      <vt:lpstr>Does Encryption Prevent Forgery?</vt:lpstr>
      <vt:lpstr>Message Authentication Codes (MACs)</vt:lpstr>
      <vt:lpstr>Message Authentication Codes (MACs)</vt:lpstr>
      <vt:lpstr>Defining MAC Security</vt:lpstr>
      <vt:lpstr>MAC Security Definition</vt:lpstr>
      <vt:lpstr>On the Use of MACs</vt:lpstr>
      <vt:lpstr>Constructing Secure MACs</vt:lpstr>
      <vt:lpstr>Theorem: Every PRF is also a MAC</vt:lpstr>
      <vt:lpstr>Using a Block Cipher for MAC</vt:lpstr>
      <vt:lpstr>Using a Block Cipher for MAC</vt:lpstr>
      <vt:lpstr>CBC-MAC</vt:lpstr>
      <vt:lpstr>CBC-MAC</vt:lpstr>
      <vt:lpstr>CBC-MAC-based VIL-MAC</vt:lpstr>
      <vt:lpstr>Examples of MAC Constructions</vt:lpstr>
      <vt:lpstr>Combining Authentication and Encryption</vt:lpstr>
      <vt:lpstr>Generic MAC and Encryption Combinations</vt:lpstr>
      <vt:lpstr>Security of Generic MAC/Enc Combinations</vt:lpstr>
      <vt:lpstr>Keys for MAC and Encryption?</vt:lpstr>
      <vt:lpstr>Covered Material From the Textbook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Cryptanalysis-tolerant Hashing and Commitment</dc:title>
  <dc:creator>Amir Herzberg</dc:creator>
  <cp:lastModifiedBy>Almashaqbeh, Ghada</cp:lastModifiedBy>
  <cp:revision>47</cp:revision>
  <cp:lastPrinted>2026-09-24T16:54:50Z</cp:lastPrinted>
  <dcterms:created xsi:type="dcterms:W3CDTF">2003-03-23T06:19:47Z</dcterms:created>
  <dcterms:modified xsi:type="dcterms:W3CDTF">2026-09-24T16:54:53Z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3</vt:i4>
  </property>
</Properties>
</file>