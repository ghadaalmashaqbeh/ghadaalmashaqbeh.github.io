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sldIdLst>
    <p:sldId id="1009" r:id="rId2"/>
    <p:sldId id="591" r:id="rId3"/>
    <p:sldId id="520" r:id="rId4"/>
    <p:sldId id="1014" r:id="rId5"/>
    <p:sldId id="518" r:id="rId6"/>
    <p:sldId id="525" r:id="rId7"/>
    <p:sldId id="533" r:id="rId8"/>
    <p:sldId id="1019" r:id="rId9"/>
    <p:sldId id="1015" r:id="rId10"/>
    <p:sldId id="1016" r:id="rId11"/>
    <p:sldId id="529" r:id="rId12"/>
    <p:sldId id="373" r:id="rId13"/>
    <p:sldId id="374" r:id="rId14"/>
    <p:sldId id="295" r:id="rId15"/>
    <p:sldId id="379" r:id="rId16"/>
    <p:sldId id="601" r:id="rId17"/>
    <p:sldId id="592" r:id="rId18"/>
  </p:sldIdLst>
  <p:sldSz cx="9144000" cy="6858000" type="screen4x3"/>
  <p:notesSz cx="6778625" cy="9478963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43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A24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6D627-E8A7-4272-9E6D-34852A04B03A}" v="3450" dt="2020-10-27T21:20:06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072" y="184"/>
      </p:cViewPr>
      <p:guideLst>
        <p:guide orient="horz" pos="34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1"/>
          <p:cNvSpPr>
            <a:spLocks noChangeArrowheads="1"/>
          </p:cNvSpPr>
          <p:nvPr/>
        </p:nvSpPr>
        <p:spPr bwMode="auto">
          <a:xfrm>
            <a:off x="0" y="0"/>
            <a:ext cx="6778625" cy="947896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0163" y="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en-US"/>
              <a:t>11/13/11</a:t>
            </a:r>
          </a:p>
        </p:txBody>
      </p:sp>
      <p:sp>
        <p:nvSpPr>
          <p:cNvPr id="7373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20763" y="711200"/>
            <a:ext cx="4735512" cy="35512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7863" y="4500563"/>
            <a:ext cx="5421312" cy="426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00430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0163" y="900430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077B0F5D-97A0-433E-874F-EB5F4B0DB2F3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0116542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7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lecture</a:t>
            </a:r>
            <a:r>
              <a:rPr lang="en-US" baseline="0"/>
              <a:t> we focus on shared-key protocols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11/13/11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77B0F5D-97A0-433E-874F-EB5F4B0DB2F3}" type="slidenum">
              <a:rPr lang="he-IL" altLang="he-IL" smtClean="0"/>
              <a:pPr/>
              <a:t>3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6341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5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37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3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EF4B787C-CA89-4003-A17F-6A076C4DB8F9}" type="datetime1">
              <a:rPr lang="en-US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10/8/26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3" name="Footer Placeholder 6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</a:p>
        </p:txBody>
      </p:sp>
      <p:sp>
        <p:nvSpPr>
          <p:cNvPr id="76804" name="Slide Number Placeholder 7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4FC7A3BC-2E6D-4B3F-A72D-80A58E30AB5D}" type="slidenum">
              <a:rPr lang="he-IL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12</a:t>
            </a:fld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6805" name="Text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CCA3B8E3-1061-4ABE-B45D-45951BD7D1CF}" type="slidenum">
              <a:rPr lang="he-IL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12</a:t>
            </a:fld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6806" name="Text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</a:p>
        </p:txBody>
      </p:sp>
      <p:sp>
        <p:nvSpPr>
          <p:cNvPr id="76807" name="Text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6808" name="Text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6D4D17B6-EEAA-480E-B83D-50067B896462}" type="datetime1">
              <a:rPr lang="en-US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10/8/26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9" name="Slide Image Placeholder 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solidFill>
            <a:srgbClr val="4F81BD"/>
          </a:solidFill>
          <a:ln w="25402">
            <a:solidFill>
              <a:srgbClr val="385D8A"/>
            </a:solidFill>
          </a:ln>
        </p:spPr>
      </p:sp>
      <p:sp>
        <p:nvSpPr>
          <p:cNvPr id="76810" name="Notes Placeholder 6"/>
          <p:cNvSpPr>
            <a:spLocks noGrp="1"/>
          </p:cNvSpPr>
          <p:nvPr>
            <p:ph type="body" sz="quarter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704442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3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98E11CD1-FF0A-4F6A-A9B9-4EF66442167D}" type="datetime1">
              <a:rPr lang="en-US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10/8/26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7" name="Footer Placeholder 6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</a:p>
        </p:txBody>
      </p:sp>
      <p:sp>
        <p:nvSpPr>
          <p:cNvPr id="77828" name="Slide Number Placeholder 7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8CCDEC6B-234E-4AE1-AF5C-50D30A74E14C}" type="slidenum">
              <a:rPr lang="he-IL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13</a:t>
            </a:fld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7829" name="Text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09E602DA-2917-4B92-917C-1489768A6CC1}" type="slidenum">
              <a:rPr lang="he-IL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13</a:t>
            </a:fld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7830" name="Text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 anchor="b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</a:p>
        </p:txBody>
      </p:sp>
      <p:sp>
        <p:nvSpPr>
          <p:cNvPr id="77831" name="Text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endParaRPr lang="he-IL" altLang="en-US">
              <a:latin typeface="Arial" panose="020B0604020202020204" pitchFamily="34" charset="0"/>
            </a:endParaRPr>
          </a:p>
        </p:txBody>
      </p:sp>
      <p:sp>
        <p:nvSpPr>
          <p:cNvPr id="77832" name="Text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>
            <a:spAutoFit/>
          </a:bodyPr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 eaLnBrk="1" hangingPunct="1">
              <a:spcBef>
                <a:spcPct val="0"/>
              </a:spcBef>
            </a:pPr>
            <a:fld id="{EF2F7EB4-BC2E-4649-B34C-932D3DAC4B6A}" type="datetime1">
              <a:rPr lang="en-US" altLang="en-US">
                <a:latin typeface="Arial" panose="020B0604020202020204" pitchFamily="34" charset="0"/>
              </a:rPr>
              <a:pPr algn="r" defTabSz="914400" eaLnBrk="1" hangingPunct="1">
                <a:spcBef>
                  <a:spcPct val="0"/>
                </a:spcBef>
              </a:pPr>
              <a:t>10/8/26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33" name="Slide Image Placeholder 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solidFill>
            <a:srgbClr val="4F81BD"/>
          </a:solidFill>
          <a:ln w="25402">
            <a:solidFill>
              <a:srgbClr val="385D8A"/>
            </a:solidFill>
          </a:ln>
        </p:spPr>
      </p:sp>
      <p:sp>
        <p:nvSpPr>
          <p:cNvPr id="77834" name="Notes Placeholder 6"/>
          <p:cNvSpPr>
            <a:spLocks noGrp="1"/>
          </p:cNvSpPr>
          <p:nvPr>
            <p:ph type="body" sz="quarter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2" tIns="47521" rIns="95042" bIns="47521">
            <a:spAutoFit/>
          </a:bodyPr>
          <a:lstStyle/>
          <a:p>
            <a:r>
              <a:rPr lang="en-US" altLang="en-US"/>
              <a:t>Exercise: fix the protocol (and attack fixes). E.g. why won’t it help if bob sends E_k(N_B) and wait for N_B (instead of sending N_B and waiting for E_k(N_B) ?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59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752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752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3996B7-DCFE-4AAC-A6A5-E0982ED8AF54}" type="slidenum">
              <a:rPr lang="he-IL" altLang="en-US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0752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1D44384-D42E-4CA9-854E-4B28FAC9F498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752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487692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080857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16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06358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4BCF4-ACCB-42FE-9068-25DD7B32E94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3670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993E36-D7DC-4EAE-97D5-8D0CD735E1A1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6518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F688C0-775F-4727-BDC6-365C769846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9950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5E57B-8864-4F68-9F00-092100761D84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250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B7F25-5BB5-4D84-A713-C6B8AF56BF50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3842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C0CD59-7922-40CE-A470-B7D573D589C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03669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363CA-987E-4BCA-88A5-ED014D857E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92001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F9E2F-8C49-4D69-B565-53926EE196F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8261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B4984E-2D6C-45C7-B7A6-054D37A7CACA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1905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3F64D2-7030-40C4-8513-3AC3DD7763BD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4492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492BA-B527-4592-AF54-CA5EB233B8E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6618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38E50F55-35D0-4DBE-BE4F-AE49F1F9CF65}" type="slidenum">
              <a:rPr lang="en-US" altLang="he-IL"/>
              <a:pPr/>
              <a:t>‹#›</a:t>
            </a:fld>
            <a:endParaRPr lang="en-US" altLang="he-IL"/>
          </a:p>
        </p:txBody>
      </p:sp>
      <p:sp>
        <p:nvSpPr>
          <p:cNvPr id="1031" name="Freeform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457200" indent="-457200" algn="l" defTabSz="457200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defTabSz="457200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600">
          <a:solidFill>
            <a:srgbClr val="000000"/>
          </a:solidFill>
          <a:latin typeface="+mn-lt"/>
          <a:cs typeface="+mn-cs"/>
        </a:defRPr>
      </a:lvl2pPr>
      <a:lvl3pPr marL="1257300" indent="-342900" algn="l" defTabSz="457200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200">
          <a:solidFill>
            <a:srgbClr val="000000"/>
          </a:solidFill>
          <a:latin typeface="+mn-lt"/>
          <a:cs typeface="+mn-cs"/>
        </a:defRPr>
      </a:lvl3pPr>
      <a:lvl4pPr marL="17145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4pPr>
      <a:lvl5pPr marL="21717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3254375"/>
          </a:xfrm>
        </p:spPr>
        <p:txBody>
          <a:bodyPr/>
          <a:lstStyle/>
          <a:p>
            <a:pPr algn="ctr"/>
            <a:r>
              <a:rPr lang="en-US" altLang="en-US" sz="2800" dirty="0"/>
              <a:t>CSE 3400/5850 - Introduction to Cryptography and Cybersecurity </a:t>
            </a:r>
            <a:br>
              <a:rPr lang="en-US" altLang="en-US" sz="2800" dirty="0"/>
            </a:br>
            <a:r>
              <a:rPr lang="en-US" altLang="en-US" sz="2800" dirty="0"/>
              <a:t>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8</a:t>
            </a:r>
            <a:br>
              <a:rPr lang="en-US" altLang="en-US" sz="4000" dirty="0"/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Shared Key Protocols – Part 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940175"/>
            <a:ext cx="9144000" cy="6000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91794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Cryptography protocols.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Session or record protocols.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Entity authentication protocols.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1474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Cryptographic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38" y="939006"/>
            <a:ext cx="8228013" cy="4979988"/>
          </a:xfrm>
        </p:spPr>
        <p:txBody>
          <a:bodyPr/>
          <a:lstStyle/>
          <a:p>
            <a:r>
              <a:rPr lang="en-US" sz="2400" dirty="0"/>
              <a:t>A protocol is a set of PPT (efficient) functions or algorithms</a:t>
            </a:r>
          </a:p>
          <a:p>
            <a:pPr lvl="1"/>
            <a:r>
              <a:rPr lang="en-US" sz="2000" dirty="0"/>
              <a:t>That receive inputs and produce outputs based on the function definition (or algorithm workflow/behavior).</a:t>
            </a:r>
          </a:p>
          <a:p>
            <a:pPr lvl="2"/>
            <a:r>
              <a:rPr lang="en-US" sz="2000" dirty="0"/>
              <a:t>Stateful protocols have the current state as additional input, and the updated state as an additional output</a:t>
            </a:r>
          </a:p>
          <a:p>
            <a:pPr lvl="1"/>
            <a:r>
              <a:rPr lang="en-US" sz="2000" dirty="0"/>
              <a:t>They involve two (or more) parties (each has its own state)</a:t>
            </a:r>
          </a:p>
          <a:p>
            <a:r>
              <a:rPr lang="en-US" sz="2400" dirty="0"/>
              <a:t>Including </a:t>
            </a:r>
            <a:r>
              <a:rPr lang="en-US" sz="2400" i="1" dirty="0"/>
              <a:t>Init (short for initialize)</a:t>
            </a:r>
            <a:endParaRPr lang="en-US" sz="2400" dirty="0"/>
          </a:p>
          <a:p>
            <a:pPr lvl="1"/>
            <a:r>
              <a:rPr lang="en-US" sz="2000" dirty="0"/>
              <a:t>Set the initial state of a party (i.e., the setup).</a:t>
            </a:r>
          </a:p>
          <a:p>
            <a:r>
              <a:rPr lang="en-US" sz="2400" dirty="0"/>
              <a:t>The execution process is a series of function invocations based on which the protocol proceeds.</a:t>
            </a:r>
            <a:endParaRPr lang="en-US" sz="2000" dirty="0"/>
          </a:p>
          <a:p>
            <a:r>
              <a:rPr lang="en-US" sz="2400" dirty="0">
                <a:sym typeface="Wingdings" panose="05000000000000000000" pitchFamily="2" charset="2"/>
              </a:rPr>
              <a:t>In this chapter, we focus on shared-key, two-party protocols, with MitM (man in the middle) adversary.</a:t>
            </a:r>
            <a:endParaRPr lang="en-US" sz="2000" dirty="0">
              <a:sym typeface="Wingdings" panose="05000000000000000000" pitchFamily="2" charset="2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7D10DB-2CDB-CB4C-921E-DA8001087075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33529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2888569"/>
          </a:xfrm>
        </p:spPr>
        <p:txBody>
          <a:bodyPr/>
          <a:lstStyle/>
          <a:p>
            <a:pPr algn="ctr"/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Record Protocols</a:t>
            </a: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3000" i="1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Secure communication between two parties using shared keys (so we assume the parties are already initialized with the shared key).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30594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Two-party, shared-key </a:t>
            </a:r>
            <a:r>
              <a:rPr lang="en-US" sz="3600" b="1" dirty="0"/>
              <a:t>Record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68" y="987114"/>
                <a:ext cx="8228013" cy="4979988"/>
              </a:xfrm>
            </p:spPr>
            <p:txBody>
              <a:bodyPr/>
              <a:lstStyle/>
              <a:p>
                <a:r>
                  <a:rPr lang="en-US" sz="2800" dirty="0"/>
                  <a:t>Parties/peers: </a:t>
                </a:r>
                <a:r>
                  <a:rPr lang="en-US" sz="2800" i="1" dirty="0"/>
                  <a:t>Alice </a:t>
                </a:r>
                <a:r>
                  <a:rPr lang="en-US" sz="2800" dirty="0"/>
                  <a:t>(sender), </a:t>
                </a:r>
                <a:r>
                  <a:rPr lang="en-US" sz="2800" i="1" dirty="0"/>
                  <a:t>Bob </a:t>
                </a:r>
                <a:r>
                  <a:rPr lang="en-US" sz="2800" dirty="0"/>
                  <a:t>(receiver)</a:t>
                </a:r>
              </a:p>
              <a:p>
                <a:pPr lvl="1"/>
                <a:r>
                  <a:rPr lang="en-US" sz="1800" dirty="0"/>
                  <a:t>Simplest – yet applied – protocol</a:t>
                </a:r>
              </a:p>
              <a:p>
                <a:pPr lvl="1"/>
                <a:r>
                  <a:rPr lang="en-US" sz="1800" dirty="0"/>
                  <a:t>In its simplest version: only-authentication for what Alice sends to Bob</a:t>
                </a:r>
              </a:p>
              <a:p>
                <a:pPr lvl="2"/>
                <a:r>
                  <a:rPr lang="en-US" sz="1800" dirty="0"/>
                  <a:t>Goal: Bob outputs </a:t>
                </a:r>
                <a:r>
                  <a:rPr lang="en-US" sz="1800" i="1" dirty="0"/>
                  <a:t>m</a:t>
                </a:r>
                <a:r>
                  <a:rPr lang="en-US" sz="1800" i="1" baseline="-25000" dirty="0"/>
                  <a:t> </a:t>
                </a:r>
                <a:r>
                  <a:rPr lang="en-US" sz="1800" dirty="0"/>
                  <a:t>only if Alice had </a:t>
                </a:r>
                <a:r>
                  <a:rPr lang="en-US" sz="1800" i="1" dirty="0"/>
                  <a:t>Send(m)</a:t>
                </a:r>
                <a:r>
                  <a:rPr lang="en-US" sz="1800" dirty="0"/>
                  <a:t> </a:t>
                </a:r>
                <a:br>
                  <a:rPr lang="en-US" sz="2400" dirty="0"/>
                </a:br>
                <a:endParaRPr lang="en-US" sz="2400" dirty="0"/>
              </a:p>
              <a:p>
                <a:r>
                  <a:rPr lang="en-US" sz="2800" dirty="0"/>
                  <a:t>Let’s design the protocol! </a:t>
                </a:r>
                <a:r>
                  <a:rPr lang="en-US" dirty="0"/>
                  <a:t>define the protocol 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 </a:t>
                </a:r>
                <a:r>
                  <a:rPr lang="en-US" dirty="0"/>
                  <a:t>[Initialize Alice/Bob with secret key </a:t>
                </a:r>
                <a:r>
                  <a:rPr lang="en-US" i="1" dirty="0"/>
                  <a:t>k</a:t>
                </a:r>
                <a:r>
                  <a:rPr lang="en-US" dirty="0"/>
                  <a:t>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𝑆𝑒𝑛𝑑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Alice sends message </a:t>
                </a:r>
                <a:r>
                  <a:rPr lang="en-US" i="1" dirty="0"/>
                  <a:t>m and </a:t>
                </a:r>
                <a:r>
                  <a:rPr lang="en-US" dirty="0"/>
                  <a:t>a tag over</a:t>
                </a:r>
                <a:r>
                  <a:rPr lang="en-US" i="1" dirty="0"/>
                  <a:t> m </a:t>
                </a:r>
                <a:r>
                  <a:rPr lang="en-US" dirty="0"/>
                  <a:t>(to Bob)</a:t>
                </a:r>
              </a:p>
              <a:p>
                <a:pPr lvl="1"/>
                <a:r>
                  <a:rPr lang="en-US" i="1" dirty="0"/>
                  <a:t>Receive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Bob receives (</a:t>
                </a:r>
                <a:r>
                  <a:rPr lang="en-US" i="1" dirty="0"/>
                  <a:t>m, tag) and accepts m </a:t>
                </a:r>
                <a:r>
                  <a:rPr lang="en-US" dirty="0"/>
                  <a:t>is the</a:t>
                </a:r>
                <a:r>
                  <a:rPr lang="en-US" i="1" dirty="0"/>
                  <a:t> tag </a:t>
                </a:r>
                <a:r>
                  <a:rPr lang="en-US" dirty="0"/>
                  <a:t>is valid.</a:t>
                </a:r>
                <a:endParaRPr lang="en-US" sz="2800" dirty="0"/>
              </a:p>
              <a:p>
                <a:endParaRPr lang="en-US" sz="2800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8" y="987114"/>
                <a:ext cx="8228013" cy="4979988"/>
              </a:xfrm>
              <a:blipFill>
                <a:blip r:embed="rId2"/>
                <a:stretch>
                  <a:fillRect l="-1387" t="-1272" r="-1233" b="-8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F5381A-538E-414F-B083-128A399B91CD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60998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Two-party, shared-key </a:t>
            </a:r>
            <a:r>
              <a:rPr lang="en-US" sz="3600" b="1" dirty="0"/>
              <a:t>Record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68" y="987114"/>
            <a:ext cx="8228013" cy="4979988"/>
          </a:xfrm>
        </p:spPr>
        <p:txBody>
          <a:bodyPr/>
          <a:lstStyle/>
          <a:p>
            <a:r>
              <a:rPr lang="en-US" sz="2800" dirty="0"/>
              <a:t>The prior design has many simplifications, easily avoided: </a:t>
            </a:r>
          </a:p>
          <a:p>
            <a:pPr lvl="1"/>
            <a:r>
              <a:rPr lang="en-US" sz="2400" dirty="0"/>
              <a:t>Covers only message authentication </a:t>
            </a:r>
          </a:p>
          <a:p>
            <a:pPr lvl="2"/>
            <a:r>
              <a:rPr lang="en-US" sz="2000" dirty="0"/>
              <a:t>No confidentiality!</a:t>
            </a:r>
          </a:p>
          <a:p>
            <a:pPr lvl="2"/>
            <a:r>
              <a:rPr lang="en-US" sz="2000" dirty="0"/>
              <a:t>Does not address duplication, out-of-order, `stale’ messages, losses</a:t>
            </a:r>
          </a:p>
          <a:p>
            <a:r>
              <a:rPr lang="en-US" sz="2800" dirty="0"/>
              <a:t>To add confidentiality: Use encryption</a:t>
            </a:r>
          </a:p>
          <a:p>
            <a:pPr lvl="1"/>
            <a:r>
              <a:rPr lang="en-US" sz="2400" dirty="0"/>
              <a:t>Namely, employ </a:t>
            </a:r>
            <a:r>
              <a:rPr lang="en-US" sz="2400" dirty="0" err="1"/>
              <a:t>EtA</a:t>
            </a:r>
            <a:r>
              <a:rPr lang="en-US" sz="2400" dirty="0"/>
              <a:t> (encrypt then authenticate).</a:t>
            </a:r>
          </a:p>
          <a:p>
            <a:endParaRPr lang="en-US" sz="2800" i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BDB1F91-A715-AE4D-96CA-123E557D6749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306849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Two-party record protocol with Confidentiality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68" y="987114"/>
                <a:ext cx="8228013" cy="4979988"/>
              </a:xfrm>
            </p:spPr>
            <p:txBody>
              <a:bodyPr/>
              <a:lstStyle/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 </a:t>
                </a:r>
                <a:r>
                  <a:rPr lang="en-US" dirty="0"/>
                  <a:t>[Initialize Alice/Bob with secret key </a:t>
                </a:r>
                <a:r>
                  <a:rPr lang="en-US" i="1" dirty="0"/>
                  <a:t>k</a:t>
                </a:r>
                <a:r>
                  <a:rPr lang="en-US" dirty="0"/>
                  <a:t>]</a:t>
                </a:r>
              </a:p>
              <a:p>
                <a:pPr lvl="2"/>
                <a:r>
                  <a:rPr lang="en-US" dirty="0"/>
                  <a:t>Generate keys for encryption and MAC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`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`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`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`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𝑆𝑒𝑛𝑑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Alice sends message </a:t>
                </a:r>
                <a:r>
                  <a:rPr lang="en-US" i="1" dirty="0"/>
                  <a:t>m </a:t>
                </a:r>
                <a:r>
                  <a:rPr lang="en-US" dirty="0"/>
                  <a:t>(to Bob)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𝑂𝑢𝑡𝑝𝑢𝑡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sub>
                        </m:sSub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𝑀𝐴𝐶</m:t>
                        </m:r>
                      </m:e>
                      <m: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sub>
                        </m:sSub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))) ; 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𝑅𝑒𝑐𝑒𝑖𝑣𝑒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Bob receives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the network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𝑂𝑢𝑡𝑝𝑢𝑡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sub>
                        </m:sSub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𝑡𝑎𝑔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𝑀𝐴𝐶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 ;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8" y="987114"/>
                <a:ext cx="8228013" cy="4979988"/>
              </a:xfrm>
              <a:blipFill>
                <a:blip r:embed="rId2"/>
                <a:stretch>
                  <a:fillRect t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0E56BBE-3B3C-A648-B835-7E63D8DC80EE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18343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So, security guarantees 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885"/>
            <a:ext cx="8228013" cy="1362975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What does a secure shared-key two-party record protocol mean? Ensure integrity 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How about the security of the one with confidentially? Ensure integrity and 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145232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2888569"/>
          </a:xfrm>
        </p:spPr>
        <p:txBody>
          <a:bodyPr/>
          <a:lstStyle/>
          <a:p>
            <a:pPr algn="ctr"/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Shared-key Entity Authentication Protocols</a:t>
            </a: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3000" i="1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Ensure the identity of an entity (or a peer) involved in communication.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286400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Mutual Authentication Protocols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68" y="987114"/>
            <a:ext cx="8228013" cy="4979988"/>
          </a:xfrm>
        </p:spPr>
        <p:txBody>
          <a:bodyPr/>
          <a:lstStyle/>
          <a:p>
            <a:r>
              <a:rPr lang="en-US" sz="2800" dirty="0"/>
              <a:t>In mutual authentication, each party authenticates herself to the other.</a:t>
            </a:r>
          </a:p>
          <a:p>
            <a:pPr lvl="1"/>
            <a:r>
              <a:rPr lang="en-US" sz="2400" dirty="0"/>
              <a:t>Alice knows that she is communicating with Bob, and vice versa</a:t>
            </a:r>
          </a:p>
          <a:p>
            <a:r>
              <a:rPr lang="en-US" sz="2800" dirty="0"/>
              <a:t>This requires, at least, one exchange of messages.</a:t>
            </a:r>
          </a:p>
          <a:p>
            <a:pPr lvl="1"/>
            <a:r>
              <a:rPr lang="en-US" sz="2400" dirty="0"/>
              <a:t>A message from Alice and a response from Bob (or vice versa).</a:t>
            </a:r>
          </a:p>
          <a:p>
            <a:r>
              <a:rPr lang="en-US" sz="2800" dirty="0"/>
              <a:t>Such a flow is called a </a:t>
            </a:r>
            <a:r>
              <a:rPr lang="en-US" sz="2800" b="1" i="1" dirty="0"/>
              <a:t>handshake</a:t>
            </a:r>
            <a:r>
              <a:rPr lang="en-US" sz="2800" dirty="0"/>
              <a:t>.</a:t>
            </a:r>
          </a:p>
          <a:p>
            <a:pPr lvl="1"/>
            <a:endParaRPr lang="en-US" sz="2400" dirty="0"/>
          </a:p>
          <a:p>
            <a:endParaRPr lang="en-US" sz="2800" i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BDB1F91-A715-AE4D-96CA-123E557D6749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80413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Handshake Entity Authentication Protocol</a:t>
            </a:r>
            <a:endParaRPr lang="en-US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68" y="987114"/>
                <a:ext cx="8331994" cy="4979988"/>
              </a:xfrm>
            </p:spPr>
            <p:txBody>
              <a:bodyPr/>
              <a:lstStyle/>
              <a:p>
                <a:r>
                  <a:rPr lang="en-US" sz="2800" dirty="0"/>
                  <a:t>A protocol to open communication </a:t>
                </a:r>
                <a:r>
                  <a:rPr lang="en-US" sz="2800" b="1" dirty="0"/>
                  <a:t>sessions </a:t>
                </a:r>
                <a:r>
                  <a:rPr lang="en-US" sz="2800" dirty="0"/>
                  <a:t>between parties</a:t>
                </a:r>
              </a:p>
              <a:p>
                <a:r>
                  <a:rPr lang="en-US" sz="2800" dirty="0"/>
                  <a:t>Protocol 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𝐼𝑛𝑖𝑡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/>
                  <a:t>Initialize Alice/Bob with secret key </a:t>
                </a:r>
                <a:r>
                  <a:rPr lang="en-US" sz="2400" i="1" dirty="0"/>
                  <a:t>k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𝑂𝑝𝑒𝑛</m:t>
                    </m:r>
                  </m:oMath>
                </a14:m>
                <a:r>
                  <a:rPr lang="en-US" sz="2400" i="1" dirty="0"/>
                  <a:t>: </a:t>
                </a:r>
                <a:r>
                  <a:rPr lang="en-US" sz="2400" dirty="0"/>
                  <a:t>Alice/Bob open a session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𝑆𝑒𝑛𝑑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: party sends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to peer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𝑅𝑒𝑐𝑒𝑖𝑣𝑒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: party receives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from the network channel</a:t>
                </a:r>
                <a:endParaRPr lang="en-US" sz="2400" i="1" dirty="0"/>
              </a:p>
              <a:p>
                <a:r>
                  <a:rPr lang="en-US" sz="2400" dirty="0"/>
                  <a:t>Protocol outputs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𝑂𝑝𝑒𝑛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: </a:t>
                </a:r>
                <a:r>
                  <a:rPr lang="en-US" sz="2400" dirty="0"/>
                  <a:t>party opened session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(and received messages that were sent).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8" y="987114"/>
                <a:ext cx="8331994" cy="4979988"/>
              </a:xfrm>
              <a:blipFill>
                <a:blip r:embed="rId2"/>
                <a:stretch>
                  <a:fillRect l="-1370" t="-1272" b="-4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EF5B66A-4877-134E-A706-43B538E87551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37141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3"/>
          <p:cNvSpPr txBox="1">
            <a:spLocks noChangeArrowheads="1"/>
          </p:cNvSpPr>
          <p:nvPr/>
        </p:nvSpPr>
        <p:spPr bwMode="auto">
          <a:xfrm>
            <a:off x="8212346" y="6243638"/>
            <a:ext cx="4744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b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fld id="{D9B56600-E791-4CDB-ACCB-7933A7945627}" type="slidenum">
              <a:rPr lang="en-US" altLang="en-US" sz="1800"/>
              <a:pPr defTabSz="914400" eaLnBrk="1" hangingPunct="1">
                <a:spcBef>
                  <a:spcPct val="0"/>
                </a:spcBef>
              </a:pPr>
              <a:t>12</a:t>
            </a:fld>
            <a:endParaRPr lang="en-US" altLang="en-US" sz="1800" dirty="0"/>
          </a:p>
        </p:txBody>
      </p:sp>
      <p:sp>
        <p:nvSpPr>
          <p:cNvPr id="18437" name="Title 1"/>
          <p:cNvSpPr>
            <a:spLocks noGrp="1"/>
          </p:cNvSpPr>
          <p:nvPr>
            <p:ph type="title" idx="4294967295"/>
          </p:nvPr>
        </p:nvSpPr>
        <p:spPr>
          <a:xfrm>
            <a:off x="457200" y="188640"/>
            <a:ext cx="8153400" cy="67929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800" dirty="0"/>
              <a:t>Example : IBM’s SNA Handshake</a:t>
            </a:r>
          </a:p>
        </p:txBody>
      </p:sp>
      <p:sp>
        <p:nvSpPr>
          <p:cNvPr id="18438" name="Text Placeholder 2"/>
          <p:cNvSpPr>
            <a:spLocks noGrp="1"/>
          </p:cNvSpPr>
          <p:nvPr>
            <p:ph type="body" idx="4294967295"/>
          </p:nvPr>
        </p:nvSpPr>
        <p:spPr>
          <a:xfrm>
            <a:off x="559890" y="900362"/>
            <a:ext cx="8260581" cy="1028103"/>
          </a:xfr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altLang="en-US" dirty="0"/>
              <a:t>First dominant networking technology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dirty="0"/>
              <a:t>Handshake uses encryption with shared key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" name="Straight Connector 3"/>
          <p:cNvSpPr>
            <a:spLocks/>
          </p:cNvSpPr>
          <p:nvPr/>
        </p:nvSpPr>
        <p:spPr bwMode="auto">
          <a:xfrm>
            <a:off x="1630660" y="2547587"/>
            <a:ext cx="5760566" cy="45719"/>
          </a:xfrm>
          <a:custGeom>
            <a:avLst/>
            <a:gdLst>
              <a:gd name="T0" fmla="*/ 3946600 w 7893000"/>
              <a:gd name="T1" fmla="*/ 7893200 w 7893000"/>
              <a:gd name="T2" fmla="*/ 3946600 w 7893000"/>
              <a:gd name="T3" fmla="*/ 0 w 7893000"/>
              <a:gd name="T4" fmla="*/ 0 w 7893000"/>
              <a:gd name="T5" fmla="*/ 7893200 w 7893000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7893000"/>
              <a:gd name="T13" fmla="*/ 7893000 w 7893000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7893000">
                <a:moveTo>
                  <a:pt x="0" y="0"/>
                </a:moveTo>
                <a:lnTo>
                  <a:pt x="7893000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0" name="Straight Connector 6"/>
          <p:cNvSpPr>
            <a:spLocks/>
          </p:cNvSpPr>
          <p:nvPr/>
        </p:nvSpPr>
        <p:spPr bwMode="auto">
          <a:xfrm flipV="1">
            <a:off x="1846559" y="2547587"/>
            <a:ext cx="45719" cy="164064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2" name="Straight Connector 11"/>
          <p:cNvSpPr>
            <a:spLocks/>
          </p:cNvSpPr>
          <p:nvPr/>
        </p:nvSpPr>
        <p:spPr bwMode="auto">
          <a:xfrm flipV="1">
            <a:off x="7274222" y="2547587"/>
            <a:ext cx="45719" cy="164064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3" name="Straight Connector 14"/>
          <p:cNvSpPr>
            <a:spLocks/>
          </p:cNvSpPr>
          <p:nvPr/>
        </p:nvSpPr>
        <p:spPr bwMode="auto">
          <a:xfrm>
            <a:off x="1846560" y="2871438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2275185" y="2504725"/>
            <a:ext cx="686712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sz="1800" i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traight Connector 16"/>
          <p:cNvSpPr>
            <a:spLocks/>
          </p:cNvSpPr>
          <p:nvPr/>
        </p:nvSpPr>
        <p:spPr bwMode="auto">
          <a:xfrm flipH="1">
            <a:off x="1846560" y="3196875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5000923" y="2871438"/>
            <a:ext cx="149988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sz="1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traight Connector 26"/>
          <p:cNvSpPr>
            <a:spLocks/>
          </p:cNvSpPr>
          <p:nvPr/>
        </p:nvSpPr>
        <p:spPr bwMode="auto">
          <a:xfrm>
            <a:off x="1846560" y="3718329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6" name="Freeform 27"/>
          <p:cNvSpPr>
            <a:spLocks/>
          </p:cNvSpPr>
          <p:nvPr/>
        </p:nvSpPr>
        <p:spPr bwMode="auto">
          <a:xfrm>
            <a:off x="2359323" y="3351617"/>
            <a:ext cx="1100287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,E</a:t>
            </a:r>
            <a:r>
              <a:rPr lang="en-US" altLang="en-US" sz="18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" name="Freeform 5"/>
          <p:cNvSpPr>
            <a:spLocks/>
          </p:cNvSpPr>
          <p:nvPr/>
        </p:nvSpPr>
        <p:spPr bwMode="auto">
          <a:xfrm>
            <a:off x="6913859" y="2051717"/>
            <a:ext cx="720725" cy="4603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Bob</a:t>
            </a:r>
          </a:p>
        </p:txBody>
      </p:sp>
      <p:sp>
        <p:nvSpPr>
          <p:cNvPr id="29" name="Freeform 7"/>
          <p:cNvSpPr>
            <a:spLocks/>
          </p:cNvSpPr>
          <p:nvPr/>
        </p:nvSpPr>
        <p:spPr bwMode="auto">
          <a:xfrm>
            <a:off x="1403648" y="2051717"/>
            <a:ext cx="850219" cy="46384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Alice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5478273"/>
            <a:ext cx="822960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SNA (Systems Network Architecture): IBM’s proprietary network architecture, dominated market @ [1975-1990s], mainly in  banking, government.</a:t>
            </a:r>
          </a:p>
        </p:txBody>
      </p:sp>
      <p:sp>
        <p:nvSpPr>
          <p:cNvPr id="3" name="מלבן מעוגל 2"/>
          <p:cNvSpPr/>
          <p:nvPr/>
        </p:nvSpPr>
        <p:spPr bwMode="auto">
          <a:xfrm>
            <a:off x="3563889" y="4085042"/>
            <a:ext cx="2155203" cy="578569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</a:t>
            </a:r>
            <a:r>
              <a:rPr lang="en-US" altLang="en-US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i="1" dirty="0"/>
              <a:t>- </a:t>
            </a:r>
            <a:r>
              <a:rPr lang="en-US" altLang="en-US" sz="1600" dirty="0"/>
              <a:t>randomly chosen </a:t>
            </a:r>
            <a:r>
              <a:rPr lang="en-US" altLang="en-US" sz="1600" i="1" dirty="0"/>
              <a:t>nonces</a:t>
            </a:r>
            <a:endParaRPr kumimoji="0" lang="he-IL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מחבר חץ ישר 4"/>
          <p:cNvCxnSpPr/>
          <p:nvPr/>
        </p:nvCxnSpPr>
        <p:spPr bwMode="auto">
          <a:xfrm flipV="1">
            <a:off x="4932040" y="3351617"/>
            <a:ext cx="619026" cy="733425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מחבר חץ ישר 6"/>
          <p:cNvCxnSpPr/>
          <p:nvPr/>
        </p:nvCxnSpPr>
        <p:spPr bwMode="auto">
          <a:xfrm flipH="1" flipV="1">
            <a:off x="2843808" y="2871438"/>
            <a:ext cx="1152128" cy="1213604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מחבר חץ ישר 30"/>
          <p:cNvCxnSpPr>
            <a:stCxn id="3" idx="1"/>
          </p:cNvCxnSpPr>
          <p:nvPr/>
        </p:nvCxnSpPr>
        <p:spPr bwMode="auto">
          <a:xfrm flipH="1" flipV="1">
            <a:off x="2843809" y="3684173"/>
            <a:ext cx="720080" cy="690154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A5D76D-6315-405E-8FC4-9846228A861D}"/>
              </a:ext>
            </a:extLst>
          </p:cNvPr>
          <p:cNvSpPr txBox="1"/>
          <p:nvPr/>
        </p:nvSpPr>
        <p:spPr>
          <a:xfrm>
            <a:off x="5209098" y="4838045"/>
            <a:ext cx="3079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Insecure !! Why ? </a:t>
            </a:r>
          </a:p>
        </p:txBody>
      </p:sp>
    </p:spTree>
    <p:extLst>
      <p:ext uri="{BB962C8B-B14F-4D97-AF65-F5344CB8AC3E}">
        <p14:creationId xmlns:p14="http://schemas.microsoft.com/office/powerpoint/2010/main" val="36503963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3"/>
          <p:cNvSpPr txBox="1">
            <a:spLocks noChangeArrowheads="1"/>
          </p:cNvSpPr>
          <p:nvPr/>
        </p:nvSpPr>
        <p:spPr bwMode="auto">
          <a:xfrm>
            <a:off x="8199438" y="6243638"/>
            <a:ext cx="487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b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fld id="{6BEDFE09-6F32-412E-AC8F-63EB0B8BF041}" type="slidenum">
              <a:rPr lang="en-US" altLang="en-US" sz="1800"/>
              <a:pPr defTabSz="914400" eaLnBrk="1" hangingPunct="1">
                <a:spcBef>
                  <a:spcPct val="0"/>
                </a:spcBef>
              </a:pPr>
              <a:t>13</a:t>
            </a:fld>
            <a:endParaRPr lang="en-US" altLang="en-US" sz="1800"/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6275" cy="67929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800" dirty="0"/>
              <a:t>Attack on SNA’s Handshake</a:t>
            </a:r>
          </a:p>
        </p:txBody>
      </p:sp>
      <p:sp>
        <p:nvSpPr>
          <p:cNvPr id="19462" name="Text Placeholder 2"/>
          <p:cNvSpPr>
            <a:spLocks noGrp="1"/>
          </p:cNvSpPr>
          <p:nvPr>
            <p:ph idx="1"/>
          </p:nvPr>
        </p:nvSpPr>
        <p:spPr>
          <a:xfrm>
            <a:off x="319177" y="931990"/>
            <a:ext cx="8824823" cy="1625702"/>
          </a:xfrm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850"/>
              </a:spcBef>
            </a:pPr>
            <a:r>
              <a:rPr lang="en-US" altLang="en-US" sz="2600" dirty="0">
                <a:solidFill>
                  <a:srgbClr val="FF0000"/>
                </a:solidFill>
              </a:rPr>
              <a:t>MitM</a:t>
            </a:r>
            <a:r>
              <a:rPr lang="en-US" altLang="en-US" sz="2600" dirty="0"/>
              <a:t> opens </a:t>
            </a:r>
            <a:r>
              <a:rPr lang="en-US" altLang="en-US" sz="2600" dirty="0">
                <a:solidFill>
                  <a:srgbClr val="FF0000"/>
                </a:solidFill>
              </a:rPr>
              <a:t>two</a:t>
            </a:r>
            <a:r>
              <a:rPr lang="en-US" altLang="en-US" sz="2600" dirty="0"/>
              <a:t> sessions with Bob, sending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dirty="0"/>
              <a:t> to Bob in 2</a:t>
            </a:r>
            <a:r>
              <a:rPr lang="en-US" altLang="en-US" sz="2600" baseline="30000" dirty="0"/>
              <a:t>nd</a:t>
            </a:r>
            <a:r>
              <a:rPr lang="en-US" altLang="en-US" sz="2600" dirty="0"/>
              <a:t> connection to get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en-US" sz="2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 eaLnBrk="1" hangingPunct="1">
              <a:spcBef>
                <a:spcPts val="850"/>
              </a:spcBef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 is secure for sequential mutual authentication handshakes but not concurrent ones.</a:t>
            </a:r>
          </a:p>
        </p:txBody>
      </p:sp>
      <p:sp>
        <p:nvSpPr>
          <p:cNvPr id="19463" name="Straight Connector 3"/>
          <p:cNvSpPr>
            <a:spLocks/>
          </p:cNvSpPr>
          <p:nvPr/>
        </p:nvSpPr>
        <p:spPr bwMode="auto">
          <a:xfrm>
            <a:off x="764276" y="3609958"/>
            <a:ext cx="7893050" cy="0"/>
          </a:xfrm>
          <a:custGeom>
            <a:avLst/>
            <a:gdLst>
              <a:gd name="T0" fmla="*/ 3946600 w 7893000"/>
              <a:gd name="T1" fmla="*/ 7893200 w 7893000"/>
              <a:gd name="T2" fmla="*/ 3946600 w 7893000"/>
              <a:gd name="T3" fmla="*/ 0 w 7893000"/>
              <a:gd name="T4" fmla="*/ 0 w 7893000"/>
              <a:gd name="T5" fmla="*/ 7893200 w 7893000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7893000"/>
              <a:gd name="T13" fmla="*/ 7893000 w 7893000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7893000">
                <a:moveTo>
                  <a:pt x="0" y="0"/>
                </a:moveTo>
                <a:lnTo>
                  <a:pt x="7893000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64" name="Straight Connector 4"/>
          <p:cNvSpPr>
            <a:spLocks/>
          </p:cNvSpPr>
          <p:nvPr/>
        </p:nvSpPr>
        <p:spPr bwMode="auto">
          <a:xfrm flipV="1">
            <a:off x="2780401" y="3609958"/>
            <a:ext cx="0" cy="249396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3B812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65" name="Freeform 5"/>
          <p:cNvSpPr>
            <a:spLocks/>
          </p:cNvSpPr>
          <p:nvPr/>
        </p:nvSpPr>
        <p:spPr bwMode="auto">
          <a:xfrm>
            <a:off x="6812651" y="2851133"/>
            <a:ext cx="779686" cy="46384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 b="1" dirty="0"/>
              <a:t>Bob</a:t>
            </a:r>
          </a:p>
        </p:txBody>
      </p:sp>
      <p:sp>
        <p:nvSpPr>
          <p:cNvPr id="19466" name="Straight Connector 6"/>
          <p:cNvSpPr>
            <a:spLocks/>
          </p:cNvSpPr>
          <p:nvPr/>
        </p:nvSpPr>
        <p:spPr bwMode="auto">
          <a:xfrm flipV="1">
            <a:off x="980176" y="3609958"/>
            <a:ext cx="0" cy="249396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67" name="Freeform 7"/>
          <p:cNvSpPr>
            <a:spLocks/>
          </p:cNvSpPr>
          <p:nvPr/>
        </p:nvSpPr>
        <p:spPr bwMode="auto">
          <a:xfrm>
            <a:off x="537264" y="2851133"/>
            <a:ext cx="2902319" cy="402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000" b="1" dirty="0" err="1"/>
              <a:t>MitM</a:t>
            </a:r>
            <a:r>
              <a:rPr lang="en-US" altLang="en-US" sz="2000" b="1" dirty="0"/>
              <a:t> (spoofing as Alice)</a:t>
            </a:r>
          </a:p>
        </p:txBody>
      </p:sp>
      <p:sp>
        <p:nvSpPr>
          <p:cNvPr id="19468" name="Freeform 8"/>
          <p:cNvSpPr>
            <a:spLocks/>
          </p:cNvSpPr>
          <p:nvPr/>
        </p:nvSpPr>
        <p:spPr bwMode="auto">
          <a:xfrm>
            <a:off x="468993" y="3252770"/>
            <a:ext cx="119486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FF"/>
                </a:solidFill>
              </a:rPr>
              <a:t>Session 1</a:t>
            </a:r>
          </a:p>
        </p:txBody>
      </p:sp>
      <p:sp>
        <p:nvSpPr>
          <p:cNvPr id="19469" name="Freeform 9"/>
          <p:cNvSpPr>
            <a:spLocks/>
          </p:cNvSpPr>
          <p:nvPr/>
        </p:nvSpPr>
        <p:spPr bwMode="auto">
          <a:xfrm>
            <a:off x="1927914" y="3243245"/>
            <a:ext cx="119486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6633"/>
                </a:solidFill>
              </a:rPr>
              <a:t>Session 2</a:t>
            </a:r>
          </a:p>
        </p:txBody>
      </p:sp>
      <p:sp>
        <p:nvSpPr>
          <p:cNvPr id="19470" name="Straight Connector 10"/>
          <p:cNvSpPr>
            <a:spLocks/>
          </p:cNvSpPr>
          <p:nvPr/>
        </p:nvSpPr>
        <p:spPr bwMode="auto">
          <a:xfrm flipV="1">
            <a:off x="8208064" y="3609958"/>
            <a:ext cx="0" cy="1657350"/>
          </a:xfrm>
          <a:custGeom>
            <a:avLst/>
            <a:gdLst>
              <a:gd name="T0" fmla="*/ 0 h 1657075"/>
              <a:gd name="T1" fmla="*/ 829090 h 1657075"/>
              <a:gd name="T2" fmla="*/ 1658175 h 1657075"/>
              <a:gd name="T3" fmla="*/ 829090 h 1657075"/>
              <a:gd name="T4" fmla="*/ 0 h 1657075"/>
              <a:gd name="T5" fmla="*/ 1658175 h 1657075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1657075"/>
              <a:gd name="T13" fmla="*/ 1657075 h 1657075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1657075">
                <a:moveTo>
                  <a:pt x="0" y="0"/>
                </a:moveTo>
                <a:lnTo>
                  <a:pt x="1" y="1657075"/>
                </a:lnTo>
              </a:path>
            </a:pathLst>
          </a:custGeom>
          <a:noFill/>
          <a:ln w="9363">
            <a:solidFill>
              <a:srgbClr val="3B812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71" name="Straight Connector 11"/>
          <p:cNvSpPr>
            <a:spLocks/>
          </p:cNvSpPr>
          <p:nvPr/>
        </p:nvSpPr>
        <p:spPr bwMode="auto">
          <a:xfrm flipV="1">
            <a:off x="6407839" y="3609958"/>
            <a:ext cx="0" cy="249396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72" name="Freeform 12"/>
          <p:cNvSpPr>
            <a:spLocks/>
          </p:cNvSpPr>
          <p:nvPr/>
        </p:nvSpPr>
        <p:spPr bwMode="auto">
          <a:xfrm>
            <a:off x="5645839" y="3243245"/>
            <a:ext cx="119486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FF"/>
                </a:solidFill>
              </a:rPr>
              <a:t>Session 1</a:t>
            </a:r>
          </a:p>
        </p:txBody>
      </p:sp>
      <p:sp>
        <p:nvSpPr>
          <p:cNvPr id="19473" name="Freeform 13"/>
          <p:cNvSpPr>
            <a:spLocks/>
          </p:cNvSpPr>
          <p:nvPr/>
        </p:nvSpPr>
        <p:spPr bwMode="auto">
          <a:xfrm>
            <a:off x="7355576" y="3243245"/>
            <a:ext cx="119486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6633"/>
                </a:solidFill>
              </a:rPr>
              <a:t>Session 2</a:t>
            </a:r>
          </a:p>
        </p:txBody>
      </p:sp>
      <p:sp>
        <p:nvSpPr>
          <p:cNvPr id="19474" name="Straight Connector 14"/>
          <p:cNvSpPr>
            <a:spLocks/>
          </p:cNvSpPr>
          <p:nvPr/>
        </p:nvSpPr>
        <p:spPr bwMode="auto">
          <a:xfrm>
            <a:off x="980176" y="3933808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75" name="Freeform 15"/>
          <p:cNvSpPr>
            <a:spLocks/>
          </p:cNvSpPr>
          <p:nvPr/>
        </p:nvSpPr>
        <p:spPr bwMode="auto">
          <a:xfrm>
            <a:off x="1408801" y="3567095"/>
            <a:ext cx="1281113" cy="406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=1234</a:t>
            </a:r>
          </a:p>
        </p:txBody>
      </p:sp>
      <p:sp>
        <p:nvSpPr>
          <p:cNvPr id="19476" name="Straight Connector 16"/>
          <p:cNvSpPr>
            <a:spLocks/>
          </p:cNvSpPr>
          <p:nvPr/>
        </p:nvSpPr>
        <p:spPr bwMode="auto">
          <a:xfrm flipH="1">
            <a:off x="980176" y="4259245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77" name="Freeform 17"/>
          <p:cNvSpPr>
            <a:spLocks/>
          </p:cNvSpPr>
          <p:nvPr/>
        </p:nvSpPr>
        <p:spPr bwMode="auto">
          <a:xfrm>
            <a:off x="4134539" y="3933808"/>
            <a:ext cx="1887537" cy="406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(1234),N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=5678</a:t>
            </a:r>
          </a:p>
        </p:txBody>
      </p:sp>
      <p:sp>
        <p:nvSpPr>
          <p:cNvPr id="19478" name="Straight Connector 18"/>
          <p:cNvSpPr>
            <a:spLocks/>
          </p:cNvSpPr>
          <p:nvPr/>
        </p:nvSpPr>
        <p:spPr bwMode="auto">
          <a:xfrm>
            <a:off x="980176" y="4654533"/>
            <a:ext cx="1800225" cy="0"/>
          </a:xfrm>
          <a:custGeom>
            <a:avLst/>
            <a:gdLst>
              <a:gd name="T0" fmla="*/ 900458 w 1799996"/>
              <a:gd name="T1" fmla="*/ 1800912 w 1799996"/>
              <a:gd name="T2" fmla="*/ 900458 w 1799996"/>
              <a:gd name="T3" fmla="*/ 0 w 1799996"/>
              <a:gd name="T4" fmla="*/ 0 w 1799996"/>
              <a:gd name="T5" fmla="*/ 1800912 w 1799996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1799996"/>
              <a:gd name="T13" fmla="*/ 1799996 w 1799996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1799996">
                <a:moveTo>
                  <a:pt x="0" y="0"/>
                </a:moveTo>
                <a:lnTo>
                  <a:pt x="1799996" y="1"/>
                </a:lnTo>
              </a:path>
            </a:pathLst>
          </a:custGeom>
          <a:noFill/>
          <a:ln w="9363">
            <a:solidFill>
              <a:srgbClr val="FF0000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79" name="Freeform 19"/>
          <p:cNvSpPr>
            <a:spLocks/>
          </p:cNvSpPr>
          <p:nvPr/>
        </p:nvSpPr>
        <p:spPr bwMode="auto">
          <a:xfrm>
            <a:off x="1404039" y="4295758"/>
            <a:ext cx="638175" cy="3683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5678</a:t>
            </a:r>
          </a:p>
        </p:txBody>
      </p:sp>
      <p:sp>
        <p:nvSpPr>
          <p:cNvPr id="19480" name="Straight Connector 20"/>
          <p:cNvSpPr>
            <a:spLocks/>
          </p:cNvSpPr>
          <p:nvPr/>
        </p:nvSpPr>
        <p:spPr bwMode="auto">
          <a:xfrm>
            <a:off x="2780401" y="4654533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81" name="Freeform 21"/>
          <p:cNvSpPr>
            <a:spLocks/>
          </p:cNvSpPr>
          <p:nvPr/>
        </p:nvSpPr>
        <p:spPr bwMode="auto">
          <a:xfrm>
            <a:off x="3118539" y="4295758"/>
            <a:ext cx="1281112" cy="406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N</a:t>
            </a:r>
            <a:r>
              <a:rPr lang="en-US" altLang="en-US" sz="1800" i="1" baseline="-25000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=5678</a:t>
            </a:r>
          </a:p>
        </p:txBody>
      </p:sp>
      <p:sp>
        <p:nvSpPr>
          <p:cNvPr id="19482" name="Straight Connector 22"/>
          <p:cNvSpPr>
            <a:spLocks/>
          </p:cNvSpPr>
          <p:nvPr/>
        </p:nvSpPr>
        <p:spPr bwMode="auto">
          <a:xfrm flipH="1">
            <a:off x="2780401" y="5122845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83" name="Freeform 23"/>
          <p:cNvSpPr>
            <a:spLocks/>
          </p:cNvSpPr>
          <p:nvPr/>
        </p:nvSpPr>
        <p:spPr bwMode="auto">
          <a:xfrm>
            <a:off x="4390126" y="4756133"/>
            <a:ext cx="1889125" cy="40481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(5678),N</a:t>
            </a:r>
            <a:r>
              <a:rPr lang="en-US" altLang="en-US" sz="1800" i="1" baseline="-25000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>
                <a:solidFill>
                  <a:srgbClr val="00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=9012</a:t>
            </a:r>
          </a:p>
        </p:txBody>
      </p:sp>
      <p:sp>
        <p:nvSpPr>
          <p:cNvPr id="19484" name="Straight Connector 24"/>
          <p:cNvSpPr>
            <a:spLocks/>
          </p:cNvSpPr>
          <p:nvPr/>
        </p:nvSpPr>
        <p:spPr bwMode="auto">
          <a:xfrm flipH="1">
            <a:off x="980176" y="5122845"/>
            <a:ext cx="1800225" cy="0"/>
          </a:xfrm>
          <a:custGeom>
            <a:avLst/>
            <a:gdLst>
              <a:gd name="T0" fmla="*/ 900458 w 1799996"/>
              <a:gd name="T1" fmla="*/ 1800912 w 1799996"/>
              <a:gd name="T2" fmla="*/ 900458 w 1799996"/>
              <a:gd name="T3" fmla="*/ 0 w 1799996"/>
              <a:gd name="T4" fmla="*/ 0 w 1799996"/>
              <a:gd name="T5" fmla="*/ 1800912 w 1799996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1799996"/>
              <a:gd name="T13" fmla="*/ 1799996 w 1799996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1799996">
                <a:moveTo>
                  <a:pt x="0" y="0"/>
                </a:moveTo>
                <a:lnTo>
                  <a:pt x="1799996" y="1"/>
                </a:lnTo>
              </a:path>
            </a:pathLst>
          </a:custGeom>
          <a:noFill/>
          <a:ln w="9363">
            <a:solidFill>
              <a:srgbClr val="FF0000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85" name="Freeform 25"/>
          <p:cNvSpPr>
            <a:spLocks/>
          </p:cNvSpPr>
          <p:nvPr/>
        </p:nvSpPr>
        <p:spPr bwMode="auto">
          <a:xfrm>
            <a:off x="1589776" y="4756133"/>
            <a:ext cx="985838" cy="40481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(5678)</a:t>
            </a:r>
          </a:p>
        </p:txBody>
      </p:sp>
      <p:sp>
        <p:nvSpPr>
          <p:cNvPr id="19486" name="Straight Connector 26"/>
          <p:cNvSpPr>
            <a:spLocks/>
          </p:cNvSpPr>
          <p:nvPr/>
        </p:nvSpPr>
        <p:spPr bwMode="auto">
          <a:xfrm>
            <a:off x="980176" y="5634020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19487" name="Freeform 27"/>
          <p:cNvSpPr>
            <a:spLocks/>
          </p:cNvSpPr>
          <p:nvPr/>
        </p:nvSpPr>
        <p:spPr bwMode="auto">
          <a:xfrm>
            <a:off x="1492939" y="5267308"/>
            <a:ext cx="985837" cy="40481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(5678)</a:t>
            </a:r>
          </a:p>
        </p:txBody>
      </p:sp>
      <p:sp>
        <p:nvSpPr>
          <p:cNvPr id="19488" name="Freeform 28"/>
          <p:cNvSpPr>
            <a:spLocks/>
          </p:cNvSpPr>
          <p:nvPr/>
        </p:nvSpPr>
        <p:spPr bwMode="auto">
          <a:xfrm>
            <a:off x="6471339" y="5365733"/>
            <a:ext cx="1801812" cy="64293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/>
              <a:t>Alice `identified`</a:t>
            </a:r>
            <a:br>
              <a:rPr lang="en-US" altLang="en-US" sz="1800"/>
            </a:br>
            <a:r>
              <a:rPr lang="en-US" altLang="en-US" sz="1800"/>
              <a:t>(spoofed)</a:t>
            </a:r>
          </a:p>
        </p:txBody>
      </p:sp>
    </p:spTree>
    <p:extLst>
      <p:ext uri="{BB962C8B-B14F-4D97-AF65-F5344CB8AC3E}">
        <p14:creationId xmlns:p14="http://schemas.microsoft.com/office/powerpoint/2010/main" val="149952960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8600"/>
            <a:ext cx="7772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/>
              <a:t>Fixing Mutual Authentication</a:t>
            </a:r>
          </a:p>
        </p:txBody>
      </p:sp>
      <p:sp>
        <p:nvSpPr>
          <p:cNvPr id="4915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31824" y="1031875"/>
            <a:ext cx="8188647" cy="5060950"/>
          </a:xfrm>
        </p:spPr>
        <p:txBody>
          <a:bodyPr/>
          <a:lstStyle/>
          <a:p>
            <a:pPr marL="341313" indent="-341313" eaLnBrk="1" hangingPunct="1"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solidFill>
                  <a:srgbClr val="FF0000"/>
                </a:solidFill>
              </a:rPr>
              <a:t>Encryption does not ensure authenticity 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solidFill>
                  <a:srgbClr val="FF0000"/>
                </a:solidFill>
              </a:rPr>
              <a:t>Use MAC to authenticate messages!</a:t>
            </a:r>
          </a:p>
          <a:p>
            <a:pPr marL="341313" indent="-341313" eaLnBrk="1" hangingPunct="1"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solidFill>
                  <a:schemeClr val="accent2"/>
                </a:solidFill>
              </a:rPr>
              <a:t>Prevent redirection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Identify party in challenge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Better: use separate keys for each direction</a:t>
            </a:r>
          </a:p>
          <a:p>
            <a:pPr marL="341313" indent="-341313" eaLnBrk="1" hangingPunct="1"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solidFill>
                  <a:schemeClr val="accent2"/>
                </a:solidFill>
              </a:rPr>
              <a:t>Prevent replay and reorder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Identify flow and connection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Prevent use of old challenge: randomness, time or state</a:t>
            </a:r>
          </a:p>
          <a:p>
            <a:pPr marL="341313" indent="-341313" eaLnBrk="1" hangingPunct="1"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solidFill>
                  <a:schemeClr val="accent2"/>
                </a:solidFill>
              </a:rPr>
              <a:t>Do not provide the adversary with an oracle access!</a:t>
            </a:r>
          </a:p>
          <a:p>
            <a:pPr marL="798513" lvl="1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Do not compute values from adversary (which is encrypting any nonce received in this case).</a:t>
            </a:r>
          </a:p>
          <a:p>
            <a:pPr marL="741363" lvl="1" indent="-28416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/>
              <a:t>Include self-chosen nonce in the protected reply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6976E-722D-A94D-8557-4AB26BBDB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9438" y="6243638"/>
            <a:ext cx="487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b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fld id="{6BEDFE09-6F32-412E-AC8F-63EB0B8BF041}" type="slidenum">
              <a:rPr lang="en-US" altLang="en-US" sz="1800"/>
              <a:pPr defTabSz="914400" eaLnBrk="1" hangingPunct="1">
                <a:spcBef>
                  <a:spcPct val="0"/>
                </a:spcBef>
              </a:pPr>
              <a:t>14</a:t>
            </a:fld>
            <a:endParaRPr lang="en-US" altLang="en-US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dirty="0"/>
              <a:t>Secure Two-Party Handshake Protocol (2PP) 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  <p:sp>
        <p:nvSpPr>
          <p:cNvPr id="501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4325" y="2972368"/>
            <a:ext cx="8372475" cy="2654300"/>
          </a:xfrm>
        </p:spPr>
        <p:txBody>
          <a:bodyPr/>
          <a:lstStyle/>
          <a:p>
            <a:pPr eaLnBrk="1" hangingPunct="1">
              <a:spcBef>
                <a:spcPts val="650"/>
              </a:spcBef>
              <a:buClr>
                <a:srgbClr val="CC9900"/>
              </a:buClr>
              <a:buSzPct val="6500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Use MAC rather than encryption to authenticate</a:t>
            </a:r>
          </a:p>
          <a:p>
            <a:pPr eaLnBrk="1" hangingPunct="1">
              <a:spcBef>
                <a:spcPts val="650"/>
              </a:spcBef>
              <a:buClr>
                <a:srgbClr val="CC9900"/>
              </a:buClr>
              <a:buSzPct val="6500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Prevent redirection: include identities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400" dirty="0"/>
          </a:p>
          <a:p>
            <a:pPr eaLnBrk="1" hangingPunct="1">
              <a:spcBef>
                <a:spcPts val="650"/>
              </a:spcBef>
              <a:buClr>
                <a:srgbClr val="CC9900"/>
              </a:buClr>
              <a:buSzPct val="6500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Prevent replay and reorder: </a:t>
            </a:r>
          </a:p>
          <a:p>
            <a:pPr lvl="1" eaLnBrk="1" hangingPunct="1"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Nonces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,N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 dirty="0"/>
          </a:p>
          <a:p>
            <a:pPr lvl="1" eaLnBrk="1" hangingPunct="1"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Separate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and 3</a:t>
            </a:r>
            <a:r>
              <a:rPr lang="en-US" altLang="en-US" sz="2000" baseline="30000" dirty="0"/>
              <a:t>rd</a:t>
            </a:r>
            <a:r>
              <a:rPr lang="en-US" altLang="en-US" sz="2000" dirty="0"/>
              <a:t> flows: 3 vs. 2 input blocks</a:t>
            </a:r>
          </a:p>
          <a:p>
            <a:pPr eaLnBrk="1" hangingPunct="1"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accent2"/>
                </a:solidFill>
              </a:rPr>
              <a:t>Provably secure [formal proof is out of scope]</a:t>
            </a:r>
            <a:br>
              <a:rPr lang="en-US" altLang="en-US" sz="1400" b="1" dirty="0">
                <a:solidFill>
                  <a:schemeClr val="accent2"/>
                </a:solidFill>
              </a:rPr>
            </a:br>
            <a:br>
              <a:rPr lang="en-US" altLang="en-US" sz="1400" b="1" dirty="0">
                <a:solidFill>
                  <a:schemeClr val="accent2"/>
                </a:solidFill>
              </a:rPr>
            </a:br>
            <a:br>
              <a:rPr lang="en-US" altLang="en-US" sz="1400" b="1" dirty="0">
                <a:solidFill>
                  <a:schemeClr val="accent2"/>
                </a:solidFill>
              </a:rPr>
            </a:br>
            <a:endParaRPr lang="en-US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19" name="Straight Connector 3"/>
          <p:cNvSpPr>
            <a:spLocks/>
          </p:cNvSpPr>
          <p:nvPr/>
        </p:nvSpPr>
        <p:spPr bwMode="auto">
          <a:xfrm>
            <a:off x="1691717" y="1146895"/>
            <a:ext cx="5760566" cy="45719"/>
          </a:xfrm>
          <a:custGeom>
            <a:avLst/>
            <a:gdLst>
              <a:gd name="T0" fmla="*/ 3946600 w 7893000"/>
              <a:gd name="T1" fmla="*/ 7893200 w 7893000"/>
              <a:gd name="T2" fmla="*/ 3946600 w 7893000"/>
              <a:gd name="T3" fmla="*/ 0 w 7893000"/>
              <a:gd name="T4" fmla="*/ 0 w 7893000"/>
              <a:gd name="T5" fmla="*/ 7893200 w 7893000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7893000"/>
              <a:gd name="T13" fmla="*/ 7893000 w 7893000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7893000">
                <a:moveTo>
                  <a:pt x="0" y="0"/>
                </a:moveTo>
                <a:lnTo>
                  <a:pt x="7893000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0" name="Straight Connector 6"/>
          <p:cNvSpPr>
            <a:spLocks/>
          </p:cNvSpPr>
          <p:nvPr/>
        </p:nvSpPr>
        <p:spPr bwMode="auto">
          <a:xfrm flipV="1">
            <a:off x="1896752" y="1146895"/>
            <a:ext cx="56583" cy="1454650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1" name="Straight Connector 11"/>
          <p:cNvSpPr>
            <a:spLocks/>
          </p:cNvSpPr>
          <p:nvPr/>
        </p:nvSpPr>
        <p:spPr bwMode="auto">
          <a:xfrm flipV="1">
            <a:off x="7335279" y="1146895"/>
            <a:ext cx="45719" cy="1454650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2" name="Straight Connector 14"/>
          <p:cNvSpPr>
            <a:spLocks/>
          </p:cNvSpPr>
          <p:nvPr/>
        </p:nvSpPr>
        <p:spPr bwMode="auto">
          <a:xfrm>
            <a:off x="1907617" y="1470746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3" name="Freeform 15"/>
          <p:cNvSpPr>
            <a:spLocks/>
          </p:cNvSpPr>
          <p:nvPr/>
        </p:nvSpPr>
        <p:spPr bwMode="auto">
          <a:xfrm>
            <a:off x="1953335" y="1125808"/>
            <a:ext cx="686712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sz="1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traight Connector 16"/>
          <p:cNvSpPr>
            <a:spLocks/>
          </p:cNvSpPr>
          <p:nvPr/>
        </p:nvSpPr>
        <p:spPr bwMode="auto">
          <a:xfrm flipH="1">
            <a:off x="1896753" y="1947169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5" name="Freeform 17"/>
          <p:cNvSpPr>
            <a:spLocks/>
          </p:cNvSpPr>
          <p:nvPr/>
        </p:nvSpPr>
        <p:spPr bwMode="auto">
          <a:xfrm>
            <a:off x="4029309" y="1555625"/>
            <a:ext cx="3422974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Mac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 || 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26" name="Straight Connector 26"/>
          <p:cNvSpPr>
            <a:spLocks/>
          </p:cNvSpPr>
          <p:nvPr/>
        </p:nvSpPr>
        <p:spPr bwMode="auto">
          <a:xfrm>
            <a:off x="1896753" y="2451225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7" name="Freeform 27"/>
          <p:cNvSpPr>
            <a:spLocks/>
          </p:cNvSpPr>
          <p:nvPr/>
        </p:nvSpPr>
        <p:spPr bwMode="auto">
          <a:xfrm>
            <a:off x="1885890" y="2069172"/>
            <a:ext cx="3119558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Mac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 || 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 || 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N</a:t>
            </a:r>
            <a:r>
              <a:rPr lang="en-US" altLang="en-US" sz="18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" name="Freeform 5"/>
          <p:cNvSpPr>
            <a:spLocks/>
          </p:cNvSpPr>
          <p:nvPr/>
        </p:nvSpPr>
        <p:spPr bwMode="auto">
          <a:xfrm>
            <a:off x="7743945" y="2087796"/>
            <a:ext cx="720725" cy="4603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Bob</a:t>
            </a:r>
          </a:p>
        </p:txBody>
      </p:sp>
      <p:sp>
        <p:nvSpPr>
          <p:cNvPr id="29" name="Freeform 7"/>
          <p:cNvSpPr>
            <a:spLocks/>
          </p:cNvSpPr>
          <p:nvPr/>
        </p:nvSpPr>
        <p:spPr bwMode="auto">
          <a:xfrm>
            <a:off x="894081" y="2069172"/>
            <a:ext cx="850219" cy="46384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Alice</a:t>
            </a:r>
          </a:p>
        </p:txBody>
      </p:sp>
      <p:pic>
        <p:nvPicPr>
          <p:cNvPr id="15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54" y="932172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515" y="1271897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A4524751-5C12-4641-B2E7-9AF9FCB73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9438" y="6243638"/>
            <a:ext cx="487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b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fld id="{6BEDFE09-6F32-412E-AC8F-63EB0B8BF041}" type="slidenum">
              <a:rPr lang="en-US" altLang="en-US" sz="1800"/>
              <a:pPr defTabSz="914400" eaLnBrk="1" hangingPunct="1">
                <a:spcBef>
                  <a:spcPct val="0"/>
                </a:spcBef>
              </a:pPr>
              <a:t>15</a:t>
            </a:fld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00958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600" dirty="0">
                <a:sym typeface="Wingdings" panose="05000000000000000000" pitchFamily="2" charset="2"/>
              </a:rPr>
              <a:t>Chapter 5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Sections 5.1 </a:t>
            </a:r>
            <a:r>
              <a:rPr lang="en-US" altLang="he-IL">
                <a:sym typeface="Wingdings" panose="05000000000000000000" pitchFamily="2" charset="2"/>
              </a:rPr>
              <a:t>and 5.2</a:t>
            </a:r>
            <a:endParaRPr lang="en-US" alt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044300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92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10877</TotalTime>
  <Words>1233</Words>
  <Application>Microsoft Macintosh PowerPoint</Application>
  <PresentationFormat>On-screen Show (4:3)</PresentationFormat>
  <Paragraphs>165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 Math</vt:lpstr>
      <vt:lpstr>Garamond</vt:lpstr>
      <vt:lpstr>Times New Roman</vt:lpstr>
      <vt:lpstr>Wingdings</vt:lpstr>
      <vt:lpstr>Office Theme</vt:lpstr>
      <vt:lpstr>CSE 3400/5850 - Introduction to Cryptography and Cybersecurity  / Introduction to Cybersecurity  Lecture 8 Shared Key Protocols – Part I </vt:lpstr>
      <vt:lpstr>Outline</vt:lpstr>
      <vt:lpstr>Modeling Cryptographic Protocols</vt:lpstr>
      <vt:lpstr>   Record Protocols  Secure communication between two parties using shared keys (so we assume the parties are already initialized with the shared key).</vt:lpstr>
      <vt:lpstr>Two-party, shared-key Record Protocol</vt:lpstr>
      <vt:lpstr>Two-party, shared-key Record Protocol</vt:lpstr>
      <vt:lpstr>Two-party record protocol with Confidentiality</vt:lpstr>
      <vt:lpstr>So, security guarantees …</vt:lpstr>
      <vt:lpstr>   Shared-key Entity Authentication Protocols  Ensure the identity of an entity (or a peer) involved in communication.</vt:lpstr>
      <vt:lpstr>Mutual Authentication Protocols</vt:lpstr>
      <vt:lpstr>Handshake Entity Authentication Protocol</vt:lpstr>
      <vt:lpstr>Example : IBM’s SNA Handshake</vt:lpstr>
      <vt:lpstr>Attack on SNA’s Handshake</vt:lpstr>
      <vt:lpstr>Fixing Mutual Authentication</vt:lpstr>
      <vt:lpstr>Secure Two-Party Handshake Protocol (2PP)   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Cryptanalysis-tolerant Hashing and Commitment</dc:title>
  <dc:creator>Amir Herzberg</dc:creator>
  <cp:lastModifiedBy>Almashaqbeh, Ghada</cp:lastModifiedBy>
  <cp:revision>45</cp:revision>
  <cp:lastPrinted>2025-10-22T19:12:38Z</cp:lastPrinted>
  <dcterms:created xsi:type="dcterms:W3CDTF">2003-03-23T06:19:47Z</dcterms:created>
  <dcterms:modified xsi:type="dcterms:W3CDTF">2026-10-08T14:47:42Z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